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/pen-dark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406640" y="-822960"/>
            <a:ext cx="5852160" cy="5477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18304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SSI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58368" y="5321808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1463040"/>
            <a:ext cx="8412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진단 대시보드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분석 자료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85800" y="3255264"/>
            <a:ext cx="1371600" cy="256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45643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document covers the information architecture, screen-level analysis, wireframe service flow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visual design of the SSI dashboard. All screen captures are taken from the built application.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표준화 민감도 진단 대시보드  |  ssi-dashboard  |  단일 파일 웹 애플리케이션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SSI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O1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화면을 거치는 순서대로 기능을 늘어놓고, 그 기능이 어느 화면 조각에 속하는지 나눈다.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액션(여정) 단위의 화면 구성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화면별 기능 상세 정리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구조(I.A) 분류 체계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기능 유형 및 레이아웃 유형 배정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 (I.A)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  ·  액션 여정별 기능 정리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32688"/>
          <a:ext cx="11338560" cy="914400"/>
        </p:xfrm>
        <a:graphic>
          <a:graphicData uri="http://schemas.openxmlformats.org/drawingml/2006/table">
            <a:tbl>
              <a:tblPr/>
              <a:tblGrid>
                <a:gridCol w="402336"/>
                <a:gridCol w="1298448"/>
                <a:gridCol w="1517904"/>
                <a:gridCol w="5138928"/>
                <a:gridCol w="2980944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액션 (여정)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상세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구조 (I.A)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 · 판 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메인 화면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지도를 화면 전체 배경으로 깔고 조작·통계를 그 위에 띄운다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헤더에 로고(SSI)와 화면 제목을 고정 표시한다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헤더 오른쪽에서 용어·방법론과 전체 데이터표를 연다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 메인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A-1 헤더 (HD)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A-2 지도 배경 (MP)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A-3 떠 있는 덱 (SB+CP)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조작부 ① 지표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카드(공간구조 효율성 · 지역사회 건강도)를 눌러 펼친다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상자(표준화 결과 / 민감도 / 원자료 지표)를 여닫는다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안의 지표 항목을 하나 고른다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B-1 부문 카드 (SB)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B-2 묶음 상자 (SB)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B-3 지표 항목 (SB)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조작부 ② 조건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시·도를 골라 지도와 통계의 범위를 좁힌다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좁힌 범위 안에서 시·군·구를 직접 고른다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방법을 2계열 4방법 중에서 고른다 · 초기화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C-1 지역 선택 (SB)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C-2 표준화 방법 (SB)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C-3 초기화 (SB)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D. 통계 패널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구역 — 고른 시군구의 방법별 점수와 순위, 원자료 지표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 구역 — 계산 과정, 방법별 분포, 방법 간 순위 이동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 구역 — 전국 민감도 산점도, 순위 이동이 큰 시군구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D-1 A 선택 지역 (CP)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D-2 B 방법 비교 (CP)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D-3 C 전국 분포 (CP)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· 비교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E. 지도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지표 값을 색 단계로 칠하고 선택 지역을 굵게 두른다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확대·축소, 민감 지역만 보기, 실시간 띠로 값을 확인한다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표준화 방식을 좌우로 나란히 놓고 색 차이를 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E-1 색 단계 (MP)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E-2 지도 조작 (MP)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E-3 나란히 비교 (MP)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· 검증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F. 데이터표 · G. 용어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데이터표에서 229개 시군구 전 컬럼을 정렬해 확인한다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용어·방법론 3개 탭(핵심 용어 / 4개 표준화 방법 / 컬럼사전)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상태를 URL 해시에 담아 그대로 공유한다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 데이터표 (DT)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G-1 용어·방법론 (GL)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G-2 상태 공유 (CR)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여정은 진입 → 지표 선택 → 조건 선택 → 판독 → 확인·비교 → 공유·검증 의 여섯 단계로 고정되며, 화면 상단의 흐름 막대가 현재 위치를 그대로 되짚어 준다.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기능 코드는 화면 조각 단위로 HD(헤더) · SB(조작부) · MP(지도) · CP(통계 패널) · DT(데이터표) · GL(용어) · CR(상태 공유) 일곱 갈래로 나눈다.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 (I.A)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  ·  기능 유형 분류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896112"/>
          <a:ext cx="1133856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07008"/>
                <a:gridCol w="1371600"/>
                <a:gridCol w="4059936"/>
                <a:gridCol w="786384"/>
                <a:gridCol w="3529584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액션 (여정)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상세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구조 (I.A)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 · 판 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메인 화면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지도를 화면 전체 배경으로 깔고 조작·통계를 그 위에 띄운다 · 헤더 고정 표시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 메인  ·  A-1 헤더 (HD)  ·  A-2 지도 배경 (MP)  ·  A-3 떠 있는 덱 (SB+CP)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조작부 ① 지표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카드를 눌러 펼치고 묶음 상자를 여닫아 그 안의 지표 항목을 하나 고른다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B-1 부문 카드 (SB)  ·  B-2 묶음 상자 (SB)  ·  B-3 지표 항목 (SB)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조작부 ② 조건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시·도와 시·군·구로 범위를 좁히고 표준화 방법을 2계열 4방법 중에서 고른다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C-1 지역 선택 (SB)  ·  C-2 표준화 방법 (SB)  ·  C-3 초기화 (SB)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D. 통계 패널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선택 지역 · B 표준화 방법 비교 · C 전국 분포 세 구역을 위에서 아래로 읽는다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D-1 A 선택 지역 (CP)  ·  D-2 B 방법 비교 (CP)  ·  D-3 C 전국 분포 (CP)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· 비교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E. 지도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값을 색 단계로 칠하고 확대·축소, 민감 지역만 보기, 나란히 비교로 확인한다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E-1 색 단계 (MP)  ·  E-2 지도 조작 (MP)  ·  E-3 나란히 비교 (MP)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· 검증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F. 데이터표 · G. 용어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데이터표에서 원자료까지 확인하고 화면 상태를 URL 해시로 공유한다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 데이터표 (DT)  ·  G-1 용어·방법론 (GL)  ·  G-2 상태 공유 (CR)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4956048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95604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유형 구분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90304" y="4956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갈래로 나누어 화면 조각마다 어떤 성격의 조작이 모여 있는지 본다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" y="5285232"/>
            <a:ext cx="45720" cy="4572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고르는 조작 — 부문 · 묶음 · 지표 · 시도 · 시군구 · 표준화 방법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273552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73552" y="5285232"/>
            <a:ext cx="45720" cy="457200"/>
          </a:xfrm>
          <a:prstGeom prst="rect">
            <a:avLst/>
          </a:prstGeom>
          <a:solidFill>
            <a:srgbClr val="2FA95C"/>
          </a:solidFill>
          <a:ln/>
        </p:spPr>
      </p:sp>
      <p:sp>
        <p:nvSpPr>
          <p:cNvPr id="17" name="Text 14"/>
          <p:cNvSpPr/>
          <p:nvPr/>
        </p:nvSpPr>
        <p:spPr>
          <a:xfrm>
            <a:off x="3401568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01568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바꾸는 조작 — 초기화 · 통계 접기 · 나란히 비교 · 민감 지역만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126480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5285232"/>
            <a:ext cx="4572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1" name="Text 18"/>
          <p:cNvSpPr/>
          <p:nvPr/>
        </p:nvSpPr>
        <p:spPr>
          <a:xfrm>
            <a:off x="6254496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54496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그림으로 보여주는 것 — 색 단계 지도 · 분포 · 범프 · 산점도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8979408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79408" y="5285232"/>
            <a:ext cx="45720" cy="457200"/>
          </a:xfrm>
          <a:prstGeom prst="rect">
            <a:avLst/>
          </a:prstGeom>
          <a:solidFill>
            <a:srgbClr val="7A828C"/>
          </a:solidFill>
          <a:ln/>
        </p:spPr>
      </p:sp>
      <p:sp>
        <p:nvSpPr>
          <p:cNvPr id="25" name="Text 22"/>
          <p:cNvSpPr/>
          <p:nvPr/>
        </p:nvSpPr>
        <p:spPr>
          <a:xfrm>
            <a:off x="9107424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107424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읽기를 돕는 것 — 용어·방법론 · 전체 데이터표 · URL 상태 공유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20624" y="5925312"/>
            <a:ext cx="11338560" cy="6858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8" name="Shape 25"/>
          <p:cNvSpPr/>
          <p:nvPr/>
        </p:nvSpPr>
        <p:spPr>
          <a:xfrm>
            <a:off x="420624" y="5925312"/>
            <a:ext cx="41148" cy="6858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603504" y="5980176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선택 조작은 모두 조작부 한 칸에 모아 두고, 실행 조작은 누른 자리에서 바로 화면이 바뀌도록 붙여 두었다.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 (I.A)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  ·  레이아웃 유형 배정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896112"/>
          <a:ext cx="1133856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07008"/>
                <a:gridCol w="1371600"/>
                <a:gridCol w="4059936"/>
                <a:gridCol w="786384"/>
                <a:gridCol w="3529584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액션 (여정)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상세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레이아웃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구조 (I.A)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진입 · 판 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메인 화면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지도를 화면 전체 배경으로 깔고 조작·통계를 그 위에 띄운다 · 헤더 고정 표시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 메인  ·  A-1 헤더 (HD)  ·  A-2 지도 배경 (MP)  ·  A-3 떠 있는 덱 (SB+CP)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조작부 ① 지표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카드를 눌러 펼치고 묶음 상자를 여닫아 그 안의 지표 항목을 하나 고른다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B-1 부문 카드 (SB)  ·  B-2 묶음 상자 (SB)  ·  B-3 지표 항목 (SB)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선택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조작부 ② 조건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시·도와 시·군·구로 범위를 좁히고 표준화 방법을 2계열 4방법 중에서 고른다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C-1 지역 선택 (SB)  ·  C-2 표준화 방법 (SB)  ·  C-3 초기화 (SB)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D. 통계 패널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선택 지역 · B 표준화 방법 비교 · C 전국 분포 세 구역을 위에서 아래로 읽는다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D-1 A 선택 지역 (CP)  ·  D-2 B 방법 비교 (CP)  ·  D-3 C 전국 분포 (CP)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· 비교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E. 지도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값을 색 단계로 칠하고 확대·축소, 민감 지역만 보기, 나란히 비교로 확인한다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E-1 색 단계 (MP)  ·  E-2 지도 조작 (MP)  ·  E-3 나란히 비교 (MP)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 · 검증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F. 데이터표 · G. 용어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데이터표에서 원자료까지 확인하고 화면 상태를 URL 해시로 공유한다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 데이터표 (DT)  ·  G-1 용어·방법론 (GL)  ·  G-2 상태 공유 (CR)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4956048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95604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레이아웃 유형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90304" y="4956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자리에 같은 성격의 화면이 오도록 세 벌만 쓴다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" y="5285232"/>
            <a:ext cx="3694176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5394960"/>
            <a:ext cx="237744" cy="237744"/>
          </a:xfrm>
          <a:prstGeom prst="ellipse">
            <a:avLst/>
          </a:prstGeom>
          <a:solidFill>
            <a:srgbClr val="F4C542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539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1248" y="5312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배치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" y="5477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화면 전체를 덮고 그 위에 필요한 것만 떠 있는 형태. 진입 화면과 데이터표·용어가 여기에 속한다.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224528" y="5285232"/>
            <a:ext cx="3694176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34256" y="5394960"/>
            <a:ext cx="237744" cy="237744"/>
          </a:xfrm>
          <a:prstGeom prst="ellipse">
            <a:avLst/>
          </a:prstGeom>
          <a:solidFill>
            <a:srgbClr val="2FA95C"/>
          </a:solidFill>
          <a:ln/>
        </p:spPr>
      </p:sp>
      <p:sp>
        <p:nvSpPr>
          <p:cNvPr id="18" name="Text 15"/>
          <p:cNvSpPr/>
          <p:nvPr/>
        </p:nvSpPr>
        <p:spPr>
          <a:xfrm>
            <a:off x="4334256" y="539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45152" y="5312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세로 목록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45152" y="5477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한 칸에 접었다 펴는 목록을 세로로 쌓는 형태. 지표 선택과 조건 선택이 여기에 속한다.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8028432" y="5285232"/>
            <a:ext cx="3694176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38160" y="5394960"/>
            <a:ext cx="237744" cy="237744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3" name="Text 20"/>
          <p:cNvSpPr/>
          <p:nvPr/>
        </p:nvSpPr>
        <p:spPr>
          <a:xfrm>
            <a:off x="8138160" y="539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49056" y="5312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세로 흐름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49056" y="5477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패널 안에서 A · B · C 구역을 위에서 아래로 읽어 내리는 형태. 판독과 비교가 여기에 속한다.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20624" y="5925312"/>
            <a:ext cx="11338560" cy="6858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20624" y="5925312"/>
            <a:ext cx="41148" cy="6858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8" name="Text 25"/>
          <p:cNvSpPr/>
          <p:nvPr/>
        </p:nvSpPr>
        <p:spPr>
          <a:xfrm>
            <a:off x="603504" y="5980176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레이아웃을 세 벌로 묶어 두면 화면을 옮겨 다녀도 조작이 놓인 자리가 바뀌지 않아, 처음 보는 사람도 두 번째 화면부터는 찾지 않고 누른다.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SSI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O2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분석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화면에서 드러난 문제를 영역별로 나누어 짚고, 어떤 근거로 고쳤는지 남긴다.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분석 개요 및 범위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데이터 시각화 및 UI 한계 (AS-IS → TO-BE)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WEB UI 영역 구분 (조작부 · 지도 · 통계 패널)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영역별 문제 09건 및 개선 결과 · 종합 결론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개요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목적 · 범위 · 방법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0624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22576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1" name="Text 9"/>
          <p:cNvSpPr/>
          <p:nvPr/>
        </p:nvSpPr>
        <p:spPr>
          <a:xfrm>
            <a:off x="2322576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22576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컬럼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24528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24528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(S1 · S8)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28432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8"/>
          <p:cNvSpPr/>
          <p:nvPr/>
        </p:nvSpPr>
        <p:spPr>
          <a:xfrm>
            <a:off x="8028432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28432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도출 문제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30384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3" name="Text 21"/>
          <p:cNvSpPr/>
          <p:nvPr/>
        </p:nvSpPr>
        <p:spPr>
          <a:xfrm>
            <a:off x="9930384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30384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차수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" y="1975104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목적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" y="2249424"/>
            <a:ext cx="3694176" cy="32918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340864"/>
            <a:ext cx="3438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원자료를 쓰더라도 표준화 방법을 무엇으로 잡느냐에 따라 시군구 순위가 달라진다. 이 흔들림의 크기를 화면에서 바로 확인할 수 있게 만드는 것이 목적이다.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 값 하나만 보여주는 화면이 아니라, 그 값이 어떤 계산을 거쳐 나왔고 방법을 바꾸면 어디까지 움직이는지를 같은 화면 안에서 대조할 수 있어야 한다.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24528" y="1975104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0" name="Text 28"/>
          <p:cNvSpPr/>
          <p:nvPr/>
        </p:nvSpPr>
        <p:spPr>
          <a:xfrm>
            <a:off x="4352544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범위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24528" y="2249424"/>
            <a:ext cx="3694176" cy="32918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2544" y="2340864"/>
            <a:ext cx="3438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분석결과 229개 시군구 × 40개 컬럼. 부문은 공간구조 효율성(S1, 지표 2개)과 지역사회 건강도(S8, 지표 7개) 두 갈래.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표준화는 간격보존형 3방법(Min-Max · 거리기반 · 로지스틱)과 순위전용형 1방법(백분위순위)을 함께 다룬다.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헤더 · 조작부 · 지도 · 통계 패널 · 데이터표 · 용어 여섯 조각으로 나누어 본다.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28432" y="1975104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4" name="Text 32"/>
          <p:cNvSpPr/>
          <p:nvPr/>
        </p:nvSpPr>
        <p:spPr>
          <a:xfrm>
            <a:off x="8156448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방법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28432" y="2249424"/>
            <a:ext cx="3694176" cy="32918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2340864"/>
            <a:ext cx="3438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화면을 실제로 조작하며 막히는 지점을 기록하고, 영역별로 묶어 문제 09건으로 정리했다.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문제마다 개선 방향을 정하고 8차에 걸쳐 화면을 고친 뒤, 같은 평가 항목으로 차수별 변화를 다시 매겼다.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결과는 실제 빌드에서 캡쳐한 화면으로 확인한다. 이 자료의 모든 화면은 보정 없이 그대로 옮긴 것이다.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" y="5669280"/>
            <a:ext cx="11338560" cy="94183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6"/>
          <p:cNvSpPr/>
          <p:nvPr/>
        </p:nvSpPr>
        <p:spPr>
          <a:xfrm>
            <a:off x="420624" y="5669280"/>
            <a:ext cx="41148" cy="9418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" y="5724144"/>
            <a:ext cx="11018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표준화 방법은 옳고 그름의 문제가 아니라 무엇을 보여줄 것인가의 문제다. 화면은 방법을 대신 고르지 않고, 고를 수 있도록 근거만 나란히 놓는다.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시각화 및 UI 한계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→ TO-BE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32688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3017520"/>
                <a:gridCol w="3657600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AS-IS  (초안 화면)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TO-BE  (개선 화면)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한 칸에 갇힌 작은 지도. 조작부·통계와 나란히 3분할로 놓여 판이 좁았다.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229개를 한눈에 훑기 어렵고, 시도를 좁히면 여백만 늘어난다.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지도를 화면 전체 배경으로 깔고, 조작부와 통계는 그 위에 떠 있는 덱으로 얹었다.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지표가 한 덩어리 목록으로 늘어서 있어 무엇을 고르는 중인지 드러나지 않았다.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결과 · 민감도 · 원자료가 섞여 보여 항목의 성격을 구분할 수 없다.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카드 안에 묶음 상자를 두고, ＋/－ 로 여닫도록 두 겹으로 접었다.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카드가 순서 없이 이어져 어디부터 읽어야 할지 알 수 없었다.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읽는 사람마다 다른 카드부터 보게 되어 같은 화면에서 다른 결론이 나온다.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선택 지역 → B 방법 비교 → C 전국 분포 로 구역을 나누고 위에서 아래로 읽게 했다.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 비교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방법을 바꾸면 색이 달라지지만, 무엇이 얼마나 달라졌는지 확인할 근거가 없었다.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색이 바뀐 것은 보이는데 그 변화가 큰 것인지 작은 것인지 판단할 기준이 없다.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계산 과정 · 방법별 분포 · 순위 이동 범프 · 민감도 산점도를 같은 화면에 붙였다.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 공유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화면을 어떻게 맞춰 놓았는지 남길 방법이 없어 말로 설명해야 했다.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화면을 다시 만들려면 조작을 처음부터 되풀이해야 한다.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· 방법 · 지표 · 시도 · 선택 지역을 URL 해시에 담아 주소만으로 복원한다.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705856"/>
            <a:ext cx="11338560" cy="90525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705856"/>
            <a:ext cx="41148" cy="90525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760720"/>
            <a:ext cx="11018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다섯 갈래의 한계는 모두 “값은 보이는데 그 값을 믿을 근거가 화면에 없다”는 한 가지로 모인다.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따라서 개선의 축은 꾸미기가 아니라, 계산의 중간 단계와 방법 간 차이를 화면 안으로 끌어올리는 데 두었다.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UI 영역 구분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· 지도 · 통계 패널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4468" y="969264"/>
            <a:ext cx="7764712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468" y="969264"/>
            <a:ext cx="7764712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4468" y="969264"/>
            <a:ext cx="7764712" cy="46177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7644" y="1315593"/>
            <a:ext cx="1436472" cy="415594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7644" y="1123569"/>
            <a:ext cx="9692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9"/>
          <p:cNvSpPr/>
          <p:nvPr/>
        </p:nvSpPr>
        <p:spPr>
          <a:xfrm>
            <a:off x="517644" y="1123569"/>
            <a:ext cx="969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  조작부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977410" y="1315593"/>
            <a:ext cx="1747060" cy="415594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77410" y="1123569"/>
            <a:ext cx="124358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5" name="Text 12"/>
          <p:cNvSpPr/>
          <p:nvPr/>
        </p:nvSpPr>
        <p:spPr>
          <a:xfrm>
            <a:off x="1977410" y="1123569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 통계 패널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802118" y="1315593"/>
            <a:ext cx="4286121" cy="415594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61875" y="1123569"/>
            <a:ext cx="6263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8" name="Text 15"/>
          <p:cNvSpPr/>
          <p:nvPr/>
        </p:nvSpPr>
        <p:spPr>
          <a:xfrm>
            <a:off x="7461875" y="1123569"/>
            <a:ext cx="6263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 지도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412480" y="969264"/>
            <a:ext cx="3346704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7"/>
          <p:cNvSpPr/>
          <p:nvPr/>
        </p:nvSpPr>
        <p:spPr>
          <a:xfrm>
            <a:off x="8540496" y="9692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   조작부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412480" y="1243584"/>
            <a:ext cx="3346704" cy="106070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40496" y="1298448"/>
            <a:ext cx="3090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볼지 고르는 칸. 부문 → 묶음 → 지표 의 두 겹 접이 목록과 시·도, 시·군·구, 표준화 방법 선택이 세로로 쌓여 있다. 항상 열려 있으며 접히지 않는다.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412480" y="2450592"/>
            <a:ext cx="3346704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4" name="Text 21"/>
          <p:cNvSpPr/>
          <p:nvPr/>
        </p:nvSpPr>
        <p:spPr>
          <a:xfrm>
            <a:off x="8540496" y="24505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  통계 패널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412480" y="2724912"/>
            <a:ext cx="3346704" cy="106070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2779776"/>
            <a:ext cx="3090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조건의 근거를 보여주는 칸. A 선택 지역 · B 방법 비교 · C 전국 분포 세 구역이 위에서 아래로 이어진다. 오른쪽 손잡이로 접었다 펼 수 있다.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8412480" y="3931920"/>
            <a:ext cx="3346704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8" name="Text 25"/>
          <p:cNvSpPr/>
          <p:nvPr/>
        </p:nvSpPr>
        <p:spPr>
          <a:xfrm>
            <a:off x="8540496" y="39319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  지도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412480" y="4206240"/>
            <a:ext cx="3346704" cy="106070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40496" y="4261104"/>
            <a:ext cx="3090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전체를 덮는 바탕. 값이 색 단계로 칠해지고 선택한 시군구만 굵게 둘린다. 조작부와 통계 패널은 이 위에 떠 있는 한 덩어리(덱)로 얹힌다.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412480" y="5468112"/>
            <a:ext cx="3346704" cy="512064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85632" y="54681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칸은 따로 놓인 상자가 아니라 테두리 하나를 함께 쓰는 한 덩어리다. 그림자로 지도보다 한 층 위에 있음을 표시한다.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4" name="Shape 3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조작부와 통계 패널은 지도 위에 떠 있되 왼쪽으로 몰려 있어, 지도에서 실제로 봐야 할 부분이 화면 가운데로 오도록 여백을 계산해 밀어 둔다.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대상 화면 설정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화면 · 2 ×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화면 (Min-Max)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50254" y="1261872"/>
            <a:ext cx="2736869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254" y="1261872"/>
            <a:ext cx="2736869" cy="16276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50254" y="1261872"/>
            <a:ext cx="2736869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2944368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진입했을 때의 기준 화면. 지도 배경 + 떠 있는 덱 + 흐름 막대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932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01968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 전환 (백분위순위)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56110" y="1261872"/>
            <a:ext cx="2736869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Image 1" descr="/home/claude/patch/shots/22-pctr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110" y="1261872"/>
            <a:ext cx="2736869" cy="16276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556110" y="1261872"/>
            <a:ext cx="2736869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2944368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지표를 순위전용형으로 바꿨을 때 색이 어떻게 갈리는지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20624" y="3419856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2" name="Text 18"/>
          <p:cNvSpPr/>
          <p:nvPr/>
        </p:nvSpPr>
        <p:spPr>
          <a:xfrm>
            <a:off x="512064" y="34198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96112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 나란히 비교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1850254" y="3749040"/>
            <a:ext cx="2736869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Image 2" descr="/home/claude/patch/shots/32-comp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254" y="3749040"/>
            <a:ext cx="2736869" cy="162763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850254" y="3749040"/>
            <a:ext cx="2736869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0624" y="5431536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간격보존형과 순위전용형을 좌우로 놓고 동시에 대조하는 화면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126480" y="3419856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6217920" y="34198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601968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데이터표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556110" y="3749040"/>
            <a:ext cx="2736869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2" name="Image 3" descr="/home/claude/patch/shots/34-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110" y="3749040"/>
            <a:ext cx="2736869" cy="162763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556110" y="3749040"/>
            <a:ext cx="2736869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26480" y="5431536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전 컬럼을 정렬해 원자료까지 확인하는 화면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420624" y="5943600"/>
            <a:ext cx="11338560" cy="66751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6" name="Shape 30"/>
          <p:cNvSpPr/>
          <p:nvPr/>
        </p:nvSpPr>
        <p:spPr>
          <a:xfrm>
            <a:off x="420624" y="5943600"/>
            <a:ext cx="41148" cy="66751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7" name="Text 31"/>
          <p:cNvSpPr/>
          <p:nvPr/>
        </p:nvSpPr>
        <p:spPr>
          <a:xfrm>
            <a:off x="603504" y="5998464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네 화면은 모두 같은 원자료(229개 시군구 · 공간구조 효율성 부문)를 쓰며, 달라지는 것은 표준화 방법과 보여주는 방식뿐이다.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01  ·  Sidebar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지표가 한 덩어리로 늘어서 있어 지금 무엇을 고르는 중인지 화면에 드러나지 않는다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38952" y="1700784"/>
            <a:ext cx="817839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03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952" y="1700784"/>
            <a:ext cx="817839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138952" y="1700784"/>
            <a:ext cx="817839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88023" y="2446934"/>
            <a:ext cx="719699" cy="104461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88023" y="2254910"/>
            <a:ext cx="69494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3188023" y="2254910"/>
            <a:ext cx="694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 목록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결과 · 민감도 · 원자료 지표가 성격 구분 없이 한 줄로 이어져, 고른 항목이 어느 갈래에 속하는지 알 수 없었다.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부문을 바꾸면 목록 전체가 통째로 갈리는데 무엇이 바뀌었는지 표시가 없어 화면을 다시 훑어야 했다.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수가 늘어날수록 세로로만 길어져 스크롤 없이는 끝까지 볼 수 없었다.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카드(S1 · S8)를 먼저 두고, 그 안에 묶음 상자를 넣어 두 겹으로 접었다.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상자는 ＋ / － 로 여닫히며 열린 묶음만 항목을 펼친다.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항목은 진한 바탕으로 남아 어느 묶음 안에 있는지 함께 보인다.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9062780" y="2743200"/>
            <a:ext cx="6013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/07-side-grou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780" y="2743200"/>
            <a:ext cx="601352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9062780" y="2743200"/>
            <a:ext cx="601352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묶음을 모두 펼쳐도 부문 → 묶음 → 지표 의 층이 그대로 읽힌다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접이가 깊어지면 클릭 수가 늘어나므로 묶음은 세 개까지만 둔다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두 겹 접이로 바꾼 뒤 조작부의 세로 길이가 초안 대비 눈에 띄게 줄어, 지표 수가 7개인 지역사회 건강도 부문에서도 스크롤 없이 전체가 들어온다.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02  ·  Sidebar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조작부와 통계 패널이 서로 떨어져 있어 한 화면으로 읽히지 않는다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56781" y="1700784"/>
            <a:ext cx="41821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781" y="1700784"/>
            <a:ext cx="4182182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456781" y="1700784"/>
            <a:ext cx="4182182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06967" y="1887322"/>
            <a:ext cx="773704" cy="223845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506967" y="1695298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1506967" y="1695298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293218" y="1887322"/>
            <a:ext cx="940991" cy="223845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93218" y="1695298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2293218" y="1695298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패널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칸 사이에 여백이 있어 별개의 창처럼 보였고, 조작한 결과가 옆 칸에 반영된다는 연결이 끊겼다.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칸마다 테두리와 모서리가 따로 있어 같은 층에 놓인 것인지 다른 층인지 판단되지 않았다.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위에 얹혀 있는데도 그림자가 없어 배경과 같은 평면으로 보였다.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8" name="Shape 35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6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칸을 테두리 하나 · 모서리 하나를 함께 쓰는 한 덩어리(덱)로 묶었다.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 전체에 그림자를 넣어 지도보다 한 층 위에 있음을 드러냈다.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사이는 여백 대신 가는 선 하나로만 나눠 붙어 있는 것으로 읽히게 했다.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825889" y="2743200"/>
            <a:ext cx="30751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1" descr="/home/claude/patch/shots/01-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889" y="2743200"/>
            <a:ext cx="3075134" cy="1828800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7825889" y="2743200"/>
            <a:ext cx="307513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테두리와 그림자를 공유해 두 칸이 한 덩어리로 읽힌다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덱이 넓어지면 지도의 왼쪽이 가려지므로 폭을 계산해 지도를 민다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5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6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덱의 실제 폭을 계산해 지도의 시각 중심을 그만큼 오른쪽으로 밀어 두었기 때문에, 조작부를 띄워 두어도 봐야 할 지역이 가려지지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03  ·  Sidebar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시·도와 시·군·구를 고르는 칸이 목록만 길어질 뿐 지금 고른 값이 눈에 띄지 않는다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38952" y="1700784"/>
            <a:ext cx="817839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09-s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952" y="1700784"/>
            <a:ext cx="817839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138952" y="1700784"/>
            <a:ext cx="817839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79844" y="2098731"/>
            <a:ext cx="736055" cy="746150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79844" y="1906707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3179844" y="1906707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열린 목록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목록을 펼치면 17개 시·도가 한꺼번에 쏟아져 지금 고른 값이 어디 있는지 찾아야 했다.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시·도를 고른 뒤 시·군·구 목록이 그 안으로 좁혀지는지 화면상 확인할 방법이 없었다.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되돌릴 방법이 없어 전국으로 돌아가려면 새로 고침을 해야 했다.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상태에서도 고른 값이 머리줄에 그대로 남게 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시·도를 고르면 시·군·구 목록이 곧바로 그 안으로 좁혀지고 개수가 함께 표시된다.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초기화 단추를 같은 칸에 두어 전국으로 한 번에 되돌린다.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9062780" y="2743200"/>
            <a:ext cx="6013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/10-s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780" y="2743200"/>
            <a:ext cx="601352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9062780" y="2743200"/>
            <a:ext cx="601352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시·도 안의 시·군·구만 남아 목록이 짧아진다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목록이 긴 경기도·경상북도는 찾기 칸이 함께 필요하다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지역을 좁히면 지도·통계·데이터표가 동시에 같은 범위로 맞춰지므로, 어느 칸을 보고 있든 지금 보고 있는 범위가 서로 어긋나지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분석 결과 — Sidebar 조작부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 4 × 개선 차수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143296"/>
            <a:ext cx="3566160" cy="21208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143296"/>
            <a:ext cx="3566160" cy="2120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0624" y="1143296"/>
            <a:ext cx="3566160" cy="212081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3418" y="1302357"/>
            <a:ext cx="659740" cy="1908735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3418" y="1110333"/>
            <a:ext cx="90068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9"/>
          <p:cNvSpPr/>
          <p:nvPr/>
        </p:nvSpPr>
        <p:spPr>
          <a:xfrm>
            <a:off x="463418" y="1110333"/>
            <a:ext cx="9006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 조작부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566160"/>
          <a:ext cx="3566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위계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고르는 항목이 어느 갈래에 속하는지 화면에서 구분되는가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흐름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→ 묶음 → 지표 의 순서가 조작 순서와 맞아떨어지는가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 표시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고른 값이 접힌 상태에서도 남아 있는가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공간 효율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항목이 늘어나도 스크롤 없이 전체가 들어오는가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224528" y="969264"/>
            <a:ext cx="753465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1"/>
          <p:cNvSpPr/>
          <p:nvPr/>
        </p:nvSpPr>
        <p:spPr>
          <a:xfrm>
            <a:off x="4352544" y="9692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차수별 평가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290304" y="9692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◉ 5점 만점 · 같은 항목을 차수마다 다시 매김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224528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8" name="Text 14"/>
          <p:cNvSpPr/>
          <p:nvPr/>
        </p:nvSpPr>
        <p:spPr>
          <a:xfrm>
            <a:off x="4224528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731459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5731459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(1차)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238390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2" name="Text 18"/>
          <p:cNvSpPr/>
          <p:nvPr/>
        </p:nvSpPr>
        <p:spPr>
          <a:xfrm>
            <a:off x="7238390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8745322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4" name="Text 20"/>
          <p:cNvSpPr/>
          <p:nvPr/>
        </p:nvSpPr>
        <p:spPr>
          <a:xfrm>
            <a:off x="8745322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0252253" y="1243584"/>
            <a:ext cx="1506931" cy="292608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26" name="Text 22"/>
          <p:cNvSpPr/>
          <p:nvPr/>
        </p:nvSpPr>
        <p:spPr>
          <a:xfrm>
            <a:off x="10252253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(8차)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224528" y="1536192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24528" y="1536192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위계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731459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86323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[평면 목록]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196889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Shape 28"/>
          <p:cNvSpPr/>
          <p:nvPr/>
        </p:nvSpPr>
        <p:spPr>
          <a:xfrm>
            <a:off x="6320333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3" name="Shape 29"/>
          <p:cNvSpPr/>
          <p:nvPr/>
        </p:nvSpPr>
        <p:spPr>
          <a:xfrm>
            <a:off x="6443777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4" name="Shape 30"/>
          <p:cNvSpPr/>
          <p:nvPr/>
        </p:nvSpPr>
        <p:spPr>
          <a:xfrm>
            <a:off x="6567221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5" name="Shape 31"/>
          <p:cNvSpPr/>
          <p:nvPr/>
        </p:nvSpPr>
        <p:spPr>
          <a:xfrm>
            <a:off x="6690665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6" name="Text 32"/>
          <p:cNvSpPr/>
          <p:nvPr/>
        </p:nvSpPr>
        <p:spPr>
          <a:xfrm>
            <a:off x="5795467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이어짐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7238390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93254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[부문 분리]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7703820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0" name="Shape 36"/>
          <p:cNvSpPr/>
          <p:nvPr/>
        </p:nvSpPr>
        <p:spPr>
          <a:xfrm>
            <a:off x="7827264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1" name="Shape 37"/>
          <p:cNvSpPr/>
          <p:nvPr/>
        </p:nvSpPr>
        <p:spPr>
          <a:xfrm>
            <a:off x="7950708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2" name="Shape 38"/>
          <p:cNvSpPr/>
          <p:nvPr/>
        </p:nvSpPr>
        <p:spPr>
          <a:xfrm>
            <a:off x="8074152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3" name="Shape 39"/>
          <p:cNvSpPr/>
          <p:nvPr/>
        </p:nvSpPr>
        <p:spPr>
          <a:xfrm>
            <a:off x="8197596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4" name="Text 40"/>
          <p:cNvSpPr/>
          <p:nvPr/>
        </p:nvSpPr>
        <p:spPr>
          <a:xfrm>
            <a:off x="7302398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두 장으로 나눔</a:t>
            </a:r>
            <a:endParaRPr lang="en-US" sz="700" dirty="0"/>
          </a:p>
        </p:txBody>
      </p:sp>
      <p:sp>
        <p:nvSpPr>
          <p:cNvPr id="45" name="Shape 41"/>
          <p:cNvSpPr/>
          <p:nvPr/>
        </p:nvSpPr>
        <p:spPr>
          <a:xfrm>
            <a:off x="8745322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800186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[두 겹 접이]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9210751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8" name="Shape 44"/>
          <p:cNvSpPr/>
          <p:nvPr/>
        </p:nvSpPr>
        <p:spPr>
          <a:xfrm>
            <a:off x="9334195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9" name="Shape 45"/>
          <p:cNvSpPr/>
          <p:nvPr/>
        </p:nvSpPr>
        <p:spPr>
          <a:xfrm>
            <a:off x="9457639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50" name="Shape 46"/>
          <p:cNvSpPr/>
          <p:nvPr/>
        </p:nvSpPr>
        <p:spPr>
          <a:xfrm>
            <a:off x="9581083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51" name="Shape 47"/>
          <p:cNvSpPr/>
          <p:nvPr/>
        </p:nvSpPr>
        <p:spPr>
          <a:xfrm>
            <a:off x="9704527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52" name="Text 48"/>
          <p:cNvSpPr/>
          <p:nvPr/>
        </p:nvSpPr>
        <p:spPr>
          <a:xfrm>
            <a:off x="8809330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상자 도입</a:t>
            </a:r>
            <a:endParaRPr lang="en-US" sz="700" dirty="0"/>
          </a:p>
        </p:txBody>
      </p:sp>
      <p:sp>
        <p:nvSpPr>
          <p:cNvPr id="53" name="Shape 49"/>
          <p:cNvSpPr/>
          <p:nvPr/>
        </p:nvSpPr>
        <p:spPr>
          <a:xfrm>
            <a:off x="10252253" y="1536192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0307117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[세 층 구분]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10717682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6" name="Shape 52"/>
          <p:cNvSpPr/>
          <p:nvPr/>
        </p:nvSpPr>
        <p:spPr>
          <a:xfrm>
            <a:off x="10841126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7" name="Shape 53"/>
          <p:cNvSpPr/>
          <p:nvPr/>
        </p:nvSpPr>
        <p:spPr>
          <a:xfrm>
            <a:off x="10964570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8" name="Shape 54"/>
          <p:cNvSpPr/>
          <p:nvPr/>
        </p:nvSpPr>
        <p:spPr>
          <a:xfrm>
            <a:off x="11088014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9" name="Shape 55"/>
          <p:cNvSpPr/>
          <p:nvPr/>
        </p:nvSpPr>
        <p:spPr>
          <a:xfrm>
            <a:off x="11211458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0" name="Text 56"/>
          <p:cNvSpPr/>
          <p:nvPr/>
        </p:nvSpPr>
        <p:spPr>
          <a:xfrm>
            <a:off x="10316261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부문·묶음·지표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224528" y="2578608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224528" y="2578608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흐름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5731459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786323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[순서 없음]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196889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66" name="Shape 62"/>
          <p:cNvSpPr/>
          <p:nvPr/>
        </p:nvSpPr>
        <p:spPr>
          <a:xfrm>
            <a:off x="6320333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7" name="Shape 63"/>
          <p:cNvSpPr/>
          <p:nvPr/>
        </p:nvSpPr>
        <p:spPr>
          <a:xfrm>
            <a:off x="6443777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8" name="Shape 64"/>
          <p:cNvSpPr/>
          <p:nvPr/>
        </p:nvSpPr>
        <p:spPr>
          <a:xfrm>
            <a:off x="6567221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9" name="Shape 65"/>
          <p:cNvSpPr/>
          <p:nvPr/>
        </p:nvSpPr>
        <p:spPr>
          <a:xfrm>
            <a:off x="6690665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0" name="Text 66"/>
          <p:cNvSpPr/>
          <p:nvPr/>
        </p:nvSpPr>
        <p:spPr>
          <a:xfrm>
            <a:off x="5795467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무엇부터인지 불명</a:t>
            </a:r>
            <a:endParaRPr lang="en-US" sz="700" dirty="0"/>
          </a:p>
        </p:txBody>
      </p:sp>
      <p:sp>
        <p:nvSpPr>
          <p:cNvPr id="71" name="Shape 67"/>
          <p:cNvSpPr/>
          <p:nvPr/>
        </p:nvSpPr>
        <p:spPr>
          <a:xfrm>
            <a:off x="7238390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7293254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[부분 정렬]</a:t>
            </a:r>
            <a:endParaRPr lang="en-US" sz="800" dirty="0"/>
          </a:p>
        </p:txBody>
      </p:sp>
      <p:sp>
        <p:nvSpPr>
          <p:cNvPr id="73" name="Shape 69"/>
          <p:cNvSpPr/>
          <p:nvPr/>
        </p:nvSpPr>
        <p:spPr>
          <a:xfrm>
            <a:off x="7703820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4" name="Shape 70"/>
          <p:cNvSpPr/>
          <p:nvPr/>
        </p:nvSpPr>
        <p:spPr>
          <a:xfrm>
            <a:off x="7827264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5" name="Shape 71"/>
          <p:cNvSpPr/>
          <p:nvPr/>
        </p:nvSpPr>
        <p:spPr>
          <a:xfrm>
            <a:off x="7950708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6" name="Shape 72"/>
          <p:cNvSpPr/>
          <p:nvPr/>
        </p:nvSpPr>
        <p:spPr>
          <a:xfrm>
            <a:off x="8074152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7" name="Shape 73"/>
          <p:cNvSpPr/>
          <p:nvPr/>
        </p:nvSpPr>
        <p:spPr>
          <a:xfrm>
            <a:off x="8197596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8" name="Text 74"/>
          <p:cNvSpPr/>
          <p:nvPr/>
        </p:nvSpPr>
        <p:spPr>
          <a:xfrm>
            <a:off x="7302398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부문만 앞으로</a:t>
            </a:r>
            <a:endParaRPr lang="en-US" sz="700" dirty="0"/>
          </a:p>
        </p:txBody>
      </p:sp>
      <p:sp>
        <p:nvSpPr>
          <p:cNvPr id="79" name="Shape 75"/>
          <p:cNvSpPr/>
          <p:nvPr/>
        </p:nvSpPr>
        <p:spPr>
          <a:xfrm>
            <a:off x="8745322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8800186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[흐름 고정]</a:t>
            </a:r>
            <a:endParaRPr lang="en-US" sz="800" dirty="0"/>
          </a:p>
        </p:txBody>
      </p:sp>
      <p:sp>
        <p:nvSpPr>
          <p:cNvPr id="81" name="Shape 77"/>
          <p:cNvSpPr/>
          <p:nvPr/>
        </p:nvSpPr>
        <p:spPr>
          <a:xfrm>
            <a:off x="9210751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2" name="Shape 78"/>
          <p:cNvSpPr/>
          <p:nvPr/>
        </p:nvSpPr>
        <p:spPr>
          <a:xfrm>
            <a:off x="9334195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3" name="Shape 79"/>
          <p:cNvSpPr/>
          <p:nvPr/>
        </p:nvSpPr>
        <p:spPr>
          <a:xfrm>
            <a:off x="9457639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4" name="Shape 80"/>
          <p:cNvSpPr/>
          <p:nvPr/>
        </p:nvSpPr>
        <p:spPr>
          <a:xfrm>
            <a:off x="9581083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5" name="Shape 81"/>
          <p:cNvSpPr/>
          <p:nvPr/>
        </p:nvSpPr>
        <p:spPr>
          <a:xfrm>
            <a:off x="9704527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86" name="Text 82"/>
          <p:cNvSpPr/>
          <p:nvPr/>
        </p:nvSpPr>
        <p:spPr>
          <a:xfrm>
            <a:off x="8809330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아래로</a:t>
            </a:r>
            <a:endParaRPr lang="en-US" sz="700" dirty="0"/>
          </a:p>
        </p:txBody>
      </p:sp>
      <p:sp>
        <p:nvSpPr>
          <p:cNvPr id="87" name="Shape 83"/>
          <p:cNvSpPr/>
          <p:nvPr/>
        </p:nvSpPr>
        <p:spPr>
          <a:xfrm>
            <a:off x="10252253" y="2578608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10307117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[흐름 막대]</a:t>
            </a:r>
            <a:endParaRPr lang="en-US" sz="800" dirty="0"/>
          </a:p>
        </p:txBody>
      </p:sp>
      <p:sp>
        <p:nvSpPr>
          <p:cNvPr id="89" name="Shape 85"/>
          <p:cNvSpPr/>
          <p:nvPr/>
        </p:nvSpPr>
        <p:spPr>
          <a:xfrm>
            <a:off x="10717682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0" name="Shape 86"/>
          <p:cNvSpPr/>
          <p:nvPr/>
        </p:nvSpPr>
        <p:spPr>
          <a:xfrm>
            <a:off x="10841126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1" name="Shape 87"/>
          <p:cNvSpPr/>
          <p:nvPr/>
        </p:nvSpPr>
        <p:spPr>
          <a:xfrm>
            <a:off x="10964570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2" name="Shape 88"/>
          <p:cNvSpPr/>
          <p:nvPr/>
        </p:nvSpPr>
        <p:spPr>
          <a:xfrm>
            <a:off x="11088014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3" name="Shape 89"/>
          <p:cNvSpPr/>
          <p:nvPr/>
        </p:nvSpPr>
        <p:spPr>
          <a:xfrm>
            <a:off x="11211458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4" name="Text 90"/>
          <p:cNvSpPr/>
          <p:nvPr/>
        </p:nvSpPr>
        <p:spPr>
          <a:xfrm>
            <a:off x="10316261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위치 표시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4224528" y="3621024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4224528" y="3621024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표시</a:t>
            </a:r>
            <a:endParaRPr lang="en-US" sz="850" dirty="0"/>
          </a:p>
        </p:txBody>
      </p:sp>
      <p:sp>
        <p:nvSpPr>
          <p:cNvPr id="97" name="Shape 93"/>
          <p:cNvSpPr/>
          <p:nvPr/>
        </p:nvSpPr>
        <p:spPr>
          <a:xfrm>
            <a:off x="5731459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5786323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[미표시]</a:t>
            </a:r>
            <a:endParaRPr lang="en-US" sz="800" dirty="0"/>
          </a:p>
        </p:txBody>
      </p:sp>
      <p:sp>
        <p:nvSpPr>
          <p:cNvPr id="99" name="Shape 95"/>
          <p:cNvSpPr/>
          <p:nvPr/>
        </p:nvSpPr>
        <p:spPr>
          <a:xfrm>
            <a:off x="6196889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0" name="Shape 96"/>
          <p:cNvSpPr/>
          <p:nvPr/>
        </p:nvSpPr>
        <p:spPr>
          <a:xfrm>
            <a:off x="6320333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1" name="Shape 97"/>
          <p:cNvSpPr/>
          <p:nvPr/>
        </p:nvSpPr>
        <p:spPr>
          <a:xfrm>
            <a:off x="6443777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2" name="Shape 98"/>
          <p:cNvSpPr/>
          <p:nvPr/>
        </p:nvSpPr>
        <p:spPr>
          <a:xfrm>
            <a:off x="6567221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3" name="Shape 99"/>
          <p:cNvSpPr/>
          <p:nvPr/>
        </p:nvSpPr>
        <p:spPr>
          <a:xfrm>
            <a:off x="6690665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4" name="Text 100"/>
          <p:cNvSpPr/>
          <p:nvPr/>
        </p:nvSpPr>
        <p:spPr>
          <a:xfrm>
            <a:off x="5795467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사라짐</a:t>
            </a:r>
            <a:endParaRPr lang="en-US" sz="700" dirty="0"/>
          </a:p>
        </p:txBody>
      </p:sp>
      <p:sp>
        <p:nvSpPr>
          <p:cNvPr id="105" name="Shape 101"/>
          <p:cNvSpPr/>
          <p:nvPr/>
        </p:nvSpPr>
        <p:spPr>
          <a:xfrm>
            <a:off x="7238390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7293254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[미표시]</a:t>
            </a:r>
            <a:endParaRPr lang="en-US" sz="800" dirty="0"/>
          </a:p>
        </p:txBody>
      </p:sp>
      <p:sp>
        <p:nvSpPr>
          <p:cNvPr id="107" name="Shape 103"/>
          <p:cNvSpPr/>
          <p:nvPr/>
        </p:nvSpPr>
        <p:spPr>
          <a:xfrm>
            <a:off x="7703820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8" name="Shape 104"/>
          <p:cNvSpPr/>
          <p:nvPr/>
        </p:nvSpPr>
        <p:spPr>
          <a:xfrm>
            <a:off x="7827264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9" name="Shape 105"/>
          <p:cNvSpPr/>
          <p:nvPr/>
        </p:nvSpPr>
        <p:spPr>
          <a:xfrm>
            <a:off x="7950708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0" name="Shape 106"/>
          <p:cNvSpPr/>
          <p:nvPr/>
        </p:nvSpPr>
        <p:spPr>
          <a:xfrm>
            <a:off x="8074152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1" name="Shape 107"/>
          <p:cNvSpPr/>
          <p:nvPr/>
        </p:nvSpPr>
        <p:spPr>
          <a:xfrm>
            <a:off x="8197596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2" name="Text 108"/>
          <p:cNvSpPr/>
          <p:nvPr/>
        </p:nvSpPr>
        <p:spPr>
          <a:xfrm>
            <a:off x="7302398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</a:t>
            </a:r>
            <a:endParaRPr lang="en-US" sz="700" dirty="0"/>
          </a:p>
        </p:txBody>
      </p:sp>
      <p:sp>
        <p:nvSpPr>
          <p:cNvPr id="113" name="Shape 109"/>
          <p:cNvSpPr/>
          <p:nvPr/>
        </p:nvSpPr>
        <p:spPr>
          <a:xfrm>
            <a:off x="8745322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8800186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[머리줄 유지]</a:t>
            </a:r>
            <a:endParaRPr lang="en-US" sz="800" dirty="0"/>
          </a:p>
        </p:txBody>
      </p:sp>
      <p:sp>
        <p:nvSpPr>
          <p:cNvPr id="115" name="Shape 111"/>
          <p:cNvSpPr/>
          <p:nvPr/>
        </p:nvSpPr>
        <p:spPr>
          <a:xfrm>
            <a:off x="9210751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6" name="Shape 112"/>
          <p:cNvSpPr/>
          <p:nvPr/>
        </p:nvSpPr>
        <p:spPr>
          <a:xfrm>
            <a:off x="9334195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7" name="Shape 113"/>
          <p:cNvSpPr/>
          <p:nvPr/>
        </p:nvSpPr>
        <p:spPr>
          <a:xfrm>
            <a:off x="9457639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8" name="Shape 114"/>
          <p:cNvSpPr/>
          <p:nvPr/>
        </p:nvSpPr>
        <p:spPr>
          <a:xfrm>
            <a:off x="9581083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9" name="Shape 115"/>
          <p:cNvSpPr/>
          <p:nvPr/>
        </p:nvSpPr>
        <p:spPr>
          <a:xfrm>
            <a:off x="9704527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20" name="Text 116"/>
          <p:cNvSpPr/>
          <p:nvPr/>
        </p:nvSpPr>
        <p:spPr>
          <a:xfrm>
            <a:off x="8809330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값 남김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10252253" y="3621024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10307117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[전 항목 유지]</a:t>
            </a:r>
            <a:endParaRPr lang="en-US" sz="800" dirty="0"/>
          </a:p>
        </p:txBody>
      </p:sp>
      <p:sp>
        <p:nvSpPr>
          <p:cNvPr id="123" name="Shape 119"/>
          <p:cNvSpPr/>
          <p:nvPr/>
        </p:nvSpPr>
        <p:spPr>
          <a:xfrm>
            <a:off x="10717682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4" name="Shape 120"/>
          <p:cNvSpPr/>
          <p:nvPr/>
        </p:nvSpPr>
        <p:spPr>
          <a:xfrm>
            <a:off x="10841126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5" name="Shape 121"/>
          <p:cNvSpPr/>
          <p:nvPr/>
        </p:nvSpPr>
        <p:spPr>
          <a:xfrm>
            <a:off x="10964570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6" name="Shape 122"/>
          <p:cNvSpPr/>
          <p:nvPr/>
        </p:nvSpPr>
        <p:spPr>
          <a:xfrm>
            <a:off x="11088014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7" name="Shape 123"/>
          <p:cNvSpPr/>
          <p:nvPr/>
        </p:nvSpPr>
        <p:spPr>
          <a:xfrm>
            <a:off x="11211458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8" name="Text 124"/>
          <p:cNvSpPr/>
          <p:nvPr/>
        </p:nvSpPr>
        <p:spPr>
          <a:xfrm>
            <a:off x="10316261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방법·지역 포함</a:t>
            </a:r>
            <a:endParaRPr lang="en-US" sz="700" dirty="0"/>
          </a:p>
        </p:txBody>
      </p:sp>
      <p:sp>
        <p:nvSpPr>
          <p:cNvPr id="129" name="Shape 125"/>
          <p:cNvSpPr/>
          <p:nvPr/>
        </p:nvSpPr>
        <p:spPr>
          <a:xfrm>
            <a:off x="4224528" y="4663440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4224528" y="4663440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 효율</a:t>
            </a:r>
            <a:endParaRPr lang="en-US" sz="850" dirty="0"/>
          </a:p>
        </p:txBody>
      </p:sp>
      <p:sp>
        <p:nvSpPr>
          <p:cNvPr id="131" name="Shape 127"/>
          <p:cNvSpPr/>
          <p:nvPr/>
        </p:nvSpPr>
        <p:spPr>
          <a:xfrm>
            <a:off x="5731459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5786323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[스크롤 발생]</a:t>
            </a:r>
            <a:endParaRPr lang="en-US" sz="800" dirty="0"/>
          </a:p>
        </p:txBody>
      </p:sp>
      <p:sp>
        <p:nvSpPr>
          <p:cNvPr id="133" name="Shape 129"/>
          <p:cNvSpPr/>
          <p:nvPr/>
        </p:nvSpPr>
        <p:spPr>
          <a:xfrm>
            <a:off x="6196889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34" name="Shape 130"/>
          <p:cNvSpPr/>
          <p:nvPr/>
        </p:nvSpPr>
        <p:spPr>
          <a:xfrm>
            <a:off x="6320333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35" name="Shape 131"/>
          <p:cNvSpPr/>
          <p:nvPr/>
        </p:nvSpPr>
        <p:spPr>
          <a:xfrm>
            <a:off x="6443777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6" name="Shape 132"/>
          <p:cNvSpPr/>
          <p:nvPr/>
        </p:nvSpPr>
        <p:spPr>
          <a:xfrm>
            <a:off x="6567221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7" name="Shape 133"/>
          <p:cNvSpPr/>
          <p:nvPr/>
        </p:nvSpPr>
        <p:spPr>
          <a:xfrm>
            <a:off x="6690665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8" name="Text 134"/>
          <p:cNvSpPr/>
          <p:nvPr/>
        </p:nvSpPr>
        <p:spPr>
          <a:xfrm>
            <a:off x="5795467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세로로만 길어짐</a:t>
            </a:r>
            <a:endParaRPr lang="en-US" sz="700" dirty="0"/>
          </a:p>
        </p:txBody>
      </p:sp>
      <p:sp>
        <p:nvSpPr>
          <p:cNvPr id="139" name="Shape 135"/>
          <p:cNvSpPr/>
          <p:nvPr/>
        </p:nvSpPr>
        <p:spPr>
          <a:xfrm>
            <a:off x="7238390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293254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[스크롤 발생]</a:t>
            </a:r>
            <a:endParaRPr lang="en-US" sz="800" dirty="0"/>
          </a:p>
        </p:txBody>
      </p:sp>
      <p:sp>
        <p:nvSpPr>
          <p:cNvPr id="141" name="Shape 137"/>
          <p:cNvSpPr/>
          <p:nvPr/>
        </p:nvSpPr>
        <p:spPr>
          <a:xfrm>
            <a:off x="7703820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2" name="Shape 138"/>
          <p:cNvSpPr/>
          <p:nvPr/>
        </p:nvSpPr>
        <p:spPr>
          <a:xfrm>
            <a:off x="7827264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3" name="Shape 139"/>
          <p:cNvSpPr/>
          <p:nvPr/>
        </p:nvSpPr>
        <p:spPr>
          <a:xfrm>
            <a:off x="7950708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4" name="Shape 140"/>
          <p:cNvSpPr/>
          <p:nvPr/>
        </p:nvSpPr>
        <p:spPr>
          <a:xfrm>
            <a:off x="8074152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5" name="Shape 141"/>
          <p:cNvSpPr/>
          <p:nvPr/>
        </p:nvSpPr>
        <p:spPr>
          <a:xfrm>
            <a:off x="8197596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6" name="Text 142"/>
          <p:cNvSpPr/>
          <p:nvPr/>
        </p:nvSpPr>
        <p:spPr>
          <a:xfrm>
            <a:off x="7302398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</a:t>
            </a:r>
            <a:endParaRPr lang="en-US" sz="700" dirty="0"/>
          </a:p>
        </p:txBody>
      </p:sp>
      <p:sp>
        <p:nvSpPr>
          <p:cNvPr id="147" name="Shape 143"/>
          <p:cNvSpPr/>
          <p:nvPr/>
        </p:nvSpPr>
        <p:spPr>
          <a:xfrm>
            <a:off x="8745322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8800186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[접이로 단축]</a:t>
            </a:r>
            <a:endParaRPr lang="en-US" sz="800" dirty="0"/>
          </a:p>
        </p:txBody>
      </p:sp>
      <p:sp>
        <p:nvSpPr>
          <p:cNvPr id="149" name="Shape 145"/>
          <p:cNvSpPr/>
          <p:nvPr/>
        </p:nvSpPr>
        <p:spPr>
          <a:xfrm>
            <a:off x="9210751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0" name="Shape 146"/>
          <p:cNvSpPr/>
          <p:nvPr/>
        </p:nvSpPr>
        <p:spPr>
          <a:xfrm>
            <a:off x="9334195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1" name="Shape 147"/>
          <p:cNvSpPr/>
          <p:nvPr/>
        </p:nvSpPr>
        <p:spPr>
          <a:xfrm>
            <a:off x="9457639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2" name="Shape 148"/>
          <p:cNvSpPr/>
          <p:nvPr/>
        </p:nvSpPr>
        <p:spPr>
          <a:xfrm>
            <a:off x="9581083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3" name="Shape 149"/>
          <p:cNvSpPr/>
          <p:nvPr/>
        </p:nvSpPr>
        <p:spPr>
          <a:xfrm>
            <a:off x="9704527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54" name="Text 150"/>
          <p:cNvSpPr/>
          <p:nvPr/>
        </p:nvSpPr>
        <p:spPr>
          <a:xfrm>
            <a:off x="8809330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열린 묶음만</a:t>
            </a:r>
            <a:endParaRPr lang="en-US" sz="700" dirty="0"/>
          </a:p>
        </p:txBody>
      </p:sp>
      <p:sp>
        <p:nvSpPr>
          <p:cNvPr id="155" name="Shape 151"/>
          <p:cNvSpPr/>
          <p:nvPr/>
        </p:nvSpPr>
        <p:spPr>
          <a:xfrm>
            <a:off x="10252253" y="4663440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10307117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[막대 숨김]</a:t>
            </a:r>
            <a:endParaRPr lang="en-US" sz="800" dirty="0"/>
          </a:p>
        </p:txBody>
      </p:sp>
      <p:sp>
        <p:nvSpPr>
          <p:cNvPr id="157" name="Shape 153"/>
          <p:cNvSpPr/>
          <p:nvPr/>
        </p:nvSpPr>
        <p:spPr>
          <a:xfrm>
            <a:off x="10717682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8" name="Shape 154"/>
          <p:cNvSpPr/>
          <p:nvPr/>
        </p:nvSpPr>
        <p:spPr>
          <a:xfrm>
            <a:off x="10841126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9" name="Shape 155"/>
          <p:cNvSpPr/>
          <p:nvPr/>
        </p:nvSpPr>
        <p:spPr>
          <a:xfrm>
            <a:off x="10964570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0" name="Shape 156"/>
          <p:cNvSpPr/>
          <p:nvPr/>
        </p:nvSpPr>
        <p:spPr>
          <a:xfrm>
            <a:off x="11088014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1" name="Shape 157"/>
          <p:cNvSpPr/>
          <p:nvPr/>
        </p:nvSpPr>
        <p:spPr>
          <a:xfrm>
            <a:off x="11211458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2" name="Text 158"/>
          <p:cNvSpPr/>
          <p:nvPr/>
        </p:nvSpPr>
        <p:spPr>
          <a:xfrm>
            <a:off x="10316261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S8도 한 화면</a:t>
            </a:r>
            <a:endParaRPr lang="en-US" sz="700" dirty="0"/>
          </a:p>
        </p:txBody>
      </p:sp>
      <p:sp>
        <p:nvSpPr>
          <p:cNvPr id="163" name="Shape 159"/>
          <p:cNvSpPr/>
          <p:nvPr/>
        </p:nvSpPr>
        <p:spPr>
          <a:xfrm>
            <a:off x="10252253" y="5705856"/>
            <a:ext cx="1506931" cy="640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4" name="Shape 16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65" name="Shape 16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6" name="Text 16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현재 화면은 부문 · 묶음 · 지표 세 층이 접이로 구분되어, 지표 수가 가장 많은 지역사회 건강도 부문에서도 조작부 안에서 스크롤이 생기지 않는다.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남은 과제는 목록이 긴 시·도(경기 · 경북)의 찾기 기능으로, 항목 수가 더 늘어날 경우 우선 반영 대상이다.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04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화면 한 칸에 갇혀 있어 전국 229개를 한눈에 훑을 판이 나오지 않는다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354" y="1700784"/>
            <a:ext cx="2433036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06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354" y="1700784"/>
            <a:ext cx="2433036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331354" y="1700784"/>
            <a:ext cx="2433036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28676" y="1850014"/>
            <a:ext cx="2238393" cy="218870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28676" y="1657990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2428676" y="165799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좁은 판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· 통계 · 지도를 3분할로 나란히 두어 지도에 돌아오는 폭이 화면의 절반도 되지 않았다.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시·도를 좁히면 지도가 확대되는 대신 남는 자리가 여백으로만 늘어났다.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단계가 촘촘한 지역(수도권)에서는 시군구 경계가 붙어 보여 구분이 어려웠다.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화면 전체 배경으로 깔고, 조작부와 통계는 그 위에 떠 있는 덱으로 얹었다.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덱의 실제 폭만큼 지도의 시각 중심을 오른쪽으로 밀어 봐야 할 부분이 가운데로 오게 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확대·축소 단추를 지도 오른쪽 위에 세로로 쌓아 손이 가는 자리에 두었다.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825889" y="2743200"/>
            <a:ext cx="30751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/01-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889" y="2743200"/>
            <a:ext cx="3075134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7825889" y="2743200"/>
            <a:ext cx="307513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전체가 지도이므로 통계를 접으면 판이 그대로 넓어진다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덱이 지도의 왼쪽을 덮으므로 여백 계산이 어긋나면 가려진다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지도를 배경으로 돌린 뒤 통계 패널을 접으면 조작부만 남아, 전국 판을 가장 넓게 쓰는 상태와 근거를 모두 펼친 상태를 한 번의 조작으로 오간다.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05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방법을 바꾸면 색이 달라지지만 무엇이 얼마나 달라졌는지 확인할 근거가 없다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1354" y="1700784"/>
            <a:ext cx="2433036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23-map-pct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354" y="1700784"/>
            <a:ext cx="2433036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331354" y="1700784"/>
            <a:ext cx="2433036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28676" y="1850014"/>
            <a:ext cx="2238393" cy="218870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28676" y="1657990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2428676" y="165799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색만 바뀜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간격보존형에서 순위전용형으로 바꾸면 색 분포가 통째로 달라지는데, 그 변화가 큰 것인지 작은 것인지 판단할 기준이 없었다.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 한 방법만 그려지므로 두 방법을 대조하려면 번갈아 눌러 가며 기억에 의존해야 했다.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순위가 크게 움직인 시군구를 지도에서 골라낼 방법이 없었다.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방법을 2계열(간격보존형 · 순위전용형)로 묶어 성격이 다르다는 것을 먼저 보이게 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방식을 좌우로 나란히 놓고 같은 축척으로 동시에 그리는 화면을 붙였다.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폭이 큰 시군구만 남기는 보기 옵션을 지도 위에 두었다.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468958" y="2743200"/>
            <a:ext cx="1788997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/33-compare-ma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958" y="2743200"/>
            <a:ext cx="1788997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468958" y="2743200"/>
            <a:ext cx="1788997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원자료·같은 축척이므로 색 차이가 곧 방법 차이다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비교는 판이 절반으로 줄어 세부 확인은 어렵다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순위 이동 폭(Min-Max ↔ 백분위순위)은 공간구조 효율성 부문에서 평균 5.2계단 · 최대 26계단, 지역사회 건강도 부문에서 평균 9.2계단 · 최대 50계단으로 나타난다.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06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위에 얹힌 정보 상자가 사각형 그대로 놓여 배경과 층이 구분되지 않는다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56781" y="1700784"/>
            <a:ext cx="4182182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26-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781" y="1700784"/>
            <a:ext cx="4182182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456781" y="1700784"/>
            <a:ext cx="4182182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96941" y="1850014"/>
            <a:ext cx="1254654" cy="248717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6941" y="1657990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3296941" y="1657990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띠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220745" y="1899757"/>
            <a:ext cx="376396" cy="596920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94221" y="1707733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5094221" y="1707733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확대·축소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확대·축소 단추와 보기 옵션이 지도와 같은 평면에 놓여 눌러야 할 것인지 그려진 것인지 구분되지 않았다.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확인하는 띠가 지도 아래쪽에 붙어 있어 마우스를 옮기며 보기 어려웠다.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시군구가 색만 조금 진해져 어디를 골랐는지 놓치기 쉬웠다.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8" name="Shape 35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6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요소에 모두 그림자와 흰 바탕을 넣어 떠 있는 층으로 분리했다.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띠를 지도 위쪽 가운데로 올려 값이 시선 안에서 바뀌도록 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시군구는 굵은 테두리로 둘러 색과 무관하게 눈에 띄게 했다.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67728" y="3350295"/>
            <a:ext cx="4791456" cy="61461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1" descr="/home/claude/patch/shots/27-l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350295"/>
            <a:ext cx="4791456" cy="614611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6967728" y="3350295"/>
            <a:ext cx="4791456" cy="61461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바탕과 그림자로 지도보다 위에 있음이 드러난다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 있는 요소가 늘면 지도 자체가 가려지므로 개수를 제한한다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5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6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 위 요소는 실시간 띠 · 확대 축소 · 보기 옵션 세 가지로 제한하고, 나머지 정보는 모두 왼쪽 덱 안으로 넣어 판이 어지러워지지 않게 했다.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분석 결과 — Map 지도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 4 × 개선 차수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143296"/>
            <a:ext cx="3566160" cy="21208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143296"/>
            <a:ext cx="3566160" cy="2120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0624" y="1143296"/>
            <a:ext cx="3566160" cy="212081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71904" y="1302357"/>
            <a:ext cx="1968520" cy="1908735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71904" y="1110333"/>
            <a:ext cx="55778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9"/>
          <p:cNvSpPr/>
          <p:nvPr/>
        </p:nvSpPr>
        <p:spPr>
          <a:xfrm>
            <a:off x="1971904" y="1110333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지도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566160"/>
          <a:ext cx="3566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면적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229개를 한 화면에서 훑을 만큼 판이 넓은가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판독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단계가 값의 차이로 읽히고 방법 간 차이가 드러나는가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 접근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확대·축소와 보기 옵션이 손이 가는 자리에 있는가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구분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위에 얹힌 것이 떠 있는 층으로 읽히는가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224528" y="969264"/>
            <a:ext cx="753465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1"/>
          <p:cNvSpPr/>
          <p:nvPr/>
        </p:nvSpPr>
        <p:spPr>
          <a:xfrm>
            <a:off x="4352544" y="9692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차수별 평가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290304" y="9692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◉ 5점 만점 · 같은 항목을 차수마다 다시 매김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224528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8" name="Text 14"/>
          <p:cNvSpPr/>
          <p:nvPr/>
        </p:nvSpPr>
        <p:spPr>
          <a:xfrm>
            <a:off x="4224528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731459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5731459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(1차)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238390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2" name="Text 18"/>
          <p:cNvSpPr/>
          <p:nvPr/>
        </p:nvSpPr>
        <p:spPr>
          <a:xfrm>
            <a:off x="7238390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8745322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4" name="Text 20"/>
          <p:cNvSpPr/>
          <p:nvPr/>
        </p:nvSpPr>
        <p:spPr>
          <a:xfrm>
            <a:off x="8745322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0252253" y="1243584"/>
            <a:ext cx="1506931" cy="292608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26" name="Text 22"/>
          <p:cNvSpPr/>
          <p:nvPr/>
        </p:nvSpPr>
        <p:spPr>
          <a:xfrm>
            <a:off x="10252253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(8차)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224528" y="1536192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24528" y="1536192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면적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731459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86323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[3분할]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196889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Shape 28"/>
          <p:cNvSpPr/>
          <p:nvPr/>
        </p:nvSpPr>
        <p:spPr>
          <a:xfrm>
            <a:off x="6320333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3" name="Shape 29"/>
          <p:cNvSpPr/>
          <p:nvPr/>
        </p:nvSpPr>
        <p:spPr>
          <a:xfrm>
            <a:off x="6443777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4" name="Shape 30"/>
          <p:cNvSpPr/>
          <p:nvPr/>
        </p:nvSpPr>
        <p:spPr>
          <a:xfrm>
            <a:off x="6567221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5" name="Shape 31"/>
          <p:cNvSpPr/>
          <p:nvPr/>
        </p:nvSpPr>
        <p:spPr>
          <a:xfrm>
            <a:off x="6690665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6" name="Text 32"/>
          <p:cNvSpPr/>
          <p:nvPr/>
        </p:nvSpPr>
        <p:spPr>
          <a:xfrm>
            <a:off x="5795467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절반 이하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7238390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93254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[3분할]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7703820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0" name="Shape 36"/>
          <p:cNvSpPr/>
          <p:nvPr/>
        </p:nvSpPr>
        <p:spPr>
          <a:xfrm>
            <a:off x="7827264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1" name="Shape 37"/>
          <p:cNvSpPr/>
          <p:nvPr/>
        </p:nvSpPr>
        <p:spPr>
          <a:xfrm>
            <a:off x="7950708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2" name="Shape 38"/>
          <p:cNvSpPr/>
          <p:nvPr/>
        </p:nvSpPr>
        <p:spPr>
          <a:xfrm>
            <a:off x="8074152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3" name="Shape 39"/>
          <p:cNvSpPr/>
          <p:nvPr/>
        </p:nvSpPr>
        <p:spPr>
          <a:xfrm>
            <a:off x="8197596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4" name="Text 40"/>
          <p:cNvSpPr/>
          <p:nvPr/>
        </p:nvSpPr>
        <p:spPr>
          <a:xfrm>
            <a:off x="7302398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비율만 조정</a:t>
            </a:r>
            <a:endParaRPr lang="en-US" sz="700" dirty="0"/>
          </a:p>
        </p:txBody>
      </p:sp>
      <p:sp>
        <p:nvSpPr>
          <p:cNvPr id="45" name="Shape 41"/>
          <p:cNvSpPr/>
          <p:nvPr/>
        </p:nvSpPr>
        <p:spPr>
          <a:xfrm>
            <a:off x="8745322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800186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[배경 전환]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9210751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8" name="Shape 44"/>
          <p:cNvSpPr/>
          <p:nvPr/>
        </p:nvSpPr>
        <p:spPr>
          <a:xfrm>
            <a:off x="9334195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9" name="Shape 45"/>
          <p:cNvSpPr/>
          <p:nvPr/>
        </p:nvSpPr>
        <p:spPr>
          <a:xfrm>
            <a:off x="9457639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50" name="Shape 46"/>
          <p:cNvSpPr/>
          <p:nvPr/>
        </p:nvSpPr>
        <p:spPr>
          <a:xfrm>
            <a:off x="9581083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51" name="Shape 47"/>
          <p:cNvSpPr/>
          <p:nvPr/>
        </p:nvSpPr>
        <p:spPr>
          <a:xfrm>
            <a:off x="9704527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52" name="Text 48"/>
          <p:cNvSpPr/>
          <p:nvPr/>
        </p:nvSpPr>
        <p:spPr>
          <a:xfrm>
            <a:off x="8809330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지도로</a:t>
            </a:r>
            <a:endParaRPr lang="en-US" sz="700" dirty="0"/>
          </a:p>
        </p:txBody>
      </p:sp>
      <p:sp>
        <p:nvSpPr>
          <p:cNvPr id="53" name="Shape 49"/>
          <p:cNvSpPr/>
          <p:nvPr/>
        </p:nvSpPr>
        <p:spPr>
          <a:xfrm>
            <a:off x="10252253" y="1536192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0307117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[중심 보정]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10717682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6" name="Shape 52"/>
          <p:cNvSpPr/>
          <p:nvPr/>
        </p:nvSpPr>
        <p:spPr>
          <a:xfrm>
            <a:off x="10841126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7" name="Shape 53"/>
          <p:cNvSpPr/>
          <p:nvPr/>
        </p:nvSpPr>
        <p:spPr>
          <a:xfrm>
            <a:off x="10964570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8" name="Shape 54"/>
          <p:cNvSpPr/>
          <p:nvPr/>
        </p:nvSpPr>
        <p:spPr>
          <a:xfrm>
            <a:off x="11088014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9" name="Shape 55"/>
          <p:cNvSpPr/>
          <p:nvPr/>
        </p:nvSpPr>
        <p:spPr>
          <a:xfrm>
            <a:off x="11211458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0" name="Text 56"/>
          <p:cNvSpPr/>
          <p:nvPr/>
        </p:nvSpPr>
        <p:spPr>
          <a:xfrm>
            <a:off x="10316261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 폭만큼 밀어냄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224528" y="2578608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224528" y="2578608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판독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5731459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786323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[단일 방법]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196889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66" name="Shape 62"/>
          <p:cNvSpPr/>
          <p:nvPr/>
        </p:nvSpPr>
        <p:spPr>
          <a:xfrm>
            <a:off x="6320333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67" name="Shape 63"/>
          <p:cNvSpPr/>
          <p:nvPr/>
        </p:nvSpPr>
        <p:spPr>
          <a:xfrm>
            <a:off x="6443777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8" name="Shape 64"/>
          <p:cNvSpPr/>
          <p:nvPr/>
        </p:nvSpPr>
        <p:spPr>
          <a:xfrm>
            <a:off x="6567221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9" name="Shape 65"/>
          <p:cNvSpPr/>
          <p:nvPr/>
        </p:nvSpPr>
        <p:spPr>
          <a:xfrm>
            <a:off x="6690665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0" name="Text 66"/>
          <p:cNvSpPr/>
          <p:nvPr/>
        </p:nvSpPr>
        <p:spPr>
          <a:xfrm>
            <a:off x="5795467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하나</a:t>
            </a:r>
            <a:endParaRPr lang="en-US" sz="700" dirty="0"/>
          </a:p>
        </p:txBody>
      </p:sp>
      <p:sp>
        <p:nvSpPr>
          <p:cNvPr id="71" name="Shape 67"/>
          <p:cNvSpPr/>
          <p:nvPr/>
        </p:nvSpPr>
        <p:spPr>
          <a:xfrm>
            <a:off x="7238390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7293254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[단계 정리]</a:t>
            </a:r>
            <a:endParaRPr lang="en-US" sz="800" dirty="0"/>
          </a:p>
        </p:txBody>
      </p:sp>
      <p:sp>
        <p:nvSpPr>
          <p:cNvPr id="73" name="Shape 69"/>
          <p:cNvSpPr/>
          <p:nvPr/>
        </p:nvSpPr>
        <p:spPr>
          <a:xfrm>
            <a:off x="7703820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4" name="Shape 70"/>
          <p:cNvSpPr/>
          <p:nvPr/>
        </p:nvSpPr>
        <p:spPr>
          <a:xfrm>
            <a:off x="7827264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5" name="Shape 71"/>
          <p:cNvSpPr/>
          <p:nvPr/>
        </p:nvSpPr>
        <p:spPr>
          <a:xfrm>
            <a:off x="7950708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6" name="Shape 72"/>
          <p:cNvSpPr/>
          <p:nvPr/>
        </p:nvSpPr>
        <p:spPr>
          <a:xfrm>
            <a:off x="8074152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7" name="Shape 73"/>
          <p:cNvSpPr/>
          <p:nvPr/>
        </p:nvSpPr>
        <p:spPr>
          <a:xfrm>
            <a:off x="8197596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8" name="Text 74"/>
          <p:cNvSpPr/>
          <p:nvPr/>
        </p:nvSpPr>
        <p:spPr>
          <a:xfrm>
            <a:off x="7302398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구간 정돈</a:t>
            </a:r>
            <a:endParaRPr lang="en-US" sz="700" dirty="0"/>
          </a:p>
        </p:txBody>
      </p:sp>
      <p:sp>
        <p:nvSpPr>
          <p:cNvPr id="79" name="Shape 75"/>
          <p:cNvSpPr/>
          <p:nvPr/>
        </p:nvSpPr>
        <p:spPr>
          <a:xfrm>
            <a:off x="8745322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8800186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[계열 구분]</a:t>
            </a:r>
            <a:endParaRPr lang="en-US" sz="800" dirty="0"/>
          </a:p>
        </p:txBody>
      </p:sp>
      <p:sp>
        <p:nvSpPr>
          <p:cNvPr id="81" name="Shape 77"/>
          <p:cNvSpPr/>
          <p:nvPr/>
        </p:nvSpPr>
        <p:spPr>
          <a:xfrm>
            <a:off x="9210751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2" name="Shape 78"/>
          <p:cNvSpPr/>
          <p:nvPr/>
        </p:nvSpPr>
        <p:spPr>
          <a:xfrm>
            <a:off x="9334195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3" name="Shape 79"/>
          <p:cNvSpPr/>
          <p:nvPr/>
        </p:nvSpPr>
        <p:spPr>
          <a:xfrm>
            <a:off x="9457639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4" name="Shape 80"/>
          <p:cNvSpPr/>
          <p:nvPr/>
        </p:nvSpPr>
        <p:spPr>
          <a:xfrm>
            <a:off x="9581083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5" name="Shape 81"/>
          <p:cNvSpPr/>
          <p:nvPr/>
        </p:nvSpPr>
        <p:spPr>
          <a:xfrm>
            <a:off x="9704527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86" name="Text 82"/>
          <p:cNvSpPr/>
          <p:nvPr/>
        </p:nvSpPr>
        <p:spPr>
          <a:xfrm>
            <a:off x="8809330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2계열로 묶음</a:t>
            </a:r>
            <a:endParaRPr lang="en-US" sz="700" dirty="0"/>
          </a:p>
        </p:txBody>
      </p:sp>
      <p:sp>
        <p:nvSpPr>
          <p:cNvPr id="87" name="Shape 83"/>
          <p:cNvSpPr/>
          <p:nvPr/>
        </p:nvSpPr>
        <p:spPr>
          <a:xfrm>
            <a:off x="10252253" y="2578608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10307117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[좌우 비교]</a:t>
            </a:r>
            <a:endParaRPr lang="en-US" sz="800" dirty="0"/>
          </a:p>
        </p:txBody>
      </p:sp>
      <p:sp>
        <p:nvSpPr>
          <p:cNvPr id="89" name="Shape 85"/>
          <p:cNvSpPr/>
          <p:nvPr/>
        </p:nvSpPr>
        <p:spPr>
          <a:xfrm>
            <a:off x="10717682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0" name="Shape 86"/>
          <p:cNvSpPr/>
          <p:nvPr/>
        </p:nvSpPr>
        <p:spPr>
          <a:xfrm>
            <a:off x="10841126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1" name="Shape 87"/>
          <p:cNvSpPr/>
          <p:nvPr/>
        </p:nvSpPr>
        <p:spPr>
          <a:xfrm>
            <a:off x="10964570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2" name="Shape 88"/>
          <p:cNvSpPr/>
          <p:nvPr/>
        </p:nvSpPr>
        <p:spPr>
          <a:xfrm>
            <a:off x="11088014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3" name="Shape 89"/>
          <p:cNvSpPr/>
          <p:nvPr/>
        </p:nvSpPr>
        <p:spPr>
          <a:xfrm>
            <a:off x="11211458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4" name="Text 90"/>
          <p:cNvSpPr/>
          <p:nvPr/>
        </p:nvSpPr>
        <p:spPr>
          <a:xfrm>
            <a:off x="10316261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축척 대조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4224528" y="3621024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4224528" y="3621024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접근</a:t>
            </a:r>
            <a:endParaRPr lang="en-US" sz="850" dirty="0"/>
          </a:p>
        </p:txBody>
      </p:sp>
      <p:sp>
        <p:nvSpPr>
          <p:cNvPr id="97" name="Shape 93"/>
          <p:cNvSpPr/>
          <p:nvPr/>
        </p:nvSpPr>
        <p:spPr>
          <a:xfrm>
            <a:off x="5731459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5786323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[하단 고정]</a:t>
            </a:r>
            <a:endParaRPr lang="en-US" sz="800" dirty="0"/>
          </a:p>
        </p:txBody>
      </p:sp>
      <p:sp>
        <p:nvSpPr>
          <p:cNvPr id="99" name="Shape 95"/>
          <p:cNvSpPr/>
          <p:nvPr/>
        </p:nvSpPr>
        <p:spPr>
          <a:xfrm>
            <a:off x="6196889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0" name="Shape 96"/>
          <p:cNvSpPr/>
          <p:nvPr/>
        </p:nvSpPr>
        <p:spPr>
          <a:xfrm>
            <a:off x="6320333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1" name="Shape 97"/>
          <p:cNvSpPr/>
          <p:nvPr/>
        </p:nvSpPr>
        <p:spPr>
          <a:xfrm>
            <a:off x="6443777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2" name="Shape 98"/>
          <p:cNvSpPr/>
          <p:nvPr/>
        </p:nvSpPr>
        <p:spPr>
          <a:xfrm>
            <a:off x="6567221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3" name="Shape 99"/>
          <p:cNvSpPr/>
          <p:nvPr/>
        </p:nvSpPr>
        <p:spPr>
          <a:xfrm>
            <a:off x="6690665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4" name="Text 100"/>
          <p:cNvSpPr/>
          <p:nvPr/>
        </p:nvSpPr>
        <p:spPr>
          <a:xfrm>
            <a:off x="5795467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시선에서 멂</a:t>
            </a:r>
            <a:endParaRPr lang="en-US" sz="700" dirty="0"/>
          </a:p>
        </p:txBody>
      </p:sp>
      <p:sp>
        <p:nvSpPr>
          <p:cNvPr id="105" name="Shape 101"/>
          <p:cNvSpPr/>
          <p:nvPr/>
        </p:nvSpPr>
        <p:spPr>
          <a:xfrm>
            <a:off x="7238390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7293254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[우측 이동]</a:t>
            </a:r>
            <a:endParaRPr lang="en-US" sz="800" dirty="0"/>
          </a:p>
        </p:txBody>
      </p:sp>
      <p:sp>
        <p:nvSpPr>
          <p:cNvPr id="107" name="Shape 103"/>
          <p:cNvSpPr/>
          <p:nvPr/>
        </p:nvSpPr>
        <p:spPr>
          <a:xfrm>
            <a:off x="7703820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8" name="Shape 104"/>
          <p:cNvSpPr/>
          <p:nvPr/>
        </p:nvSpPr>
        <p:spPr>
          <a:xfrm>
            <a:off x="7827264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9" name="Shape 105"/>
          <p:cNvSpPr/>
          <p:nvPr/>
        </p:nvSpPr>
        <p:spPr>
          <a:xfrm>
            <a:off x="7950708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0" name="Shape 106"/>
          <p:cNvSpPr/>
          <p:nvPr/>
        </p:nvSpPr>
        <p:spPr>
          <a:xfrm>
            <a:off x="8074152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1" name="Shape 107"/>
          <p:cNvSpPr/>
          <p:nvPr/>
        </p:nvSpPr>
        <p:spPr>
          <a:xfrm>
            <a:off x="8197596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2" name="Text 108"/>
          <p:cNvSpPr/>
          <p:nvPr/>
        </p:nvSpPr>
        <p:spPr>
          <a:xfrm>
            <a:off x="7302398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자리만 옮김</a:t>
            </a:r>
            <a:endParaRPr lang="en-US" sz="700" dirty="0"/>
          </a:p>
        </p:txBody>
      </p:sp>
      <p:sp>
        <p:nvSpPr>
          <p:cNvPr id="113" name="Shape 109"/>
          <p:cNvSpPr/>
          <p:nvPr/>
        </p:nvSpPr>
        <p:spPr>
          <a:xfrm>
            <a:off x="8745322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8800186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[세로 스택]</a:t>
            </a:r>
            <a:endParaRPr lang="en-US" sz="800" dirty="0"/>
          </a:p>
        </p:txBody>
      </p:sp>
      <p:sp>
        <p:nvSpPr>
          <p:cNvPr id="115" name="Shape 111"/>
          <p:cNvSpPr/>
          <p:nvPr/>
        </p:nvSpPr>
        <p:spPr>
          <a:xfrm>
            <a:off x="9210751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6" name="Shape 112"/>
          <p:cNvSpPr/>
          <p:nvPr/>
        </p:nvSpPr>
        <p:spPr>
          <a:xfrm>
            <a:off x="9334195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7" name="Shape 113"/>
          <p:cNvSpPr/>
          <p:nvPr/>
        </p:nvSpPr>
        <p:spPr>
          <a:xfrm>
            <a:off x="9457639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8" name="Shape 114"/>
          <p:cNvSpPr/>
          <p:nvPr/>
        </p:nvSpPr>
        <p:spPr>
          <a:xfrm>
            <a:off x="9581083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9" name="Shape 115"/>
          <p:cNvSpPr/>
          <p:nvPr/>
        </p:nvSpPr>
        <p:spPr>
          <a:xfrm>
            <a:off x="9704527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20" name="Text 116"/>
          <p:cNvSpPr/>
          <p:nvPr/>
        </p:nvSpPr>
        <p:spPr>
          <a:xfrm>
            <a:off x="8809330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정렬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10252253" y="3621024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10307117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[옵션 통합]</a:t>
            </a:r>
            <a:endParaRPr lang="en-US" sz="800" dirty="0"/>
          </a:p>
        </p:txBody>
      </p:sp>
      <p:sp>
        <p:nvSpPr>
          <p:cNvPr id="123" name="Shape 119"/>
          <p:cNvSpPr/>
          <p:nvPr/>
        </p:nvSpPr>
        <p:spPr>
          <a:xfrm>
            <a:off x="10717682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4" name="Shape 120"/>
          <p:cNvSpPr/>
          <p:nvPr/>
        </p:nvSpPr>
        <p:spPr>
          <a:xfrm>
            <a:off x="10841126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5" name="Shape 121"/>
          <p:cNvSpPr/>
          <p:nvPr/>
        </p:nvSpPr>
        <p:spPr>
          <a:xfrm>
            <a:off x="10964570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6" name="Shape 122"/>
          <p:cNvSpPr/>
          <p:nvPr/>
        </p:nvSpPr>
        <p:spPr>
          <a:xfrm>
            <a:off x="11088014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7" name="Shape 123"/>
          <p:cNvSpPr/>
          <p:nvPr/>
        </p:nvSpPr>
        <p:spPr>
          <a:xfrm>
            <a:off x="11211458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8" name="Text 124"/>
          <p:cNvSpPr/>
          <p:nvPr/>
        </p:nvSpPr>
        <p:spPr>
          <a:xfrm>
            <a:off x="10316261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포함</a:t>
            </a:r>
            <a:endParaRPr lang="en-US" sz="700" dirty="0"/>
          </a:p>
        </p:txBody>
      </p:sp>
      <p:sp>
        <p:nvSpPr>
          <p:cNvPr id="129" name="Shape 125"/>
          <p:cNvSpPr/>
          <p:nvPr/>
        </p:nvSpPr>
        <p:spPr>
          <a:xfrm>
            <a:off x="4224528" y="4663440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4224528" y="4663440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구분</a:t>
            </a:r>
            <a:endParaRPr lang="en-US" sz="850" dirty="0"/>
          </a:p>
        </p:txBody>
      </p:sp>
      <p:sp>
        <p:nvSpPr>
          <p:cNvPr id="131" name="Shape 127"/>
          <p:cNvSpPr/>
          <p:nvPr/>
        </p:nvSpPr>
        <p:spPr>
          <a:xfrm>
            <a:off x="5731459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5786323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[평면]</a:t>
            </a:r>
            <a:endParaRPr lang="en-US" sz="800" dirty="0"/>
          </a:p>
        </p:txBody>
      </p:sp>
      <p:sp>
        <p:nvSpPr>
          <p:cNvPr id="133" name="Shape 129"/>
          <p:cNvSpPr/>
          <p:nvPr/>
        </p:nvSpPr>
        <p:spPr>
          <a:xfrm>
            <a:off x="6196889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34" name="Shape 130"/>
          <p:cNvSpPr/>
          <p:nvPr/>
        </p:nvSpPr>
        <p:spPr>
          <a:xfrm>
            <a:off x="6320333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5" name="Shape 131"/>
          <p:cNvSpPr/>
          <p:nvPr/>
        </p:nvSpPr>
        <p:spPr>
          <a:xfrm>
            <a:off x="6443777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6" name="Shape 132"/>
          <p:cNvSpPr/>
          <p:nvPr/>
        </p:nvSpPr>
        <p:spPr>
          <a:xfrm>
            <a:off x="6567221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7" name="Shape 133"/>
          <p:cNvSpPr/>
          <p:nvPr/>
        </p:nvSpPr>
        <p:spPr>
          <a:xfrm>
            <a:off x="6690665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8" name="Text 134"/>
          <p:cNvSpPr/>
          <p:nvPr/>
        </p:nvSpPr>
        <p:spPr>
          <a:xfrm>
            <a:off x="5795467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배경과 동일</a:t>
            </a:r>
            <a:endParaRPr lang="en-US" sz="700" dirty="0"/>
          </a:p>
        </p:txBody>
      </p:sp>
      <p:sp>
        <p:nvSpPr>
          <p:cNvPr id="139" name="Shape 135"/>
          <p:cNvSpPr/>
          <p:nvPr/>
        </p:nvSpPr>
        <p:spPr>
          <a:xfrm>
            <a:off x="7238390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293254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[테두리]</a:t>
            </a:r>
            <a:endParaRPr lang="en-US" sz="800" dirty="0"/>
          </a:p>
        </p:txBody>
      </p:sp>
      <p:sp>
        <p:nvSpPr>
          <p:cNvPr id="141" name="Shape 137"/>
          <p:cNvSpPr/>
          <p:nvPr/>
        </p:nvSpPr>
        <p:spPr>
          <a:xfrm>
            <a:off x="7703820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2" name="Shape 138"/>
          <p:cNvSpPr/>
          <p:nvPr/>
        </p:nvSpPr>
        <p:spPr>
          <a:xfrm>
            <a:off x="7827264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3" name="Shape 139"/>
          <p:cNvSpPr/>
          <p:nvPr/>
        </p:nvSpPr>
        <p:spPr>
          <a:xfrm>
            <a:off x="7950708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4" name="Shape 140"/>
          <p:cNvSpPr/>
          <p:nvPr/>
        </p:nvSpPr>
        <p:spPr>
          <a:xfrm>
            <a:off x="8074152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5" name="Shape 141"/>
          <p:cNvSpPr/>
          <p:nvPr/>
        </p:nvSpPr>
        <p:spPr>
          <a:xfrm>
            <a:off x="8197596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6" name="Text 142"/>
          <p:cNvSpPr/>
          <p:nvPr/>
        </p:nvSpPr>
        <p:spPr>
          <a:xfrm>
            <a:off x="7302398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선만 추가</a:t>
            </a:r>
            <a:endParaRPr lang="en-US" sz="700" dirty="0"/>
          </a:p>
        </p:txBody>
      </p:sp>
      <p:sp>
        <p:nvSpPr>
          <p:cNvPr id="147" name="Shape 143"/>
          <p:cNvSpPr/>
          <p:nvPr/>
        </p:nvSpPr>
        <p:spPr>
          <a:xfrm>
            <a:off x="8745322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8800186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[그림자]</a:t>
            </a:r>
            <a:endParaRPr lang="en-US" sz="800" dirty="0"/>
          </a:p>
        </p:txBody>
      </p:sp>
      <p:sp>
        <p:nvSpPr>
          <p:cNvPr id="149" name="Shape 145"/>
          <p:cNvSpPr/>
          <p:nvPr/>
        </p:nvSpPr>
        <p:spPr>
          <a:xfrm>
            <a:off x="9210751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0" name="Shape 146"/>
          <p:cNvSpPr/>
          <p:nvPr/>
        </p:nvSpPr>
        <p:spPr>
          <a:xfrm>
            <a:off x="9334195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1" name="Shape 147"/>
          <p:cNvSpPr/>
          <p:nvPr/>
        </p:nvSpPr>
        <p:spPr>
          <a:xfrm>
            <a:off x="9457639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2" name="Shape 148"/>
          <p:cNvSpPr/>
          <p:nvPr/>
        </p:nvSpPr>
        <p:spPr>
          <a:xfrm>
            <a:off x="9581083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3" name="Shape 149"/>
          <p:cNvSpPr/>
          <p:nvPr/>
        </p:nvSpPr>
        <p:spPr>
          <a:xfrm>
            <a:off x="9704527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54" name="Text 150"/>
          <p:cNvSpPr/>
          <p:nvPr/>
        </p:nvSpPr>
        <p:spPr>
          <a:xfrm>
            <a:off x="8809330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바탕 + 그림자</a:t>
            </a:r>
            <a:endParaRPr lang="en-US" sz="700" dirty="0"/>
          </a:p>
        </p:txBody>
      </p:sp>
      <p:sp>
        <p:nvSpPr>
          <p:cNvPr id="155" name="Shape 151"/>
          <p:cNvSpPr/>
          <p:nvPr/>
        </p:nvSpPr>
        <p:spPr>
          <a:xfrm>
            <a:off x="10252253" y="4663440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10307117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[층 확립]</a:t>
            </a:r>
            <a:endParaRPr lang="en-US" sz="800" dirty="0"/>
          </a:p>
        </p:txBody>
      </p:sp>
      <p:sp>
        <p:nvSpPr>
          <p:cNvPr id="157" name="Shape 153"/>
          <p:cNvSpPr/>
          <p:nvPr/>
        </p:nvSpPr>
        <p:spPr>
          <a:xfrm>
            <a:off x="10717682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8" name="Shape 154"/>
          <p:cNvSpPr/>
          <p:nvPr/>
        </p:nvSpPr>
        <p:spPr>
          <a:xfrm>
            <a:off x="10841126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9" name="Shape 155"/>
          <p:cNvSpPr/>
          <p:nvPr/>
        </p:nvSpPr>
        <p:spPr>
          <a:xfrm>
            <a:off x="10964570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0" name="Shape 156"/>
          <p:cNvSpPr/>
          <p:nvPr/>
        </p:nvSpPr>
        <p:spPr>
          <a:xfrm>
            <a:off x="11088014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1" name="Shape 157"/>
          <p:cNvSpPr/>
          <p:nvPr/>
        </p:nvSpPr>
        <p:spPr>
          <a:xfrm>
            <a:off x="11211458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2" name="Text 158"/>
          <p:cNvSpPr/>
          <p:nvPr/>
        </p:nvSpPr>
        <p:spPr>
          <a:xfrm>
            <a:off x="10316261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덱과 층을 나눔</a:t>
            </a:r>
            <a:endParaRPr lang="en-US" sz="700" dirty="0"/>
          </a:p>
        </p:txBody>
      </p:sp>
      <p:sp>
        <p:nvSpPr>
          <p:cNvPr id="163" name="Shape 159"/>
          <p:cNvSpPr/>
          <p:nvPr/>
        </p:nvSpPr>
        <p:spPr>
          <a:xfrm>
            <a:off x="10252253" y="5705856"/>
            <a:ext cx="1506931" cy="640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4" name="Shape 16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65" name="Shape 16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6" name="Text 16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지도를 배경으로 돌린 것이 이번 개선에서 가장 크게 작용했다. 판이 넓어지면서 색 단계의 차이가 시각적으로 살아나고, 좌우 비교 화면도 실용적인 크기로 들어왔다.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남은 과제는 좌우 비교 시 각 판이 절반으로 줄어드는 점으로, 세부 확인은 단일 방법 화면으로 돌아와야 한다.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07  ·  Container 통계 패널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접기 버튼이 패널에서 떠 있어 무엇을 접는 버튼인지 알기 어렵다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22803" y="1700784"/>
            <a:ext cx="105013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05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2803" y="1700784"/>
            <a:ext cx="1050138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022803" y="1700784"/>
            <a:ext cx="1050138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43806" y="1750527"/>
            <a:ext cx="1008132" cy="238768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43806" y="1558503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3043806" y="1558503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버튼이 패널 가운데 높이에 따로 떠 있어 어느 칸에 딸린 것인지 연결되지 않았다.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패널 안쪽에 넣으면 배경에 묻혀 눈에 띄지 않고, 밖에 두면 허공에 뜬 것처럼 보였다.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상태에서 다시 펴는 버튼의 자리가 바뀌어 같은 곳을 두 번 눌러도 열리지 않았다.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손잡이를 덱 밖으로 물려 나온 책갈피 형태로 바꿨다.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덱과 같은 바탕·테두리를 쓰고 맞닿는 왼쪽 변만 지워, 덱에서 그대로 뻗어 나온 것처럼 보이게 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접든 펴든 손잡이의 세로 위치를 고정해 같은 자리를 다시 누르면 되돌아온다.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825889" y="2743200"/>
            <a:ext cx="30751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/31-collap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889" y="2743200"/>
            <a:ext cx="3075134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7825889" y="2743200"/>
            <a:ext cx="307513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덱에서 뻗어 나온 책갈피라 무엇을 접는지 바로 읽힌다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물려 나온 폭만큼 지도를 덮으므로 25px 이내로 제한한다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손잡이는 덱과 테두리·바탕을 공유하고 맞닿는 변만 지워 한 몸으로 보이게 하는 방식으로 정리했다. 접힘 여부와 무관하게 세로 위치가 고정된다.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08  ·  Container 통계 패널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카드가 순서 없이 이어져 어디부터 읽어야 할지 알 수 없다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66532" y="1700784"/>
            <a:ext cx="96268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13-sect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6532" y="1700784"/>
            <a:ext cx="962680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066532" y="1700784"/>
            <a:ext cx="962680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095412" y="1750527"/>
            <a:ext cx="904920" cy="238768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95412" y="1558503"/>
            <a:ext cx="55778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3095412" y="1558503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이어진 카드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지역 이야기와 전국 이야기가 섞여 있어 지금 보는 수치가 누구의 것인지 헷갈렸다.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카드마다 제목만 있고 묶음이 없어 같은 성격의 카드가 흩어져 놓였다.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아래로 읽어야 할 이유가 화면에 없어 사람마다 다른 카드부터 봤다.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선택 지역 · B 표준화 방법 비교 · C 전국 분포 세 구역으로 나눴다.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구역마다 머리글과 한 줄 설명을 붙여 무엇에 대한 이야기인지 먼저 밝힌다.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위쪽에 흐름 막대를 두어 지역 → 부문 → 방법 → 지표 의 현재 위치를 되짚어 준다.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967728" y="3304132"/>
            <a:ext cx="4791456" cy="7069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/04-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304132"/>
            <a:ext cx="4791456" cy="706936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6967728" y="3304132"/>
            <a:ext cx="4791456" cy="70693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→ B → C 로 읽는 순서가 화면에 고정된다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구역이 늘면 세로가 길어져 스크롤이 생긴다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A 구역은 고른 시군구 하나, B 구역은 방법 간 차이, C 구역은 229개 전체를 다룬다. 범위가 좁은 것에서 넓은 것으로 가는 순서를 고정해 두었다.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화면 문제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09  ·  Container 통계 패널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간 순위 차이를 수치로만 보여 그 크기가 체감되지 않는다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문제가 드러난 화면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34366" y="1700784"/>
            <a:ext cx="2027013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/15-card-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4366" y="1700784"/>
            <a:ext cx="2027013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534366" y="1700784"/>
            <a:ext cx="2027013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95176" y="1750527"/>
            <a:ext cx="1905392" cy="238768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95176" y="1558503"/>
            <a:ext cx="55778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2595176" y="1558503"/>
            <a:ext cx="557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수치만 나열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점수와 순위를 숫자로 늘어놓기만 해서 몇 계단이 큰 것인지 감이 오지 않았다.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원자료가 어떤 계산을 거쳐 지수가 되는지 화면에 남지 않아 결과만 믿어야 했다.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전국에서 이 시군구가 얼마나 예외적인지 비교할 대상이 없었다.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400800" y="2743200"/>
            <a:ext cx="420624" cy="36576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내용 및 결과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과정 카드를 넣어 원자료 → 표준화 → CI → 순위 를 단계별로 펼쳤다.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간 순위 이동을 범프 차트로 그려 몇 계단이 어느 방향으로 움직였는지 선으로 보인다.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민감도 산점도에 이 시군구의 자리를 찍어 예외 여부를 바로 판단하게 했다.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613395" y="2743200"/>
            <a:ext cx="150012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/19-card-r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395" y="2743200"/>
            <a:ext cx="1500122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613395" y="2743200"/>
            <a:ext cx="1500122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선의 기울기로 이동 폭이 즉시 읽힌다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229개를 모두 그리면 선이 엉키므로 상위만 강조한다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순위 이동이 10계단을 넘는 시군구는 공간구조 효율성 부문 35곳(15.3%), 지역사회 건강도 부문 92곳(40.2%)이며, 색 등급까지 바뀌는 곳은 각각 45곳과 52곳이다.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분석 결과 — Container 통계 패널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 4 × 개선 차수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143296"/>
            <a:ext cx="3566160" cy="21208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143296"/>
            <a:ext cx="3566160" cy="21208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0624" y="1143296"/>
            <a:ext cx="3566160" cy="212081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33856" y="1302357"/>
            <a:ext cx="802386" cy="1908735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33856" y="1110333"/>
            <a:ext cx="117500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9"/>
          <p:cNvSpPr/>
          <p:nvPr/>
        </p:nvSpPr>
        <p:spPr>
          <a:xfrm>
            <a:off x="1133856" y="1110333"/>
            <a:ext cx="11750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통계 패널</a:t>
            </a:r>
            <a:endParaRPr lang="en-US" sz="7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566160"/>
          <a:ext cx="3566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읽기 순서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어디부터 어디로 읽어야 하는지 화면이 알려주는가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제시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값이 어떤 계산을 거쳐 나왔는지 확인되는가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접기 조작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패널을 접고 펴는 조작이 어느 칸에 딸린 것인지 읽히는가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밀도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화면에 담긴 카드 수가 읽기에 알맞은가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224528" y="969264"/>
            <a:ext cx="753465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1"/>
          <p:cNvSpPr/>
          <p:nvPr/>
        </p:nvSpPr>
        <p:spPr>
          <a:xfrm>
            <a:off x="4352544" y="969264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차수별 평가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290304" y="969264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◉ 5점 만점 · 같은 항목을 차수마다 다시 매김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224528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8" name="Text 14"/>
          <p:cNvSpPr/>
          <p:nvPr/>
        </p:nvSpPr>
        <p:spPr>
          <a:xfrm>
            <a:off x="4224528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731459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5731459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(1차)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238390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2" name="Text 18"/>
          <p:cNvSpPr/>
          <p:nvPr/>
        </p:nvSpPr>
        <p:spPr>
          <a:xfrm>
            <a:off x="7238390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4차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8745322" y="1243584"/>
            <a:ext cx="1506931" cy="29260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4" name="Text 20"/>
          <p:cNvSpPr/>
          <p:nvPr/>
        </p:nvSpPr>
        <p:spPr>
          <a:xfrm>
            <a:off x="8745322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6차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0252253" y="1243584"/>
            <a:ext cx="1506931" cy="292608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26" name="Text 22"/>
          <p:cNvSpPr/>
          <p:nvPr/>
        </p:nvSpPr>
        <p:spPr>
          <a:xfrm>
            <a:off x="10252253" y="1243584"/>
            <a:ext cx="15069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(8차)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224528" y="1536192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24528" y="1536192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순서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731459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86323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[무순서]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196889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Shape 28"/>
          <p:cNvSpPr/>
          <p:nvPr/>
        </p:nvSpPr>
        <p:spPr>
          <a:xfrm>
            <a:off x="6320333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3" name="Shape 29"/>
          <p:cNvSpPr/>
          <p:nvPr/>
        </p:nvSpPr>
        <p:spPr>
          <a:xfrm>
            <a:off x="6443777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4" name="Shape 30"/>
          <p:cNvSpPr/>
          <p:nvPr/>
        </p:nvSpPr>
        <p:spPr>
          <a:xfrm>
            <a:off x="6567221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5" name="Shape 31"/>
          <p:cNvSpPr/>
          <p:nvPr/>
        </p:nvSpPr>
        <p:spPr>
          <a:xfrm>
            <a:off x="6690665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36" name="Text 32"/>
          <p:cNvSpPr/>
          <p:nvPr/>
        </p:nvSpPr>
        <p:spPr>
          <a:xfrm>
            <a:off x="5795467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카드만 이어짐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>
            <a:off x="7238390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93254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[제목 부여]</a:t>
            </a: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7703820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0" name="Shape 36"/>
          <p:cNvSpPr/>
          <p:nvPr/>
        </p:nvSpPr>
        <p:spPr>
          <a:xfrm>
            <a:off x="7827264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1" name="Shape 37"/>
          <p:cNvSpPr/>
          <p:nvPr/>
        </p:nvSpPr>
        <p:spPr>
          <a:xfrm>
            <a:off x="7950708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2" name="Shape 38"/>
          <p:cNvSpPr/>
          <p:nvPr/>
        </p:nvSpPr>
        <p:spPr>
          <a:xfrm>
            <a:off x="8074152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3" name="Shape 39"/>
          <p:cNvSpPr/>
          <p:nvPr/>
        </p:nvSpPr>
        <p:spPr>
          <a:xfrm>
            <a:off x="8197596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44" name="Text 40"/>
          <p:cNvSpPr/>
          <p:nvPr/>
        </p:nvSpPr>
        <p:spPr>
          <a:xfrm>
            <a:off x="7302398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카드명 정리</a:t>
            </a:r>
            <a:endParaRPr lang="en-US" sz="700" dirty="0"/>
          </a:p>
        </p:txBody>
      </p:sp>
      <p:sp>
        <p:nvSpPr>
          <p:cNvPr id="45" name="Shape 41"/>
          <p:cNvSpPr/>
          <p:nvPr/>
        </p:nvSpPr>
        <p:spPr>
          <a:xfrm>
            <a:off x="8745322" y="1536192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800186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[구역 분할]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9210751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8" name="Shape 44"/>
          <p:cNvSpPr/>
          <p:nvPr/>
        </p:nvSpPr>
        <p:spPr>
          <a:xfrm>
            <a:off x="9334195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9" name="Shape 45"/>
          <p:cNvSpPr/>
          <p:nvPr/>
        </p:nvSpPr>
        <p:spPr>
          <a:xfrm>
            <a:off x="9457639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50" name="Shape 46"/>
          <p:cNvSpPr/>
          <p:nvPr/>
        </p:nvSpPr>
        <p:spPr>
          <a:xfrm>
            <a:off x="9581083" y="1819656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51" name="Shape 47"/>
          <p:cNvSpPr/>
          <p:nvPr/>
        </p:nvSpPr>
        <p:spPr>
          <a:xfrm>
            <a:off x="9704527" y="1819656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52" name="Text 48"/>
          <p:cNvSpPr/>
          <p:nvPr/>
        </p:nvSpPr>
        <p:spPr>
          <a:xfrm>
            <a:off x="8809330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B · C</a:t>
            </a:r>
            <a:endParaRPr lang="en-US" sz="700" dirty="0"/>
          </a:p>
        </p:txBody>
      </p:sp>
      <p:sp>
        <p:nvSpPr>
          <p:cNvPr id="53" name="Shape 49"/>
          <p:cNvSpPr/>
          <p:nvPr/>
        </p:nvSpPr>
        <p:spPr>
          <a:xfrm>
            <a:off x="10252253" y="1536192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10307117" y="1591056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[흐름 막대]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10717682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6" name="Shape 52"/>
          <p:cNvSpPr/>
          <p:nvPr/>
        </p:nvSpPr>
        <p:spPr>
          <a:xfrm>
            <a:off x="10841126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7" name="Shape 53"/>
          <p:cNvSpPr/>
          <p:nvPr/>
        </p:nvSpPr>
        <p:spPr>
          <a:xfrm>
            <a:off x="10964570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8" name="Shape 54"/>
          <p:cNvSpPr/>
          <p:nvPr/>
        </p:nvSpPr>
        <p:spPr>
          <a:xfrm>
            <a:off x="11088014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9" name="Shape 55"/>
          <p:cNvSpPr/>
          <p:nvPr/>
        </p:nvSpPr>
        <p:spPr>
          <a:xfrm>
            <a:off x="11211458" y="1819656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60" name="Text 56"/>
          <p:cNvSpPr/>
          <p:nvPr/>
        </p:nvSpPr>
        <p:spPr>
          <a:xfrm>
            <a:off x="10316261" y="1956816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위치 표시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224528" y="2578608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4224528" y="2578608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제시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5731459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5786323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[결과만]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6196889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66" name="Shape 62"/>
          <p:cNvSpPr/>
          <p:nvPr/>
        </p:nvSpPr>
        <p:spPr>
          <a:xfrm>
            <a:off x="6320333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7" name="Shape 63"/>
          <p:cNvSpPr/>
          <p:nvPr/>
        </p:nvSpPr>
        <p:spPr>
          <a:xfrm>
            <a:off x="6443777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8" name="Shape 64"/>
          <p:cNvSpPr/>
          <p:nvPr/>
        </p:nvSpPr>
        <p:spPr>
          <a:xfrm>
            <a:off x="6567221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69" name="Shape 65"/>
          <p:cNvSpPr/>
          <p:nvPr/>
        </p:nvSpPr>
        <p:spPr>
          <a:xfrm>
            <a:off x="6690665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0" name="Text 66"/>
          <p:cNvSpPr/>
          <p:nvPr/>
        </p:nvSpPr>
        <p:spPr>
          <a:xfrm>
            <a:off x="5795467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 나열</a:t>
            </a:r>
            <a:endParaRPr lang="en-US" sz="700" dirty="0"/>
          </a:p>
        </p:txBody>
      </p:sp>
      <p:sp>
        <p:nvSpPr>
          <p:cNvPr id="71" name="Shape 67"/>
          <p:cNvSpPr/>
          <p:nvPr/>
        </p:nvSpPr>
        <p:spPr>
          <a:xfrm>
            <a:off x="7238390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7293254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[분포 추가]</a:t>
            </a:r>
            <a:endParaRPr lang="en-US" sz="800" dirty="0"/>
          </a:p>
        </p:txBody>
      </p:sp>
      <p:sp>
        <p:nvSpPr>
          <p:cNvPr id="73" name="Shape 69"/>
          <p:cNvSpPr/>
          <p:nvPr/>
        </p:nvSpPr>
        <p:spPr>
          <a:xfrm>
            <a:off x="7703820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4" name="Shape 70"/>
          <p:cNvSpPr/>
          <p:nvPr/>
        </p:nvSpPr>
        <p:spPr>
          <a:xfrm>
            <a:off x="7827264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5" name="Shape 71"/>
          <p:cNvSpPr/>
          <p:nvPr/>
        </p:nvSpPr>
        <p:spPr>
          <a:xfrm>
            <a:off x="7950708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6" name="Shape 72"/>
          <p:cNvSpPr/>
          <p:nvPr/>
        </p:nvSpPr>
        <p:spPr>
          <a:xfrm>
            <a:off x="8074152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7" name="Shape 73"/>
          <p:cNvSpPr/>
          <p:nvPr/>
        </p:nvSpPr>
        <p:spPr>
          <a:xfrm>
            <a:off x="8197596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78" name="Text 74"/>
          <p:cNvSpPr/>
          <p:nvPr/>
        </p:nvSpPr>
        <p:spPr>
          <a:xfrm>
            <a:off x="7302398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분포</a:t>
            </a:r>
            <a:endParaRPr lang="en-US" sz="700" dirty="0"/>
          </a:p>
        </p:txBody>
      </p:sp>
      <p:sp>
        <p:nvSpPr>
          <p:cNvPr id="79" name="Shape 75"/>
          <p:cNvSpPr/>
          <p:nvPr/>
        </p:nvSpPr>
        <p:spPr>
          <a:xfrm>
            <a:off x="8745322" y="2578608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8800186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[계산 과정]</a:t>
            </a:r>
            <a:endParaRPr lang="en-US" sz="800" dirty="0"/>
          </a:p>
        </p:txBody>
      </p:sp>
      <p:sp>
        <p:nvSpPr>
          <p:cNvPr id="81" name="Shape 77"/>
          <p:cNvSpPr/>
          <p:nvPr/>
        </p:nvSpPr>
        <p:spPr>
          <a:xfrm>
            <a:off x="9210751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2" name="Shape 78"/>
          <p:cNvSpPr/>
          <p:nvPr/>
        </p:nvSpPr>
        <p:spPr>
          <a:xfrm>
            <a:off x="9334195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3" name="Shape 79"/>
          <p:cNvSpPr/>
          <p:nvPr/>
        </p:nvSpPr>
        <p:spPr>
          <a:xfrm>
            <a:off x="9457639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4" name="Shape 80"/>
          <p:cNvSpPr/>
          <p:nvPr/>
        </p:nvSpPr>
        <p:spPr>
          <a:xfrm>
            <a:off x="9581083" y="2862072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85" name="Shape 81"/>
          <p:cNvSpPr/>
          <p:nvPr/>
        </p:nvSpPr>
        <p:spPr>
          <a:xfrm>
            <a:off x="9704527" y="2862072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86" name="Text 82"/>
          <p:cNvSpPr/>
          <p:nvPr/>
        </p:nvSpPr>
        <p:spPr>
          <a:xfrm>
            <a:off x="8809330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펼침</a:t>
            </a:r>
            <a:endParaRPr lang="en-US" sz="700" dirty="0"/>
          </a:p>
        </p:txBody>
      </p:sp>
      <p:sp>
        <p:nvSpPr>
          <p:cNvPr id="87" name="Shape 83"/>
          <p:cNvSpPr/>
          <p:nvPr/>
        </p:nvSpPr>
        <p:spPr>
          <a:xfrm>
            <a:off x="10252253" y="2578608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10307117" y="2633472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[범프 · 산점도]</a:t>
            </a:r>
            <a:endParaRPr lang="en-US" sz="800" dirty="0"/>
          </a:p>
        </p:txBody>
      </p:sp>
      <p:sp>
        <p:nvSpPr>
          <p:cNvPr id="89" name="Shape 85"/>
          <p:cNvSpPr/>
          <p:nvPr/>
        </p:nvSpPr>
        <p:spPr>
          <a:xfrm>
            <a:off x="10717682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0" name="Shape 86"/>
          <p:cNvSpPr/>
          <p:nvPr/>
        </p:nvSpPr>
        <p:spPr>
          <a:xfrm>
            <a:off x="10841126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1" name="Shape 87"/>
          <p:cNvSpPr/>
          <p:nvPr/>
        </p:nvSpPr>
        <p:spPr>
          <a:xfrm>
            <a:off x="10964570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2" name="Shape 88"/>
          <p:cNvSpPr/>
          <p:nvPr/>
        </p:nvSpPr>
        <p:spPr>
          <a:xfrm>
            <a:off x="11088014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3" name="Shape 89"/>
          <p:cNvSpPr/>
          <p:nvPr/>
        </p:nvSpPr>
        <p:spPr>
          <a:xfrm>
            <a:off x="11211458" y="2862072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4" name="Text 90"/>
          <p:cNvSpPr/>
          <p:nvPr/>
        </p:nvSpPr>
        <p:spPr>
          <a:xfrm>
            <a:off x="10316261" y="2999232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폭 시각화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4224528" y="3621024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4224528" y="3621024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접기 조작</a:t>
            </a:r>
            <a:endParaRPr lang="en-US" sz="850" dirty="0"/>
          </a:p>
        </p:txBody>
      </p:sp>
      <p:sp>
        <p:nvSpPr>
          <p:cNvPr id="97" name="Shape 93"/>
          <p:cNvSpPr/>
          <p:nvPr/>
        </p:nvSpPr>
        <p:spPr>
          <a:xfrm>
            <a:off x="5731459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5786323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[떠 있음]</a:t>
            </a:r>
            <a:endParaRPr lang="en-US" sz="800" dirty="0"/>
          </a:p>
        </p:txBody>
      </p:sp>
      <p:sp>
        <p:nvSpPr>
          <p:cNvPr id="99" name="Shape 95"/>
          <p:cNvSpPr/>
          <p:nvPr/>
        </p:nvSpPr>
        <p:spPr>
          <a:xfrm>
            <a:off x="6196889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0" name="Shape 96"/>
          <p:cNvSpPr/>
          <p:nvPr/>
        </p:nvSpPr>
        <p:spPr>
          <a:xfrm>
            <a:off x="6320333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1" name="Shape 97"/>
          <p:cNvSpPr/>
          <p:nvPr/>
        </p:nvSpPr>
        <p:spPr>
          <a:xfrm>
            <a:off x="6443777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2" name="Shape 98"/>
          <p:cNvSpPr/>
          <p:nvPr/>
        </p:nvSpPr>
        <p:spPr>
          <a:xfrm>
            <a:off x="6567221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3" name="Shape 99"/>
          <p:cNvSpPr/>
          <p:nvPr/>
        </p:nvSpPr>
        <p:spPr>
          <a:xfrm>
            <a:off x="6690665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04" name="Text 100"/>
          <p:cNvSpPr/>
          <p:nvPr/>
        </p:nvSpPr>
        <p:spPr>
          <a:xfrm>
            <a:off x="5795467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안 됨</a:t>
            </a:r>
            <a:endParaRPr lang="en-US" sz="700" dirty="0"/>
          </a:p>
        </p:txBody>
      </p:sp>
      <p:sp>
        <p:nvSpPr>
          <p:cNvPr id="105" name="Shape 101"/>
          <p:cNvSpPr/>
          <p:nvPr/>
        </p:nvSpPr>
        <p:spPr>
          <a:xfrm>
            <a:off x="7238390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7293254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[패널 내부]</a:t>
            </a:r>
            <a:endParaRPr lang="en-US" sz="800" dirty="0"/>
          </a:p>
        </p:txBody>
      </p:sp>
      <p:sp>
        <p:nvSpPr>
          <p:cNvPr id="107" name="Shape 103"/>
          <p:cNvSpPr/>
          <p:nvPr/>
        </p:nvSpPr>
        <p:spPr>
          <a:xfrm>
            <a:off x="7703820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8" name="Shape 104"/>
          <p:cNvSpPr/>
          <p:nvPr/>
        </p:nvSpPr>
        <p:spPr>
          <a:xfrm>
            <a:off x="7827264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09" name="Shape 105"/>
          <p:cNvSpPr/>
          <p:nvPr/>
        </p:nvSpPr>
        <p:spPr>
          <a:xfrm>
            <a:off x="7950708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0" name="Shape 106"/>
          <p:cNvSpPr/>
          <p:nvPr/>
        </p:nvSpPr>
        <p:spPr>
          <a:xfrm>
            <a:off x="8074152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1" name="Shape 107"/>
          <p:cNvSpPr/>
          <p:nvPr/>
        </p:nvSpPr>
        <p:spPr>
          <a:xfrm>
            <a:off x="8197596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2" name="Text 108"/>
          <p:cNvSpPr/>
          <p:nvPr/>
        </p:nvSpPr>
        <p:spPr>
          <a:xfrm>
            <a:off x="7302398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묻혀서 안 보임</a:t>
            </a:r>
            <a:endParaRPr lang="en-US" sz="700" dirty="0"/>
          </a:p>
        </p:txBody>
      </p:sp>
      <p:sp>
        <p:nvSpPr>
          <p:cNvPr id="113" name="Shape 109"/>
          <p:cNvSpPr/>
          <p:nvPr/>
        </p:nvSpPr>
        <p:spPr>
          <a:xfrm>
            <a:off x="8745322" y="3621024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8800186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[상단 부착]</a:t>
            </a:r>
            <a:endParaRPr lang="en-US" sz="800" dirty="0"/>
          </a:p>
        </p:txBody>
      </p:sp>
      <p:sp>
        <p:nvSpPr>
          <p:cNvPr id="115" name="Shape 111"/>
          <p:cNvSpPr/>
          <p:nvPr/>
        </p:nvSpPr>
        <p:spPr>
          <a:xfrm>
            <a:off x="9210751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6" name="Shape 112"/>
          <p:cNvSpPr/>
          <p:nvPr/>
        </p:nvSpPr>
        <p:spPr>
          <a:xfrm>
            <a:off x="9334195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7" name="Shape 113"/>
          <p:cNvSpPr/>
          <p:nvPr/>
        </p:nvSpPr>
        <p:spPr>
          <a:xfrm>
            <a:off x="9457639" y="3904488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8" name="Shape 114"/>
          <p:cNvSpPr/>
          <p:nvPr/>
        </p:nvSpPr>
        <p:spPr>
          <a:xfrm>
            <a:off x="9581083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19" name="Shape 115"/>
          <p:cNvSpPr/>
          <p:nvPr/>
        </p:nvSpPr>
        <p:spPr>
          <a:xfrm>
            <a:off x="9704527" y="3904488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20" name="Text 116"/>
          <p:cNvSpPr/>
          <p:nvPr/>
        </p:nvSpPr>
        <p:spPr>
          <a:xfrm>
            <a:off x="8809330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자리만 이동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10252253" y="3621024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10307117" y="3675888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[책갈피]</a:t>
            </a:r>
            <a:endParaRPr lang="en-US" sz="800" dirty="0"/>
          </a:p>
        </p:txBody>
      </p:sp>
      <p:sp>
        <p:nvSpPr>
          <p:cNvPr id="123" name="Shape 119"/>
          <p:cNvSpPr/>
          <p:nvPr/>
        </p:nvSpPr>
        <p:spPr>
          <a:xfrm>
            <a:off x="10717682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4" name="Shape 120"/>
          <p:cNvSpPr/>
          <p:nvPr/>
        </p:nvSpPr>
        <p:spPr>
          <a:xfrm>
            <a:off x="10841126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5" name="Shape 121"/>
          <p:cNvSpPr/>
          <p:nvPr/>
        </p:nvSpPr>
        <p:spPr>
          <a:xfrm>
            <a:off x="10964570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6" name="Shape 122"/>
          <p:cNvSpPr/>
          <p:nvPr/>
        </p:nvSpPr>
        <p:spPr>
          <a:xfrm>
            <a:off x="11088014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7" name="Shape 123"/>
          <p:cNvSpPr/>
          <p:nvPr/>
        </p:nvSpPr>
        <p:spPr>
          <a:xfrm>
            <a:off x="11211458" y="3904488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28" name="Text 124"/>
          <p:cNvSpPr/>
          <p:nvPr/>
        </p:nvSpPr>
        <p:spPr>
          <a:xfrm>
            <a:off x="10316261" y="4041648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덱에서 뻗어 나옴</a:t>
            </a:r>
            <a:endParaRPr lang="en-US" sz="700" dirty="0"/>
          </a:p>
        </p:txBody>
      </p:sp>
      <p:sp>
        <p:nvSpPr>
          <p:cNvPr id="129" name="Shape 125"/>
          <p:cNvSpPr/>
          <p:nvPr/>
        </p:nvSpPr>
        <p:spPr>
          <a:xfrm>
            <a:off x="4224528" y="4663440"/>
            <a:ext cx="1506931" cy="1042416"/>
          </a:xfrm>
          <a:prstGeom prst="rect">
            <a:avLst/>
          </a:prstGeom>
          <a:solidFill>
            <a:srgbClr val="F3F5F7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4224528" y="4663440"/>
            <a:ext cx="1506931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밀도</a:t>
            </a:r>
            <a:endParaRPr lang="en-US" sz="850" dirty="0"/>
          </a:p>
        </p:txBody>
      </p:sp>
      <p:sp>
        <p:nvSpPr>
          <p:cNvPr id="131" name="Shape 127"/>
          <p:cNvSpPr/>
          <p:nvPr/>
        </p:nvSpPr>
        <p:spPr>
          <a:xfrm>
            <a:off x="5731459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5786323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[과밀]</a:t>
            </a:r>
            <a:endParaRPr lang="en-US" sz="800" dirty="0"/>
          </a:p>
        </p:txBody>
      </p:sp>
      <p:sp>
        <p:nvSpPr>
          <p:cNvPr id="133" name="Shape 129"/>
          <p:cNvSpPr/>
          <p:nvPr/>
        </p:nvSpPr>
        <p:spPr>
          <a:xfrm>
            <a:off x="6196889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34" name="Shape 130"/>
          <p:cNvSpPr/>
          <p:nvPr/>
        </p:nvSpPr>
        <p:spPr>
          <a:xfrm>
            <a:off x="6320333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35" name="Shape 131"/>
          <p:cNvSpPr/>
          <p:nvPr/>
        </p:nvSpPr>
        <p:spPr>
          <a:xfrm>
            <a:off x="6443777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6" name="Shape 132"/>
          <p:cNvSpPr/>
          <p:nvPr/>
        </p:nvSpPr>
        <p:spPr>
          <a:xfrm>
            <a:off x="6567221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7" name="Shape 133"/>
          <p:cNvSpPr/>
          <p:nvPr/>
        </p:nvSpPr>
        <p:spPr>
          <a:xfrm>
            <a:off x="6690665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38" name="Text 134"/>
          <p:cNvSpPr/>
          <p:nvPr/>
        </p:nvSpPr>
        <p:spPr>
          <a:xfrm>
            <a:off x="5795467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이어짐</a:t>
            </a:r>
            <a:endParaRPr lang="en-US" sz="700" dirty="0"/>
          </a:p>
        </p:txBody>
      </p:sp>
      <p:sp>
        <p:nvSpPr>
          <p:cNvPr id="139" name="Shape 135"/>
          <p:cNvSpPr/>
          <p:nvPr/>
        </p:nvSpPr>
        <p:spPr>
          <a:xfrm>
            <a:off x="7238390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7293254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[정리]</a:t>
            </a:r>
            <a:endParaRPr lang="en-US" sz="800" dirty="0"/>
          </a:p>
        </p:txBody>
      </p:sp>
      <p:sp>
        <p:nvSpPr>
          <p:cNvPr id="141" name="Shape 137"/>
          <p:cNvSpPr/>
          <p:nvPr/>
        </p:nvSpPr>
        <p:spPr>
          <a:xfrm>
            <a:off x="7703820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2" name="Shape 138"/>
          <p:cNvSpPr/>
          <p:nvPr/>
        </p:nvSpPr>
        <p:spPr>
          <a:xfrm>
            <a:off x="7827264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3" name="Shape 139"/>
          <p:cNvSpPr/>
          <p:nvPr/>
        </p:nvSpPr>
        <p:spPr>
          <a:xfrm>
            <a:off x="7950708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4" name="Shape 140"/>
          <p:cNvSpPr/>
          <p:nvPr/>
        </p:nvSpPr>
        <p:spPr>
          <a:xfrm>
            <a:off x="8074152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5" name="Shape 141"/>
          <p:cNvSpPr/>
          <p:nvPr/>
        </p:nvSpPr>
        <p:spPr>
          <a:xfrm>
            <a:off x="8197596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46" name="Text 142"/>
          <p:cNvSpPr/>
          <p:nvPr/>
        </p:nvSpPr>
        <p:spPr>
          <a:xfrm>
            <a:off x="7302398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간격 확보</a:t>
            </a:r>
            <a:endParaRPr lang="en-US" sz="700" dirty="0"/>
          </a:p>
        </p:txBody>
      </p:sp>
      <p:sp>
        <p:nvSpPr>
          <p:cNvPr id="147" name="Shape 143"/>
          <p:cNvSpPr/>
          <p:nvPr/>
        </p:nvSpPr>
        <p:spPr>
          <a:xfrm>
            <a:off x="8745322" y="4663440"/>
            <a:ext cx="1506931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8800186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[구역화]</a:t>
            </a:r>
            <a:endParaRPr lang="en-US" sz="800" dirty="0"/>
          </a:p>
        </p:txBody>
      </p:sp>
      <p:sp>
        <p:nvSpPr>
          <p:cNvPr id="149" name="Shape 145"/>
          <p:cNvSpPr/>
          <p:nvPr/>
        </p:nvSpPr>
        <p:spPr>
          <a:xfrm>
            <a:off x="9210751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0" name="Shape 146"/>
          <p:cNvSpPr/>
          <p:nvPr/>
        </p:nvSpPr>
        <p:spPr>
          <a:xfrm>
            <a:off x="9334195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1" name="Shape 147"/>
          <p:cNvSpPr/>
          <p:nvPr/>
        </p:nvSpPr>
        <p:spPr>
          <a:xfrm>
            <a:off x="9457639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2" name="Shape 148"/>
          <p:cNvSpPr/>
          <p:nvPr/>
        </p:nvSpPr>
        <p:spPr>
          <a:xfrm>
            <a:off x="9581083" y="4946904"/>
            <a:ext cx="89611" cy="89611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53" name="Shape 149"/>
          <p:cNvSpPr/>
          <p:nvPr/>
        </p:nvSpPr>
        <p:spPr>
          <a:xfrm>
            <a:off x="9704527" y="4946904"/>
            <a:ext cx="89611" cy="89611"/>
          </a:xfrm>
          <a:prstGeom prst="ellipse">
            <a:avLst/>
          </a:prstGeom>
          <a:solidFill>
            <a:srgbClr val="C4CAD1"/>
          </a:solidFill>
          <a:ln/>
        </p:spPr>
      </p:sp>
      <p:sp>
        <p:nvSpPr>
          <p:cNvPr id="154" name="Text 150"/>
          <p:cNvSpPr/>
          <p:nvPr/>
        </p:nvSpPr>
        <p:spPr>
          <a:xfrm>
            <a:off x="8809330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묶음</a:t>
            </a:r>
            <a:endParaRPr lang="en-US" sz="700" dirty="0"/>
          </a:p>
        </p:txBody>
      </p:sp>
      <p:sp>
        <p:nvSpPr>
          <p:cNvPr id="155" name="Shape 151"/>
          <p:cNvSpPr/>
          <p:nvPr/>
        </p:nvSpPr>
        <p:spPr>
          <a:xfrm>
            <a:off x="10252253" y="4663440"/>
            <a:ext cx="1506931" cy="1042416"/>
          </a:xfrm>
          <a:prstGeom prst="rect">
            <a:avLst/>
          </a:prstGeom>
          <a:solidFill>
            <a:srgbClr val="E8F1F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10307117" y="4718304"/>
            <a:ext cx="1397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[7카드]</a:t>
            </a:r>
            <a:endParaRPr lang="en-US" sz="800" dirty="0"/>
          </a:p>
        </p:txBody>
      </p:sp>
      <p:sp>
        <p:nvSpPr>
          <p:cNvPr id="157" name="Shape 153"/>
          <p:cNvSpPr/>
          <p:nvPr/>
        </p:nvSpPr>
        <p:spPr>
          <a:xfrm>
            <a:off x="10717682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8" name="Shape 154"/>
          <p:cNvSpPr/>
          <p:nvPr/>
        </p:nvSpPr>
        <p:spPr>
          <a:xfrm>
            <a:off x="10841126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59" name="Shape 155"/>
          <p:cNvSpPr/>
          <p:nvPr/>
        </p:nvSpPr>
        <p:spPr>
          <a:xfrm>
            <a:off x="10964570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0" name="Shape 156"/>
          <p:cNvSpPr/>
          <p:nvPr/>
        </p:nvSpPr>
        <p:spPr>
          <a:xfrm>
            <a:off x="11088014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1" name="Shape 157"/>
          <p:cNvSpPr/>
          <p:nvPr/>
        </p:nvSpPr>
        <p:spPr>
          <a:xfrm>
            <a:off x="11211458" y="4946904"/>
            <a:ext cx="89611" cy="89611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62" name="Text 158"/>
          <p:cNvSpPr/>
          <p:nvPr/>
        </p:nvSpPr>
        <p:spPr>
          <a:xfrm>
            <a:off x="10316261" y="5084064"/>
            <a:ext cx="13789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구역당 2~3장</a:t>
            </a:r>
            <a:endParaRPr lang="en-US" sz="700" dirty="0"/>
          </a:p>
        </p:txBody>
      </p:sp>
      <p:sp>
        <p:nvSpPr>
          <p:cNvPr id="163" name="Shape 159"/>
          <p:cNvSpPr/>
          <p:nvPr/>
        </p:nvSpPr>
        <p:spPr>
          <a:xfrm>
            <a:off x="10252253" y="5705856"/>
            <a:ext cx="1506931" cy="640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4" name="Shape 16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65" name="Shape 16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6" name="Text 16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통계 패널의 핵심은 값을 많이 보여주는 것이 아니라 그 값을 믿을 근거를 같은 화면에 두는 것이다. 계산 과정 · 방법별 분포 · 순위 이동 · 민감도 산점도 네 카드가 그 역할을 맡는다.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구역당 카드는 두세 장으로 제한해, 세로 스크롤은 생기되 한 구역이 화면 밖으로 완전히 밀려나지 않도록 했다.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분석 결과 (종합)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핵심 문제 · 개선 방향 · 핵심 키워드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  조작부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01 · 02 · 03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" y="1243584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2435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문제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" y="1463040"/>
            <a:ext cx="3694176" cy="822960"/>
          </a:xfrm>
          <a:prstGeom prst="rect">
            <a:avLst/>
          </a:prstGeom>
          <a:solidFill>
            <a:srgbClr val="FDECEA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항목의 갈래가 드러나지 않고, 옆 칸과 떨어져 있어 조작과 결과가 이어지지 않는다.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2359152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" y="235915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0624" y="2578608"/>
            <a:ext cx="369417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30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5786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→ 묶음 → 지표 를 두 겹 접이로 나누고, 통계 패널과 테두리를 공유하는 한 덩어리로 묶는다.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0624" y="3474720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47472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20624" y="3749040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7490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겹 접이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67712" y="3749040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67712" y="37490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덩어리 덱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0624" y="4096512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409651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유지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67712" y="4096512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409651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연동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0624" y="4443984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4439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스크롤 제거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67712" y="4443984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67712" y="44439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반영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24528" y="932688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31"/>
          <p:cNvSpPr/>
          <p:nvPr/>
        </p:nvSpPr>
        <p:spPr>
          <a:xfrm>
            <a:off x="4352544" y="93268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 지도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982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04 · 05 · 06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24528" y="1243584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6" name="Text 34"/>
          <p:cNvSpPr/>
          <p:nvPr/>
        </p:nvSpPr>
        <p:spPr>
          <a:xfrm>
            <a:off x="4315968" y="12435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문제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24528" y="1463040"/>
            <a:ext cx="3694176" cy="822960"/>
          </a:xfrm>
          <a:prstGeom prst="rect">
            <a:avLst/>
          </a:prstGeom>
          <a:solidFill>
            <a:srgbClr val="FDECEA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4256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판이 좁아 전국을 훑기 어렵고, 방법을 바꿔도 변화의 크기를 판단할 근거가 없다.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224528" y="2359152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40" name="Text 38"/>
          <p:cNvSpPr/>
          <p:nvPr/>
        </p:nvSpPr>
        <p:spPr>
          <a:xfrm>
            <a:off x="4315968" y="235915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24528" y="2578608"/>
            <a:ext cx="369417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30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34256" y="25786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화면 전체 배경으로 돌리고, 두 방식을 같은 축척으로 좌우에 나란히 놓는다.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24528" y="3474720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44" name="Text 42"/>
          <p:cNvSpPr/>
          <p:nvPr/>
        </p:nvSpPr>
        <p:spPr>
          <a:xfrm>
            <a:off x="4315968" y="347472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224528" y="3749040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24528" y="37490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배경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71616" y="3749040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71616" y="37490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보정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224528" y="4096512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24528" y="409651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2계열 구분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71616" y="4096512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09651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비교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224528" y="4443984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24528" y="44439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71616" y="4443984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71616" y="44439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 있는 층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28432" y="932688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8" name="Text 56"/>
          <p:cNvSpPr/>
          <p:nvPr/>
        </p:nvSpPr>
        <p:spPr>
          <a:xfrm>
            <a:off x="8156448" y="93268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 통계 패널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253728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07 · 08 · 09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028432" y="1243584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61" name="Text 59"/>
          <p:cNvSpPr/>
          <p:nvPr/>
        </p:nvSpPr>
        <p:spPr>
          <a:xfrm>
            <a:off x="8119872" y="124358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문제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028432" y="1463040"/>
            <a:ext cx="3694176" cy="822960"/>
          </a:xfrm>
          <a:prstGeom prst="rect">
            <a:avLst/>
          </a:prstGeom>
          <a:solidFill>
            <a:srgbClr val="FDECEA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3816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카드가 순서 없이 이어지고 결과 값만 보여 계산의 중간 단계가 화면에 남지 않는다.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028432" y="2359152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65" name="Text 63"/>
          <p:cNvSpPr/>
          <p:nvPr/>
        </p:nvSpPr>
        <p:spPr>
          <a:xfrm>
            <a:off x="8119872" y="2359152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028432" y="2578608"/>
            <a:ext cx="3694176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302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38160" y="2578608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B · C 구역으로 읽는 순서를 고정하고, 계산 과정과 순위 이동을 그림으로 펼친다.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028432" y="3474720"/>
            <a:ext cx="3694176" cy="21945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69" name="Text 67"/>
          <p:cNvSpPr/>
          <p:nvPr/>
        </p:nvSpPr>
        <p:spPr>
          <a:xfrm>
            <a:off x="8119872" y="347472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8028432" y="3749040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28432" y="37490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B · C 구역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875520" y="3749040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75520" y="37490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028432" y="4096512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28432" y="409651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과정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875520" y="4096512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75520" y="4096512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범프 차트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028432" y="4443984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28432" y="44439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 산점도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875520" y="4443984"/>
            <a:ext cx="1773936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75520" y="44439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책갈피 손잡이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894680" y="4901184"/>
            <a:ext cx="402336" cy="310896"/>
          </a:xfrm>
          <a:prstGeom prst="downArrow">
            <a:avLst/>
          </a:prstGeom>
          <a:solidFill>
            <a:srgbClr val="111418"/>
          </a:solidFill>
          <a:ln/>
        </p:spPr>
      </p:sp>
      <p:sp>
        <p:nvSpPr>
          <p:cNvPr id="83" name="Shape 81"/>
          <p:cNvSpPr/>
          <p:nvPr/>
        </p:nvSpPr>
        <p:spPr>
          <a:xfrm>
            <a:off x="420624" y="5285232"/>
            <a:ext cx="11338560" cy="4572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4" name="Text 82"/>
          <p:cNvSpPr/>
          <p:nvPr/>
        </p:nvSpPr>
        <p:spPr>
          <a:xfrm>
            <a:off x="420624" y="5285232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영역의 문제는 모두 “화면이 결과만 보여주고 근거를 감춘다”는 하나로 모인다  ·  개선의 축은 근거를 화면 안으로 끌어올리는 데 둔다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86" name="Shape 84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7" name="Text 85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따라서 다음 단계의 목표는 “표준화 방법을 바꿨을 때 무엇이 얼마나 달라지는지를, 화면을 떠나지 않고 확인할 수 있게 한다” 로 정한다.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SSI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O3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테마 및 개선 방향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문제 09건을 두 갈래 테마로 묶고, 고쳐야 할 항목을 다섯 유형으로 나눠 화면에 반영한다.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테마 02건 및 핵심 키워드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개선 방향성 정리 (유형 A ~ E)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유형별 개선 반영 화면 및 기능 설명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반영 결과 확인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테마 설정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200400" cy="2121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042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3504" y="206654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중심 단일 화면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" y="3127248"/>
            <a:ext cx="3200400" cy="13716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18688"/>
            <a:ext cx="29443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여러 칸으로 나누지 않고 지도 하나를 배경으로 깐 뒤, 조작과 통계를 그 위에 떠 있는 덱으로 얹는다. 화면을 옮겨 다니지 않아도 고르기·읽기·비교하기가 한자리에서 끝난다.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4590288"/>
            <a:ext cx="320040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902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" y="4937760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4937760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#전체배경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4937760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4937760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#떠있는덱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526694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526694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#즉시반응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57400" y="526694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526694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#넓은판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77056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4" name="Text 22"/>
          <p:cNvSpPr/>
          <p:nvPr/>
        </p:nvSpPr>
        <p:spPr>
          <a:xfrm>
            <a:off x="4005072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화면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77056" y="1268649"/>
            <a:ext cx="2560320" cy="15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6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7056" y="1268649"/>
            <a:ext cx="2560320" cy="1522637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3877056" y="1268649"/>
            <a:ext cx="2560320" cy="1522637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77056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화면 전체를 덮고 왼쪽에 조작부와 통계 패널이 한 덩어리로 떠 있다. 덱의 폭만큼 지도의 시각 중심을 오른쪽으로 밀어 두어, 봐야 할 지역이 덱에 가려지지 않는다.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537960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0" name="Text 27"/>
          <p:cNvSpPr/>
          <p:nvPr/>
        </p:nvSpPr>
        <p:spPr>
          <a:xfrm>
            <a:off x="6665976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접은 화면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537960" y="1268649"/>
            <a:ext cx="2560320" cy="15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2" name="Image 1" descr="/home/claude/patch/shots/31-collap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68649"/>
            <a:ext cx="2560320" cy="1522637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6537960" y="1268649"/>
            <a:ext cx="2560320" cy="1522637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37960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손잡이를 눌러 통계 패널을 접으면 조작부만 남고 판이 그대로 넓어진다. 전국 분포를 크게 훑을 때와 근거를 펼쳐 읽을 때를 한 번의 조작으로 오간다.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9198864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2"/>
          <p:cNvSpPr/>
          <p:nvPr/>
        </p:nvSpPr>
        <p:spPr>
          <a:xfrm>
            <a:off x="9326880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시·도로 좁힌 화면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9198864" y="1268649"/>
            <a:ext cx="2560320" cy="15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2" descr="/home/claude/patch/shots/11-sido-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1268649"/>
            <a:ext cx="2560320" cy="1522637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9198864" y="1268649"/>
            <a:ext cx="2560320" cy="1522637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9198864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시·도를 고르면 지도가 그 범위로 확대되고 통계·데이터표의 대상도 함께 좁혀진다. 어느 칸을 보고 있든 지금 보고 있는 범위가 서로 어긋나지 않는다.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20624" y="5742432"/>
            <a:ext cx="11338560" cy="86868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2" name="Shape 37"/>
          <p:cNvSpPr/>
          <p:nvPr/>
        </p:nvSpPr>
        <p:spPr>
          <a:xfrm>
            <a:off x="420624" y="5742432"/>
            <a:ext cx="41148" cy="8686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3" name="Text 38"/>
          <p:cNvSpPr/>
          <p:nvPr/>
        </p:nvSpPr>
        <p:spPr>
          <a:xfrm>
            <a:off x="603504" y="5797296"/>
            <a:ext cx="11018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화면 전환이 없으므로 조작을 되돌릴 때도 앞 화면으로 돌아갈 필요가 없다. 모든 상태는 같은 화면 위에서 바뀌고, 그대로 URL 해시에 남는다.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테마 설정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200400" cy="2121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042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3504" y="206654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함께 보여주는 분석 화면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" y="3127248"/>
            <a:ext cx="3200400" cy="13716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18688"/>
            <a:ext cx="29443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하나만 크게 보여주는 대신, 그 값이 어떤 계산을 거쳐 나왔고 방법을 바꾸면 어디까지 움직이는지를 같은 화면에 나란히 놓는다. 통계 패널은 A → B → C 세 구역으로 위에서 아래로 읽힌다.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4590288"/>
            <a:ext cx="320040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902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" y="4937760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4937760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#계산과정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4937760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4937760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#방법비교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526694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526694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#순위이동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57400" y="526694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526694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#검증가능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877056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4" name="Text 22"/>
          <p:cNvSpPr/>
          <p:nvPr/>
        </p:nvSpPr>
        <p:spPr>
          <a:xfrm>
            <a:off x="4005072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선택 지역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2805" y="1243584"/>
            <a:ext cx="908823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6" name="Image 0" descr="/home/claude/patch/shots/12-sect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2805" y="1243584"/>
            <a:ext cx="908823" cy="157276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702805" y="1243584"/>
            <a:ext cx="908823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77056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시군구의 방법별 점수와 전국 순위, 그리고 그 값을 만든 원자료 지표를 함께 놓는다. 먼저 "지금 이 지역이 어디쯤인가"에 답한다.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537960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0" name="Text 27"/>
          <p:cNvSpPr/>
          <p:nvPr/>
        </p:nvSpPr>
        <p:spPr>
          <a:xfrm>
            <a:off x="6665976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 방법 비교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513743" y="1243584"/>
            <a:ext cx="60875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2" name="Image 1" descr="/home/claude/patch/shots/13-sect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743" y="1243584"/>
            <a:ext cx="608754" cy="1572768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7513743" y="1243584"/>
            <a:ext cx="608754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37960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 → 방향 반전 → 표준화 → 합산의 계산 과정을 단계로 펼치고, 네 방법의 점수 분포와 방법 간 순위 이동을 같은 구역에 붙였다.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9198864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2"/>
          <p:cNvSpPr/>
          <p:nvPr/>
        </p:nvSpPr>
        <p:spPr>
          <a:xfrm>
            <a:off x="9326880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 전국 분포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10174647" y="1243584"/>
            <a:ext cx="60875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2" descr="/home/claude/patch/shots/14-sect-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647" y="1243584"/>
            <a:ext cx="608754" cy="1572768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10174647" y="1243584"/>
            <a:ext cx="608754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9198864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229개의 민감도를 산점도로 흩어 놓고, 순위 이동이 큰 시군구를 목록으로 뽑는다. 개별 지역의 흔들림을 전국 기준과 대조한다.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420624" y="5742432"/>
            <a:ext cx="11338560" cy="86868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2" name="Shape 37"/>
          <p:cNvSpPr/>
          <p:nvPr/>
        </p:nvSpPr>
        <p:spPr>
          <a:xfrm>
            <a:off x="420624" y="5742432"/>
            <a:ext cx="41148" cy="8686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3" name="Text 38"/>
          <p:cNvSpPr/>
          <p:nvPr/>
        </p:nvSpPr>
        <p:spPr>
          <a:xfrm>
            <a:off x="603504" y="5797296"/>
            <a:ext cx="11018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세 구역은 "이 지역은 어디쯤인가 → 왜 그 값인가 → 전국에서는 어떤가" 순으로 이어져, 처음 보는 사람도 위에서 아래로 한 번만 훑으면 결론까지 닿는다.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방향성 정리  1/2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 A · B · 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1700784"/>
                <a:gridCol w="3200400"/>
                <a:gridCol w="3694176"/>
                <a:gridCol w="2029968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현상 (개선 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방향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반영 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구조화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지표가 한 덩어리 목록으로 늘어서 성격 구분이 없었다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카드 → 묶음 상자 → 지표 항목의 세 층 접이 구조로 나눈다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레이아웃 배치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조작부·통계·지도를 3분할해 지도의 판이 좁았다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지도를 전체 배경으로 깔고 조작부·통계를 떠 있는 덱으로 얹는다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 화면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정보창 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용어와 계산식을 확인하려면 화면을 떠나야 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용어·방법론 모달을 3개 탭으로 묶어 화면 위에서 바로 연다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 모달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텍스트 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지표명이 축약어로만 표시돼 무엇을 뜻하는지 알 수 없었다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이름·단위·방향·출처를 컬럼사전 탭에 정리해 함께 붙인다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컬럼사전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단계 표준화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방법을 바꾸면 색 기준까지 달라져 비교가 되지 않았다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성격별 7단계 색띠를 고정하고 범례를 지도에 항상 띄운다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· 범례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차트 규격 통일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카드마다 축·눈금·색이 달라 같은 값도 다르게 읽혔다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분포·범프·산점도의 축 범위와 색 규칙을 한 벌로 맞춘다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B · C 구역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760720"/>
            <a:ext cx="11338560" cy="85039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760720"/>
            <a:ext cx="41148" cy="85039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815584"/>
            <a:ext cx="110185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유형 A는 화면의 뼈대를, B는 화면 안의 글과 창을, C는 값이 그림으로 바뀌는 규칙을 다룬다.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세 유형은 순서대로 의존한다. 뼈대가 정리되지 않으면 글의 자리가 정해지지 않고, 글의 자리가 없으면 그림의 기준도 세울 수 없다.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방향성 정리  2/2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 D · 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1700784"/>
                <a:gridCol w="3200400"/>
                <a:gridCol w="3694176"/>
                <a:gridCol w="2029968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현상 (개선 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개선 방향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반영 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전역 연동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지도에서 지역을 골라도 통계·데이터표는 따로 놀았다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번의 선택이 지도·통계·데이터표에 동시에 반영되도록 상태를 하나로 묶는다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화면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 공유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맞춰 놓은 화면을 남길 방법이 없어 말로 설명해야 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부문·방법·지표·시도·선택 지역을 URL 해시에 담아 주소만으로 복원한다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 표시줄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모드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방법의 색 차이를 번갈아 눌러 기억으로 비교해야 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간격보존형과 순위전용형 지도를 좌우로 놓고 같은 조작을 동시에 건다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나란히 비교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반응 표시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 후 결과가 바뀌었는지 확인할 신호가 없었다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띠와 강조 테두리로 지금 무엇이 반영됐는지 즉시 표시한다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· 실시간 띠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 반응성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B23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단추의 눌림·올림 상태가 구분되지 않았다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마우스 포인터를 화면 성격에 따라 조준점과 원형으로 바꿔 되먹임을 준다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커서 · 단추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705856"/>
            <a:ext cx="11338560" cy="90525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705856"/>
            <a:ext cx="41148" cy="90525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760720"/>
            <a:ext cx="11018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유형 D와 E는 화면을 새로 그리는 일이 아니라 이미 있는 화면끼리 어긋나지 않게 붙이는 일이다.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조작 한 번에 세 칸이 함께 움직이고 그 사실이 눈에 보일 때, 사용자는 화면을 의심하지 않고 값을 읽는다.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반영 화면 — 유형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구조화 및 레이아웃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층 접이 구조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6750" y="1243584"/>
            <a:ext cx="769731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30-side-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6750" y="1243584"/>
            <a:ext cx="769731" cy="23408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876750" y="1243584"/>
            <a:ext cx="769731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카드(공간구조 효율성 · 지역사회 건강도)를 먼저 두고, 그 안에 표준화 결과 · 민감도 · 원자료 지표 묶음 상자를 넣었다. 지표가 7개인 지역사회 건강도 부문에서도 열린 묶음만 펼쳐지므로 조작부 안에 스크롤이 생기지 않는다.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고정 헤더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48912" y="2351206"/>
            <a:ext cx="3681984" cy="12562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02-hea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12" y="2351206"/>
            <a:ext cx="3681984" cy="12562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48912" y="2351206"/>
            <a:ext cx="3681984" cy="12562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 로고와 화면 제목을 고정하고 오른쪽에 용어·방법론과 전체 데이터표를 붙였다. 화면을 어떻게 조작하든 이 줄은 자리를 지키므로, 길을 잃었을 때 돌아올 기준점이 된다.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77200" y="2142394"/>
            <a:ext cx="3681984" cy="5432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04-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2142394"/>
            <a:ext cx="3681984" cy="54324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77200" y="2142394"/>
            <a:ext cx="3681984" cy="54324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→ 지표 → 지역 → 방법 순으로 지금까지 고른 값을 한 줄로 늘어놓는다. 조작부를 다시 펼치지 않고도 현재 화면이 어떤 조건으로 그려졌는지 확인할 수 있다.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→ 묶음 → 지표 세 층을 접이로 나눠 성격이 다른 항목이 섞이지 않게 했다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헤더와 흐름 막대를 화면 위쪽에 고정해 조작 중에도 현재 위치를 잃지 않게 했다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조작부·통계 패널을 테두리 하나를 공유하는 덱으로 묶고 지도 위에 띄웠다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구조를 먼저 정리한 뒤에야 나머지 개선이 놓일 자리가 생겼다. 유형 A는 다른 네 유형의 전제 조건에 해당한다.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반영 화면 — 유형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정보창 및 텍스트 관리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· 방법론 모달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30081" y="1243584"/>
            <a:ext cx="2263071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37-glossary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081" y="1243584"/>
            <a:ext cx="2263071" cy="23408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30081" y="1243584"/>
            <a:ext cx="2263071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 / 4개 표준화 방법 / 컬럼사전 세 탭으로 나눴다. 화면을 떠나지 않고 그 자리에서 열리므로, 값을 보다가 뜻이 막히면 바로 확인하고 닫으면 원래 상태로 돌아온다.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 탭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42245" y="1243584"/>
            <a:ext cx="2095319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38-gloss-meth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245" y="1243584"/>
            <a:ext cx="2095319" cy="234086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42245" y="1243584"/>
            <a:ext cx="2095319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방법의 수식과 성질을 같은 형식으로 늘어놓았다. Min-Max · 거리기반 · 로지스틱은 간격보존형, 백분위순위는 순위전용형으로 계열을 표시해 무엇을 비교하는지 드러낸다.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컬럼사전 탭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047253" y="1243584"/>
            <a:ext cx="1741878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39-gloss-c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53" y="1243584"/>
            <a:ext cx="1741878" cy="234086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47253" y="1243584"/>
            <a:ext cx="1741878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40개 컬럼의 전체 이름 · 단위 · 방향(높을수록 좋음/나쁨) · 계산 근거를 정리했다. 화면에 축약어로 표시되는 지표명이 실제로 무엇을 뜻하는지 여기서 확인한다.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별도 문서로 빼지 않고 화면 위 모달로 붙여 확인 후 바로 되돌아오게 했다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수식과 계열 구분을 함께 적어 방법 선택이 결과에 미치는 영향을 미리 알 수 있게 했다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방향(－ 반전 여부)을 명시해 값이 큰 쪽이 좋은지 나쁜지 오해가 없게 했다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용어를 화면 안으로 들여놓으면서, 지표명을 길게 풀어 쓰지 않아도 되었다. 조작부의 항목 이름을 짧게 유지할 수 있게 된 것도 이 개선의 결과다.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반영 화면 — 유형 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시각화 표준화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결과 카드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76572" y="1243584"/>
            <a:ext cx="1970089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17-card-st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572" y="1243584"/>
            <a:ext cx="1970089" cy="234086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276572" y="1243584"/>
            <a:ext cx="1970089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방법의 표준화 점수를 같은 축 위에 나란히 놓았다. 값의 절대 크기가 아니라 방법 간 간격이 눈에 들어오도록 축 범위를 0–100으로 고정했다.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분포 카드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97824" y="1243584"/>
            <a:ext cx="1984161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18-card-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824" y="1243584"/>
            <a:ext cx="1984161" cy="234086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97824" y="1243584"/>
            <a:ext cx="1984161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시군구의 점수 분포를 방법마다 같은 눈금으로 그렸다. 간격보존형은 한쪽으로 몰리고 백분위순위는 고르게 퍼지는 성질이 형태로 드러난다.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 산점도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000408" y="1243584"/>
            <a:ext cx="1835567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20-card-sca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408" y="1243584"/>
            <a:ext cx="1835567" cy="234086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00408" y="1243584"/>
            <a:ext cx="1835567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가로축에 Min-Max 순위, 세로축에 백분위순위 순위를 놓고 대각선에서 멀어진 정도로 민감도를 읽는다. 순위 이동이 큰 시군구가 자연히 바깥으로 밀려난다.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카드의 축 범위와 색 규칙을 한 벌로 맞춰 같은 값이 다르게 읽히지 않게 했다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단계는 7단계 색띠로 고정하고 범례를 지도 위에 항상 띄워 두었다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간 차이를 색이 아니라 위치와 간격으로 드러내 색맹 조건에서도 읽히게 했다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시각화 규칙을 고정하면서 "색이 달라 보이는데 실제로 큰 차이인가"라는 판단이 화면 안에서 끝나게 되었다.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반영 화면 — 유형 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전역 인터랙션 연동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선택 연동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319167"/>
            <a:ext cx="3681984" cy="218969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26-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319167"/>
            <a:ext cx="3681984" cy="218969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319167"/>
            <a:ext cx="3681984" cy="218969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시군구를 한 번 누르면 통계 패널 A 구역, 실시간 띠, 데이터표의 강조 행이 동시에 그 지역으로 맞춰진다. 어느 칸에서 골라도 결과는 같다.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 나란히 비교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48912" y="1319167"/>
            <a:ext cx="3681984" cy="218969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32-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12" y="1319167"/>
            <a:ext cx="3681984" cy="218969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48912" y="1319167"/>
            <a:ext cx="3681984" cy="218969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간격보존형과 순위전용형 지도를 좌우로 놓는다. 확대·이동·지역 선택이 두 지도에 동시에 걸리므로 같은 조건에서 색 차이만 남는다.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보기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77200" y="1319167"/>
            <a:ext cx="3681984" cy="218969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24-onlyhig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19167"/>
            <a:ext cx="3681984" cy="218969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77200" y="1319167"/>
            <a:ext cx="3681984" cy="218969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폭이 큰 시군구만 남기고 나머지를 흐리게 처리한다. 전국 판을 그대로 유지한 채 눈여겨봐야 할 지역만 골라낸다.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· 방법 · 지표 · 시도 · 선택 지역을 하나의 상태로 묶어 칸끼리 어긋나지 않게 했다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상태를 URL 해시(s · m · k · g · r · c · p)에 담아 주소만으로 화면을 복원한다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모드에서는 두 지도가 같은 조작을 공유해 시점 차이로 인한 오독을 막았다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상태를 한곳으로 모은 덕분에 화면 공유가 캡쳐가 아니라 주소로 이뤄진다. 같은 주소를 연 사람은 정확히 같은 조건의 화면을 본다.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반영 화면 — 유형 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반응성 강화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2177868"/>
            <a:ext cx="3681984" cy="4722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27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2177868"/>
            <a:ext cx="3681984" cy="4722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2177868"/>
            <a:ext cx="3681984" cy="47229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마우스가 지나간 시군구의 이름과 값, 전국 순위를 지도 위쪽 띠에 즉시 띄운다. 클릭하지 않아도 값을 확인할 수 있어 훑는 속도가 빨라진다.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표시 전환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48912" y="1961987"/>
            <a:ext cx="3681984" cy="90405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25-maps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12" y="1961987"/>
            <a:ext cx="3681984" cy="90405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48912" y="1961987"/>
            <a:ext cx="3681984" cy="90405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보기 같은 표시 조건을 지도 위 스위치로 두어, 조작부까지 돌아가지 않고 지도를 보면서 바로 켜고 끈다.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되먹임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77200" y="1720937"/>
            <a:ext cx="3681984" cy="138615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41-cur-bt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720937"/>
            <a:ext cx="3681984" cy="138615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77200" y="1720937"/>
            <a:ext cx="3681984" cy="138615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조작할 수 있는 요소 위에서는 포인터 링이 커지고 눌린 순간 줄어든다. 화면 성격에 따라 지도 위에서는 조준점, 조작부에서는 원형으로 바뀐다.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결과가 반영됐는지를 값 자체가 아니라 화면의 반응으로 먼저 알 수 있게 했다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쓰는 표시 전환은 지도 위에 두어 조작부와 지도 사이를 오가지 않게 했다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포인터 · 강조 테두리 · 실시간 띠 세 가지 되먹임을 겹쳐 반응 누락을 막았다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반응이 즉시 보이면 사용자는 같은 조작을 두 번 하지 않는다. 유형 E의 개선은 조작 횟수 자체를 줄이는 효과로 이어졌다.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SSI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O4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설계 및 화면 흐름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개선한 화면을 구조도로 다시 정리하고, 사용자가 실제로 밟는 순서를 흐름도로 남긴다.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작업 정리 (개선 차수별 반영 내역)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정보 구조(I.A) 설계 — 전체 · 부문별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서비스 플로우 — 지표 선택 · 조건 선택 · 방법 비교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세부 서비스 플로우 — 진입·판독 · 데이터표·용어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정리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차수별 반영 내역 (1차 ~ 8차)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74980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 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반영 내역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초안 구성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 · 통계 · 지도 3분할 배치, 229개 시군구 지도 및 기본 통계 카드 구현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체계 정리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40개 컬럼을 표준화 결과 · 민감도 · 원자료 세 갈래로 분류하고 부문(S1 · S8)에 배정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4방법 구현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Min-Max · 거리기반 · 로지스틱 · 백분위순위 계산 및 방법 전환 시 지도 갱신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구역 분리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패널을 A 선택 지역 · B 방법 비교 · C 전국 분포 세 구역으로 나눠 읽는 순서 고정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· C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덱 구조 도입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조작부와 통계 패널을 테두리 하나를 공유하는 덱으로 묶고 그림자로 층 구분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겹 접이 · 손잡이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상자 ＋/－ 여닫기 도입, 통계 접기 손잡이를 패널 상단으로 이동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· 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전면 배경화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지도를 화면 전체 배경으로 전환하고 덱 폭만큼 지도 시각 중심을 오른쪽으로 이동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덱 마감 · 탭 노출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덱 모서리와 그림자 정리, 통계 손잡이를 덱 밖으로 물려 라벨처럼 노출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· 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8-1차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커서 되먹임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위 조준점 · 조작부 원형 포인터, 조작 가능 요소 위 링 확대 및 클릭 축소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1 ~ 3차는 무엇을 보여줄지를, 4 ~ 6차는 어떤 순서로 읽게 할지를, 7 ~ 8차는 그 순서를 어느 자리에 놓을지를 다뤘다.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계산 로직은 3차 이후 바뀌지 않았다. 이후의 모든 작업은 같은 값을 더 잘 읽히게 만드는 데 쓰였다.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구조(I.A) 설계 — 전체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화면 조각 · 18개 하위 요소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175608" y="932688"/>
            <a:ext cx="3840480" cy="40233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4175608" y="9326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SSI 대시보드  (단일 화면)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8532" y="1335024"/>
            <a:ext cx="14630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Shape 8"/>
          <p:cNvSpPr/>
          <p:nvPr/>
        </p:nvSpPr>
        <p:spPr>
          <a:xfrm>
            <a:off x="1312164" y="1536192"/>
            <a:ext cx="9555480" cy="1463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1" name="Shape 9"/>
          <p:cNvSpPr/>
          <p:nvPr/>
        </p:nvSpPr>
        <p:spPr>
          <a:xfrm>
            <a:off x="1304849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" y="1719072"/>
            <a:ext cx="1783080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7190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헤더 HD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" y="2157984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311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A-1 로고 · 제목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좌측 고정, 클릭 시 초기 상태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20624" y="3017520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906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A-2 용어 · 방법론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328416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탭 모달 열기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0624" y="3877056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5020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A-3 전체 데이터표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 × 40 표 모달 열기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15945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1720" y="1719072"/>
            <a:ext cx="1783080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28" name="Text 26"/>
          <p:cNvSpPr/>
          <p:nvPr/>
        </p:nvSpPr>
        <p:spPr>
          <a:xfrm>
            <a:off x="2386584" y="17190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 조작부 SB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31720" y="2157984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31720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1" name="Text 29"/>
          <p:cNvSpPr/>
          <p:nvPr/>
        </p:nvSpPr>
        <p:spPr>
          <a:xfrm>
            <a:off x="2459736" y="22311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B-1 부문 카드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59736" y="246888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공간구조 · S8 지역사회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31720" y="3017520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Text 33"/>
          <p:cNvSpPr/>
          <p:nvPr/>
        </p:nvSpPr>
        <p:spPr>
          <a:xfrm>
            <a:off x="2459736" y="30906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B-2 묶음 상자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59736" y="3328416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결과 · 민감도 · 원자료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331720" y="3877056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31720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9" name="Text 37"/>
          <p:cNvSpPr/>
          <p:nvPr/>
        </p:nvSpPr>
        <p:spPr>
          <a:xfrm>
            <a:off x="2459736" y="395020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B-3 지역 · 방법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459736" y="41879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 / 시·군·구 / 4방법 · 초기화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127041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2" name="Shape 40"/>
          <p:cNvSpPr/>
          <p:nvPr/>
        </p:nvSpPr>
        <p:spPr>
          <a:xfrm>
            <a:off x="4242816" y="1719072"/>
            <a:ext cx="1783080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41"/>
          <p:cNvSpPr/>
          <p:nvPr/>
        </p:nvSpPr>
        <p:spPr>
          <a:xfrm>
            <a:off x="4297680" y="17190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 통계 패널 CP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42816" y="2157984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42816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46" name="Text 44"/>
          <p:cNvSpPr/>
          <p:nvPr/>
        </p:nvSpPr>
        <p:spPr>
          <a:xfrm>
            <a:off x="4370832" y="22311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C-1 A 선택 지역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70832" y="246888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 · 순위 · 원자료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242816" y="3017520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42816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50" name="Text 48"/>
          <p:cNvSpPr/>
          <p:nvPr/>
        </p:nvSpPr>
        <p:spPr>
          <a:xfrm>
            <a:off x="4370832" y="30906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C-2 B 방법 비교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370832" y="3328416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과정 · 분포 · 순위 이동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242816" y="3877056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42816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54" name="Text 52"/>
          <p:cNvSpPr/>
          <p:nvPr/>
        </p:nvSpPr>
        <p:spPr>
          <a:xfrm>
            <a:off x="4370832" y="395020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C-3 C 전국 분포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370832" y="41879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 산점도 · 이동 큰 지역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038137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7" name="Shape 55"/>
          <p:cNvSpPr/>
          <p:nvPr/>
        </p:nvSpPr>
        <p:spPr>
          <a:xfrm>
            <a:off x="6153912" y="1719072"/>
            <a:ext cx="1783080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58" name="Text 56"/>
          <p:cNvSpPr/>
          <p:nvPr/>
        </p:nvSpPr>
        <p:spPr>
          <a:xfrm>
            <a:off x="6208776" y="17190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  지도 MP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53912" y="2157984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53912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61" name="Text 59"/>
          <p:cNvSpPr/>
          <p:nvPr/>
        </p:nvSpPr>
        <p:spPr>
          <a:xfrm>
            <a:off x="6281928" y="22311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D-1 색 단계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81928" y="246888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 색띠 · 범례 고정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153912" y="3017520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53912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65" name="Text 63"/>
          <p:cNvSpPr/>
          <p:nvPr/>
        </p:nvSpPr>
        <p:spPr>
          <a:xfrm>
            <a:off x="6281928" y="30906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D-2 지도 조작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281928" y="3328416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확대·축소 · 민감 지역만 보기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53912" y="3877056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53912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69" name="Text 67"/>
          <p:cNvSpPr/>
          <p:nvPr/>
        </p:nvSpPr>
        <p:spPr>
          <a:xfrm>
            <a:off x="6281928" y="395020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D-3 나란히 비교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281928" y="41879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 지도 좌우 배치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949233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2" name="Shape 70"/>
          <p:cNvSpPr/>
          <p:nvPr/>
        </p:nvSpPr>
        <p:spPr>
          <a:xfrm>
            <a:off x="8065008" y="1719072"/>
            <a:ext cx="1783080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73" name="Text 71"/>
          <p:cNvSpPr/>
          <p:nvPr/>
        </p:nvSpPr>
        <p:spPr>
          <a:xfrm>
            <a:off x="8119872" y="17190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 데이터표 DT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065008" y="2157984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76" name="Text 74"/>
          <p:cNvSpPr/>
          <p:nvPr/>
        </p:nvSpPr>
        <p:spPr>
          <a:xfrm>
            <a:off x="8193024" y="22311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E-1 전 컬럼 표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8193024" y="246888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229행 × 40열 정렬 · 검색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065008" y="3017520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65008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80" name="Text 78"/>
          <p:cNvSpPr/>
          <p:nvPr/>
        </p:nvSpPr>
        <p:spPr>
          <a:xfrm>
            <a:off x="8193024" y="30906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E-2 행 강조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193024" y="3328416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지역 자동 스크롤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8065008" y="3877056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008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84" name="Text 82"/>
          <p:cNvSpPr/>
          <p:nvPr/>
        </p:nvSpPr>
        <p:spPr>
          <a:xfrm>
            <a:off x="8193024" y="395020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E-3 내려받기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193024" y="41879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조건 그대로 저장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10860329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7" name="Shape 85"/>
          <p:cNvSpPr/>
          <p:nvPr/>
        </p:nvSpPr>
        <p:spPr>
          <a:xfrm>
            <a:off x="9976104" y="1719072"/>
            <a:ext cx="1783080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88" name="Text 86"/>
          <p:cNvSpPr/>
          <p:nvPr/>
        </p:nvSpPr>
        <p:spPr>
          <a:xfrm>
            <a:off x="10030968" y="1719072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  공유 · 용어 GL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976104" y="2157984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976104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91" name="Text 89"/>
          <p:cNvSpPr/>
          <p:nvPr/>
        </p:nvSpPr>
        <p:spPr>
          <a:xfrm>
            <a:off x="10104120" y="22311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F-1 상태 해시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0104120" y="246888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 · m · k · g · r · c · p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9976104" y="3017520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976104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95" name="Text 93"/>
          <p:cNvSpPr/>
          <p:nvPr/>
        </p:nvSpPr>
        <p:spPr>
          <a:xfrm>
            <a:off x="10104120" y="3090672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F-2 용어 탭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10104120" y="3328416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 · 4방법 · 컬럼사전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9976104" y="3877056"/>
            <a:ext cx="178308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76104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99" name="Text 97"/>
          <p:cNvSpPr/>
          <p:nvPr/>
        </p:nvSpPr>
        <p:spPr>
          <a:xfrm>
            <a:off x="10104120" y="395020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F-3 커서 되먹임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10104120" y="418795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조준점 / 조작부 원형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420624" y="4882896"/>
            <a:ext cx="11338560" cy="5120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2" name="Text 100"/>
          <p:cNvSpPr/>
          <p:nvPr/>
        </p:nvSpPr>
        <p:spPr>
          <a:xfrm>
            <a:off x="420624" y="4882896"/>
            <a:ext cx="11338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전환 0회  ·  모달 2종  ·  상태 키 7개  ·  모든 조각이 하나의 상태를 공유한다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20624" y="5779008"/>
            <a:ext cx="11338560" cy="83210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20624" y="5779008"/>
            <a:ext cx="41148" cy="83210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5" name="Text 103"/>
          <p:cNvSpPr/>
          <p:nvPr/>
        </p:nvSpPr>
        <p:spPr>
          <a:xfrm>
            <a:off x="603504" y="5833872"/>
            <a:ext cx="11018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여섯 조각은 모두 같은 화면 위에 있고, 화면 전환은 한 번도 일어나지 않는다. 모달 두 개(데이터표 · 용어)만 위로 겹쳐 열렸다 닫힌다.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구조(I.A) 설계 — 부문 S1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공간구조 효율성 · 지표 2개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457200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구조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2374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→ 묶음 → 지표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30102" y="1243584"/>
            <a:ext cx="1353043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03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02" y="1243584"/>
            <a:ext cx="1353043" cy="4114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30102" y="1243584"/>
            <a:ext cx="1353043" cy="4114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0368" y="932688"/>
            <a:ext cx="652881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5358384" y="932688"/>
            <a:ext cx="627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 공간구조 효율성 — 지표 체계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30368" y="1243584"/>
            <a:ext cx="6528816" cy="896112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0368" y="1243584"/>
            <a:ext cx="1417320" cy="89611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1243584"/>
            <a:ext cx="1271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결과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66560" y="133502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 부문지수 (4방법)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766560" y="1554480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2개를 방법별로 표준화한 뒤 동일가중 평균한 값. 0–100 범위로 방법 간 비교가 가능하다.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30368" y="2212848"/>
            <a:ext cx="6528816" cy="896112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30368" y="2212848"/>
            <a:ext cx="1417320" cy="89611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2" name="Text 19"/>
          <p:cNvSpPr/>
          <p:nvPr/>
        </p:nvSpPr>
        <p:spPr>
          <a:xfrm>
            <a:off x="5303520" y="2212848"/>
            <a:ext cx="1271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66560" y="230428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6560" y="2523744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Min-Max 순위와 백분위순위 순위의 차이. 평균 5.2계단 · 중앙값 3.5 · 최댓값 26계단.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230368" y="3182112"/>
            <a:ext cx="6528816" cy="896112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30368" y="3182112"/>
            <a:ext cx="1417320" cy="89611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0" y="3182112"/>
            <a:ext cx="1271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 지표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66560" y="327355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2개 (방향 포함)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766560" y="349300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이전의 원래 값. 방향이 반대인 지표는 표준화 전에 x′ = max + min − x 로 뒤집는다.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230368" y="4187952"/>
            <a:ext cx="6528816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1" name="Text 28"/>
          <p:cNvSpPr/>
          <p:nvPr/>
        </p:nvSpPr>
        <p:spPr>
          <a:xfrm>
            <a:off x="5358384" y="418795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 부문 민감도 요약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290304" y="41879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기준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230368" y="4498848"/>
            <a:ext cx="1276502" cy="7132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4" name="Text 31"/>
          <p:cNvSpPr/>
          <p:nvPr/>
        </p:nvSpPr>
        <p:spPr>
          <a:xfrm>
            <a:off x="5230368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5230368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이동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543446" y="4498848"/>
            <a:ext cx="1276502" cy="7132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7" name="Text 34"/>
          <p:cNvSpPr/>
          <p:nvPr/>
        </p:nvSpPr>
        <p:spPr>
          <a:xfrm>
            <a:off x="6543446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6543446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중앙값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856525" y="4498848"/>
            <a:ext cx="1276502" cy="7132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0" name="Text 37"/>
          <p:cNvSpPr/>
          <p:nvPr/>
        </p:nvSpPr>
        <p:spPr>
          <a:xfrm>
            <a:off x="7856525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7856525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이동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9169603" y="4498848"/>
            <a:ext cx="1276502" cy="7132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3" name="Text 40"/>
          <p:cNvSpPr/>
          <p:nvPr/>
        </p:nvSpPr>
        <p:spPr>
          <a:xfrm>
            <a:off x="9169603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9169603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10계단↑ (15.3%)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10482682" y="4498848"/>
            <a:ext cx="1276502" cy="7132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6" name="Text 43"/>
          <p:cNvSpPr/>
          <p:nvPr/>
        </p:nvSpPr>
        <p:spPr>
          <a:xfrm>
            <a:off x="10482682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10482682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색등급 변경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420624" y="5541264"/>
            <a:ext cx="11338560" cy="106984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6"/>
          <p:cNvSpPr/>
          <p:nvPr/>
        </p:nvSpPr>
        <p:spPr>
          <a:xfrm>
            <a:off x="420624" y="5541264"/>
            <a:ext cx="41148" cy="10698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7"/>
          <p:cNvSpPr/>
          <p:nvPr/>
        </p:nvSpPr>
        <p:spPr>
          <a:xfrm>
            <a:off x="603504" y="5596128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S1은 지표가 2개뿐이어서 방법을 바꿔도 순위가 크게 흔들리지 않는다. 평균 이동 5.2계단은 229개 기준으로 전체의 2% 남짓이다.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다만 최대 26계단이 움직인 시군구가 존재하므로, 개별 지역을 단정할 때는 방법을 함께 밝혀야 한다.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구조(I.A) 설계 — 부문 S8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지역사회 건강도 · 지표 7개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457200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구조 (S8 선택)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2374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7개 전개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30102" y="1243584"/>
            <a:ext cx="1353043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30-side-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02" y="1243584"/>
            <a:ext cx="1353043" cy="4114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30102" y="1243584"/>
            <a:ext cx="1353043" cy="4114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0368" y="932688"/>
            <a:ext cx="652881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5358384" y="932688"/>
            <a:ext cx="627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S8  지역사회 건강도 — 지표 체계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30368" y="1243584"/>
            <a:ext cx="6528816" cy="896112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0368" y="1243584"/>
            <a:ext cx="1417320" cy="89611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7" name="Text 14"/>
          <p:cNvSpPr/>
          <p:nvPr/>
        </p:nvSpPr>
        <p:spPr>
          <a:xfrm>
            <a:off x="5303520" y="1243584"/>
            <a:ext cx="1271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결과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66560" y="1335024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 부문지수 (4방법)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766560" y="1554480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7개를 방법별로 표준화한 뒤 동일가중 평균. 지표 수가 많아 방법 간 차이가 상쇄되지 않고 누적된다.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30368" y="2212848"/>
            <a:ext cx="6528816" cy="896112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30368" y="2212848"/>
            <a:ext cx="1417320" cy="89611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2" name="Text 19"/>
          <p:cNvSpPr/>
          <p:nvPr/>
        </p:nvSpPr>
        <p:spPr>
          <a:xfrm>
            <a:off x="5303520" y="2212848"/>
            <a:ext cx="1271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766560" y="2304288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6560" y="2523744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Min-Max 순위와 백분위순위 순위의 차이. 평균 9.2계단 · 중앙값 7.5 · 최댓값 50계단.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230368" y="3182112"/>
            <a:ext cx="6528816" cy="896112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30368" y="3182112"/>
            <a:ext cx="1417320" cy="89611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0" y="3182112"/>
            <a:ext cx="12710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 지표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66560" y="3273552"/>
            <a:ext cx="4882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7개 (방향 포함)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766560" y="3493008"/>
            <a:ext cx="4882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반대인 지표가 섞여 있어 표준화 이전 단계의 반전 처리가 결과에 미치는 영향이 S1보다 크다.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230368" y="4187952"/>
            <a:ext cx="6528816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1" name="Text 28"/>
          <p:cNvSpPr/>
          <p:nvPr/>
        </p:nvSpPr>
        <p:spPr>
          <a:xfrm>
            <a:off x="5358384" y="418795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S8 부문 민감도 요약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290304" y="418795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기준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230368" y="4498848"/>
            <a:ext cx="1276502" cy="713232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4" name="Text 31"/>
          <p:cNvSpPr/>
          <p:nvPr/>
        </p:nvSpPr>
        <p:spPr>
          <a:xfrm>
            <a:off x="5230368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9.2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5230368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BD9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이동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6543446" y="4498848"/>
            <a:ext cx="1276502" cy="713232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7" name="Text 34"/>
          <p:cNvSpPr/>
          <p:nvPr/>
        </p:nvSpPr>
        <p:spPr>
          <a:xfrm>
            <a:off x="6543446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6543446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BD9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중앙값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7856525" y="4498848"/>
            <a:ext cx="1276502" cy="713232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40" name="Text 37"/>
          <p:cNvSpPr/>
          <p:nvPr/>
        </p:nvSpPr>
        <p:spPr>
          <a:xfrm>
            <a:off x="7856525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7856525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BD9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이동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9169603" y="4498848"/>
            <a:ext cx="1276502" cy="713232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43" name="Text 40"/>
          <p:cNvSpPr/>
          <p:nvPr/>
        </p:nvSpPr>
        <p:spPr>
          <a:xfrm>
            <a:off x="9169603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9169603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BD9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10계단↑ (40.2%)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10482682" y="4498848"/>
            <a:ext cx="1276502" cy="713232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46" name="Text 43"/>
          <p:cNvSpPr/>
          <p:nvPr/>
        </p:nvSpPr>
        <p:spPr>
          <a:xfrm>
            <a:off x="10482682" y="4553712"/>
            <a:ext cx="1276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10482682" y="4919472"/>
            <a:ext cx="12765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BD9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색등급 변경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420624" y="5541264"/>
            <a:ext cx="11338560" cy="106984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6"/>
          <p:cNvSpPr/>
          <p:nvPr/>
        </p:nvSpPr>
        <p:spPr>
          <a:xfrm>
            <a:off x="420624" y="5541264"/>
            <a:ext cx="41148" cy="10698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7"/>
          <p:cNvSpPr/>
          <p:nvPr/>
        </p:nvSpPr>
        <p:spPr>
          <a:xfrm>
            <a:off x="603504" y="5596128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S8은 229곳 중 92곳(40.2%)이 10계단 이상 움직인다. 표준화 방법을 밝히지 않은 S8 순위는 사실상 해석할 수 없다.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이 부문에서 방법 비교 화면과 민감 지역만 보기 기능이 가장 자주 쓰인다.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플로우 — 지표 선택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→ 묶음 → 지표 → 반영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35024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 선택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5580" y="1298448"/>
            <a:ext cx="6915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03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580" y="1298448"/>
            <a:ext cx="691555" cy="2103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375580" y="1298448"/>
            <a:ext cx="691555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맨 위의 부문 카드에서 공간구조 효율성 또는 지역사회 건강도를 고른다. 고른 카드만 펼쳐지고 다른 카드는 접힌다.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58668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2988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4"/>
          <p:cNvSpPr/>
          <p:nvPr/>
        </p:nvSpPr>
        <p:spPr>
          <a:xfrm>
            <a:off x="3424428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247388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상자 열기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7944" y="1298448"/>
            <a:ext cx="6915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1" descr="/home/claude/patch/shots/07-side-grou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944" y="1298448"/>
            <a:ext cx="691555" cy="21031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87944" y="1298448"/>
            <a:ext cx="691555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2988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42716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안의 표준화 결과 · 민감도 · 원자료 지표 묶음을 ＋ 로 연다. 여러 묶음을 동시에 열어 두고 항목을 비교할 수 있다.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971032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5" name="Shape 21"/>
          <p:cNvSpPr/>
          <p:nvPr/>
        </p:nvSpPr>
        <p:spPr>
          <a:xfrm>
            <a:off x="6245352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2"/>
          <p:cNvSpPr/>
          <p:nvPr/>
        </p:nvSpPr>
        <p:spPr>
          <a:xfrm>
            <a:off x="6336792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159752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항목 선택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7200308" y="1298448"/>
            <a:ext cx="6915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9" name="Image 2" descr="/home/claude/patch/shots/30-side-s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308" y="1298448"/>
            <a:ext cx="691555" cy="21031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200308" y="1298448"/>
            <a:ext cx="691555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45352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55080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 안의 지표를 하나 고른다. 고른 항목은 진한 바탕으로 남아 어느 묶음에 속하는지 접힌 뒤에도 드러난다.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883396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4" name="Shape 29"/>
          <p:cNvSpPr/>
          <p:nvPr/>
        </p:nvSpPr>
        <p:spPr>
          <a:xfrm>
            <a:off x="9157716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9249156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0072116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· 통계 반영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157716" y="1576454"/>
            <a:ext cx="2601468" cy="15471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3" descr="/home/claude/patch/shots/01-m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16" y="1576454"/>
            <a:ext cx="2601468" cy="15471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9157716" y="1576454"/>
            <a:ext cx="2601468" cy="154710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157716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267444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단계와 통계 패널 세 구역, 실시간 띠, 데이터표 강조 행이 동시에 새 지표로 바뀐다. 화면 전환은 일어나지 않는다.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37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 선택 4번 · 화면 전환 0회 · 반영 지연 없음 — 고른 지표가 즉시 네 곳에 동시 반영된다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20624" y="5687568"/>
            <a:ext cx="11338560" cy="9235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5" name="Shape 39"/>
          <p:cNvSpPr/>
          <p:nvPr/>
        </p:nvSpPr>
        <p:spPr>
          <a:xfrm>
            <a:off x="420624" y="5687568"/>
            <a:ext cx="41148" cy="9235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6" name="Text 40"/>
          <p:cNvSpPr/>
          <p:nvPr/>
        </p:nvSpPr>
        <p:spPr>
          <a:xfrm>
            <a:off x="603504" y="5742432"/>
            <a:ext cx="11018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지표를 고르는 일과 결과를 읽는 일이 같은 화면에서 이어지므로, 여러 지표를 훑어볼 때 되돌아갈 곳을 기억할 필요가 없다.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플로우 — 조건 선택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→ 방법 → 표시 → 확인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35024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 범위 좁히기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5580" y="1298448"/>
            <a:ext cx="6915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09-s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5580" y="1298448"/>
            <a:ext cx="691555" cy="2103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375580" y="1298448"/>
            <a:ext cx="691555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17개 시·도 목록에서 하나를 고른다. 접힌 상태에서도 고른 값이 머리줄에 남아 현재 범위를 알 수 있다.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58668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2988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4"/>
          <p:cNvSpPr/>
          <p:nvPr/>
        </p:nvSpPr>
        <p:spPr>
          <a:xfrm>
            <a:off x="3424428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247388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시·군·구 선택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87944" y="1298448"/>
            <a:ext cx="6915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1" descr="/home/claude/patch/shots/10-sg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944" y="1298448"/>
            <a:ext cx="691555" cy="21031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87944" y="1298448"/>
            <a:ext cx="691555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2988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42716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시·도 안의 시·군·구만 목록에 남는다. 개수가 함께 표시되며 초기화 단추로 전국으로 되돌린다.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971032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5" name="Shape 21"/>
          <p:cNvSpPr/>
          <p:nvPr/>
        </p:nvSpPr>
        <p:spPr>
          <a:xfrm>
            <a:off x="6245352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2"/>
          <p:cNvSpPr/>
          <p:nvPr/>
        </p:nvSpPr>
        <p:spPr>
          <a:xfrm>
            <a:off x="6336792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159752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 선택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483572" y="1298448"/>
            <a:ext cx="212502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9" name="Image 2" descr="/home/claude/patch/shots/08-metho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572" y="1298448"/>
            <a:ext cx="2125028" cy="21031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483572" y="1298448"/>
            <a:ext cx="2125028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45352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55080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 3방법(Min-Max · 거리기반 · 로지스틱)과 순위전용형 1방법(백분위순위) 중에서 고른다. 계열이 표시된다.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883396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4" name="Shape 29"/>
          <p:cNvSpPr/>
          <p:nvPr/>
        </p:nvSpPr>
        <p:spPr>
          <a:xfrm>
            <a:off x="9157716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9249156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0072116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확인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157716" y="1576454"/>
            <a:ext cx="2601468" cy="15471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3" descr="/home/claude/patch/shots/11-sido-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16" y="1576454"/>
            <a:ext cx="2601468" cy="15471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9157716" y="1576454"/>
            <a:ext cx="2601468" cy="154710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157716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267444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고른 범위로 확대되고 통계·데이터표의 대상도 함께 좁혀진다. 흐름 막대에 현재 조건이 한 줄로 남는다.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37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 지역 · 방법 조건이 지도 · 통계 · 데이터표 세 곳에 같은 범위로 동시에 걸린다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20624" y="5687568"/>
            <a:ext cx="11338560" cy="9235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5" name="Shape 39"/>
          <p:cNvSpPr/>
          <p:nvPr/>
        </p:nvSpPr>
        <p:spPr>
          <a:xfrm>
            <a:off x="420624" y="5687568"/>
            <a:ext cx="41148" cy="9235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6" name="Text 40"/>
          <p:cNvSpPr/>
          <p:nvPr/>
        </p:nvSpPr>
        <p:spPr>
          <a:xfrm>
            <a:off x="603504" y="5742432"/>
            <a:ext cx="11018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조건을 바꾼 뒤에도 앞서 고른 지표는 그대로 유지된다. 지표와 조건은 서로 독립된 축으로 다뤄져 조합을 자유롭게 바꿀 수 있다.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플로우 — 두 방식 비교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Min-Max ↔ 백분위순위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35024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화면 (Min-Max)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2685" y="1298448"/>
            <a:ext cx="2057346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23-map-pct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85" y="1298448"/>
            <a:ext cx="2057346" cy="2103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92685" y="1298448"/>
            <a:ext cx="2057346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 Min-Max로 칠한 지도. 값의 간격이 그대로 색 간격에 반영되므로 극단값이 있으면 가운데가 뭉친다.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58668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2988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4"/>
          <p:cNvSpPr/>
          <p:nvPr/>
        </p:nvSpPr>
        <p:spPr>
          <a:xfrm>
            <a:off x="3424428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247388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전환 (백분위순위)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332988" y="1576454"/>
            <a:ext cx="2601468" cy="15471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1" descr="/home/claude/patch/shots/22-pctr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988" y="1576454"/>
            <a:ext cx="2601468" cy="154710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332988" y="1576454"/>
            <a:ext cx="2601468" cy="154710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2988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42716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순위전용형으로 바꾸면 색이 고르게 퍼진다. 간격 정보는 사라지지만 순서는 또렷해진다.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971032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5" name="Shape 21"/>
          <p:cNvSpPr/>
          <p:nvPr/>
        </p:nvSpPr>
        <p:spPr>
          <a:xfrm>
            <a:off x="6245352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2"/>
          <p:cNvSpPr/>
          <p:nvPr/>
        </p:nvSpPr>
        <p:spPr>
          <a:xfrm>
            <a:off x="6336792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159752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나란히 놓고 비교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45352" y="1576454"/>
            <a:ext cx="2601468" cy="15471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9" name="Image 2" descr="/home/claude/patch/shots/32-comp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76454"/>
            <a:ext cx="2601468" cy="154710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245352" y="1576454"/>
            <a:ext cx="2601468" cy="154710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45352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55080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방법의 지도를 좌우로 놓는다. 확대·이동·지역 선택이 동시에 걸려 같은 조건에서 색 차이만 남는다.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883396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4" name="Shape 29"/>
          <p:cNvSpPr/>
          <p:nvPr/>
        </p:nvSpPr>
        <p:spPr>
          <a:xfrm>
            <a:off x="9157716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9249156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0072116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 확인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157716" y="1576454"/>
            <a:ext cx="2601468" cy="15471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3" descr="/home/claude/patch/shots/24-onlyhig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16" y="1576454"/>
            <a:ext cx="2601468" cy="154710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9157716" y="1576454"/>
            <a:ext cx="2601468" cy="154710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157716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267444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폭이 큰 시군구만 남긴다. 두 방법에서 다르게 읽히는 지역이 어디인지 지도 위에서 바로 골라진다.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37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 같은 원자료 · 같은 범위에서 방법만 바꿔 순위 이동 폭(SSI camp)을 화면에서 직접 확인한다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20624" y="5687568"/>
            <a:ext cx="11338560" cy="9235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5" name="Shape 39"/>
          <p:cNvSpPr/>
          <p:nvPr/>
        </p:nvSpPr>
        <p:spPr>
          <a:xfrm>
            <a:off x="420624" y="5687568"/>
            <a:ext cx="41148" cy="9235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6" name="Text 40"/>
          <p:cNvSpPr/>
          <p:nvPr/>
        </p:nvSpPr>
        <p:spPr>
          <a:xfrm>
            <a:off x="603504" y="5742432"/>
            <a:ext cx="11018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이 흐름의 목적은 어느 방법이 옳은지 가리는 것이 아니라, 방법 선택이 결론을 얼마나 바꾸는지 먼저 보게 하는 데 있다.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S8 부문에서는 229곳 중 92곳이 10계단 이상 움직이므로, 이 확인 절차를 건너뛴 순위 해석은 성립하지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서비스 플로우 — 진입 · 판독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패널 A → B → C 읽기 순서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선택 지역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103037" y="1280160"/>
            <a:ext cx="137380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12-sect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037" y="1280160"/>
            <a:ext cx="1373802" cy="2377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03037" y="1280160"/>
            <a:ext cx="1373802" cy="23774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730752"/>
            <a:ext cx="27020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시군구의 방법별 점수와 전국 순위, 그 값을 만든 원자료 지표를 한 카드에 모은다. "이 지역이 어디쯤인가"에 먼저 답한다.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63824" y="2331720"/>
            <a:ext cx="118872" cy="219456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4" name="Shape 11"/>
          <p:cNvSpPr/>
          <p:nvPr/>
        </p:nvSpPr>
        <p:spPr>
          <a:xfrm>
            <a:off x="3287268" y="932688"/>
            <a:ext cx="2738628" cy="292608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5" name="Text 12"/>
          <p:cNvSpPr/>
          <p:nvPr/>
        </p:nvSpPr>
        <p:spPr>
          <a:xfrm>
            <a:off x="3378708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 계산 과정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687789" y="1280160"/>
            <a:ext cx="193758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1" descr="/home/claude/patch/shots/15-card-meth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789" y="1280160"/>
            <a:ext cx="1937586" cy="23774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87789" y="1280160"/>
            <a:ext cx="1937586" cy="23774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05556" y="3730752"/>
            <a:ext cx="27020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 → 방향 반전 → 표준화 → 동일가중 합산의 네 단계를 펼쳐 보여준다. 값이 어떤 경로로 만들어졌는지 확인하는 자리다.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030468" y="2331720"/>
            <a:ext cx="118872" cy="219456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1" name="Shape 17"/>
          <p:cNvSpPr/>
          <p:nvPr/>
        </p:nvSpPr>
        <p:spPr>
          <a:xfrm>
            <a:off x="6153912" y="932688"/>
            <a:ext cx="2738628" cy="292608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22" name="Text 18"/>
          <p:cNvSpPr/>
          <p:nvPr/>
        </p:nvSpPr>
        <p:spPr>
          <a:xfrm>
            <a:off x="6245352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 방법 간 순위 이동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548147" y="1280160"/>
            <a:ext cx="195015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4" name="Image 2" descr="/home/claude/patch/shots/19-card-ra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147" y="1280160"/>
            <a:ext cx="1950158" cy="23774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548147" y="1280160"/>
            <a:ext cx="1950158" cy="23774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72200" y="3730752"/>
            <a:ext cx="27020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방법에서의 순위를 선으로 이어 어느 방법에서 얼마나 밀리고 올라가는지 본다. 선이 가파를수록 방법에 민감한 지역이다.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8897112" y="2331720"/>
            <a:ext cx="118872" cy="219456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8" name="Shape 23"/>
          <p:cNvSpPr/>
          <p:nvPr/>
        </p:nvSpPr>
        <p:spPr>
          <a:xfrm>
            <a:off x="9020556" y="932688"/>
            <a:ext cx="2738628" cy="292608"/>
          </a:xfrm>
          <a:prstGeom prst="rect">
            <a:avLst/>
          </a:prstGeom>
          <a:solidFill>
            <a:srgbClr val="3C444E"/>
          </a:solidFill>
          <a:ln/>
        </p:spPr>
      </p:sp>
      <p:sp>
        <p:nvSpPr>
          <p:cNvPr id="29" name="Text 24"/>
          <p:cNvSpPr/>
          <p:nvPr/>
        </p:nvSpPr>
        <p:spPr>
          <a:xfrm>
            <a:off x="9111996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 전국 대조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9756361" y="1280160"/>
            <a:ext cx="1267019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1" name="Image 3" descr="/home/claude/patch/shots/21-card-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361" y="1280160"/>
            <a:ext cx="1267019" cy="237744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756361" y="1280160"/>
            <a:ext cx="1267019" cy="23774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038844" y="3730752"/>
            <a:ext cx="27020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이동이 큰 시군구를 목록으로 뽑아 지금 보는 지역이 전국에서 어느 정도로 흔들리는 편인지 대조한다.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420624" y="5029200"/>
            <a:ext cx="11338560" cy="4572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29"/>
          <p:cNvSpPr/>
          <p:nvPr/>
        </p:nvSpPr>
        <p:spPr>
          <a:xfrm>
            <a:off x="420624" y="502920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순서   이 지역은 어디쯤인가  →  왜 그 값인가  →  전국에서는 어떤가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7" name="Shape 31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8" name="Text 32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카드 순서를 고정하면서 "어디부터 봐야 하는가"라는 질문이 사라졌다. 처음 보는 사람도 위에서 아래로 한 번만 훑으면 결론까지 닿는다.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서비스 플로우 — 검증 · 공유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데이터표 · 용어 모달 · 상태 해시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전체 데이터표 열기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20624" y="1654541"/>
            <a:ext cx="2738628" cy="162867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34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654541"/>
            <a:ext cx="2738628" cy="162867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654541"/>
            <a:ext cx="2738628" cy="162867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730752"/>
            <a:ext cx="27020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오른쪽에서 전체 데이터표를 연다. 화면은 그대로 있고 표가 그 위에 겹쳐 열린다.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63824" y="2331720"/>
            <a:ext cx="118872" cy="219456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4" name="Shape 11"/>
          <p:cNvSpPr/>
          <p:nvPr/>
        </p:nvSpPr>
        <p:spPr>
          <a:xfrm>
            <a:off x="3287268" y="932688"/>
            <a:ext cx="2738628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2"/>
          <p:cNvSpPr/>
          <p:nvPr/>
        </p:nvSpPr>
        <p:spPr>
          <a:xfrm>
            <a:off x="3378708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원자료까지 확인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87268" y="1568631"/>
            <a:ext cx="2738628" cy="180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1" descr="/home/claude/patch/shots/35-table-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1568631"/>
            <a:ext cx="2738628" cy="180049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287268" y="1568631"/>
            <a:ext cx="2738628" cy="180049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05556" y="3730752"/>
            <a:ext cx="27020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× 40개 컬럼을 정렬해 확인한다. 지도에서 고른 지역의 행이 자동으로 강조된다.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030468" y="2331720"/>
            <a:ext cx="118872" cy="219456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1" name="Shape 17"/>
          <p:cNvSpPr/>
          <p:nvPr/>
        </p:nvSpPr>
        <p:spPr>
          <a:xfrm>
            <a:off x="6153912" y="932688"/>
            <a:ext cx="2738628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2" name="Text 18"/>
          <p:cNvSpPr/>
          <p:nvPr/>
        </p:nvSpPr>
        <p:spPr>
          <a:xfrm>
            <a:off x="6245352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용어 · 방법론 확인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153912" y="1654541"/>
            <a:ext cx="2738628" cy="162867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4" name="Image 2" descr="/home/claude/patch/shots/36-gloss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654541"/>
            <a:ext cx="2738628" cy="162867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153912" y="1654541"/>
            <a:ext cx="2738628" cy="162867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172200" y="3730752"/>
            <a:ext cx="27020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뜻이 막히는 항목은 용어 모달에서 바로 확인한다. 핵심 용어 · 4개 표준화 방법 · 컬럼사전 세 탭.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8897112" y="2331720"/>
            <a:ext cx="118872" cy="219456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8" name="Shape 23"/>
          <p:cNvSpPr/>
          <p:nvPr/>
        </p:nvSpPr>
        <p:spPr>
          <a:xfrm>
            <a:off x="9020556" y="932688"/>
            <a:ext cx="2738628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9111996" y="932688"/>
            <a:ext cx="2555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주소로 공유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9020556" y="1654541"/>
            <a:ext cx="2738628" cy="162867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1" name="Image 3" descr="/home/claude/patch/shots/01-m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1654541"/>
            <a:ext cx="2738628" cy="162867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020556" y="1654541"/>
            <a:ext cx="2738628" cy="162867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038844" y="3730752"/>
            <a:ext cx="27020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모달을 닫으면 원래 화면으로 돌아온다. 지금까지의 조건은 URL 해시에 남아 주소만으로 복원된다.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420624" y="4700016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5" name="Text 29"/>
          <p:cNvSpPr/>
          <p:nvPr/>
        </p:nvSpPr>
        <p:spPr>
          <a:xfrm>
            <a:off x="548640" y="470001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해시 상태 키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9290304" y="470001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하나로 화면 상태 전부를 복원한다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420624" y="5010912"/>
            <a:ext cx="1557093" cy="49377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20624" y="5029200"/>
            <a:ext cx="1557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20624" y="5257800"/>
            <a:ext cx="15570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2050869" y="5010912"/>
            <a:ext cx="1557093" cy="49377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050869" y="5029200"/>
            <a:ext cx="1557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2050869" y="5257800"/>
            <a:ext cx="15570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</a:t>
            </a:r>
            <a:endParaRPr lang="en-US" sz="750" dirty="0"/>
          </a:p>
        </p:txBody>
      </p:sp>
      <p:sp>
        <p:nvSpPr>
          <p:cNvPr id="43" name="Shape 37"/>
          <p:cNvSpPr/>
          <p:nvPr/>
        </p:nvSpPr>
        <p:spPr>
          <a:xfrm>
            <a:off x="3681113" y="5010912"/>
            <a:ext cx="1557093" cy="49377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3681113" y="5029200"/>
            <a:ext cx="1557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3681113" y="5257800"/>
            <a:ext cx="15570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750" dirty="0"/>
          </a:p>
        </p:txBody>
      </p:sp>
      <p:sp>
        <p:nvSpPr>
          <p:cNvPr id="46" name="Shape 40"/>
          <p:cNvSpPr/>
          <p:nvPr/>
        </p:nvSpPr>
        <p:spPr>
          <a:xfrm>
            <a:off x="5311358" y="5010912"/>
            <a:ext cx="1557093" cy="49377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311358" y="5029200"/>
            <a:ext cx="1557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5311358" y="5257800"/>
            <a:ext cx="15570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6941602" y="5010912"/>
            <a:ext cx="1557093" cy="49377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941602" y="5029200"/>
            <a:ext cx="1557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6941602" y="5257800"/>
            <a:ext cx="15570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지역</a:t>
            </a:r>
            <a:endParaRPr lang="en-US" sz="750" dirty="0"/>
          </a:p>
        </p:txBody>
      </p:sp>
      <p:sp>
        <p:nvSpPr>
          <p:cNvPr id="52" name="Shape 46"/>
          <p:cNvSpPr/>
          <p:nvPr/>
        </p:nvSpPr>
        <p:spPr>
          <a:xfrm>
            <a:off x="8571847" y="5010912"/>
            <a:ext cx="1557093" cy="49377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571847" y="5029200"/>
            <a:ext cx="1557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8571847" y="5257800"/>
            <a:ext cx="15570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모드</a:t>
            </a:r>
            <a:endParaRPr lang="en-US" sz="750" dirty="0"/>
          </a:p>
        </p:txBody>
      </p:sp>
      <p:sp>
        <p:nvSpPr>
          <p:cNvPr id="55" name="Shape 49"/>
          <p:cNvSpPr/>
          <p:nvPr/>
        </p:nvSpPr>
        <p:spPr>
          <a:xfrm>
            <a:off x="10202091" y="5010912"/>
            <a:ext cx="1557093" cy="49377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10202091" y="5029200"/>
            <a:ext cx="15570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10202091" y="5257800"/>
            <a:ext cx="155709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패널</a:t>
            </a:r>
            <a:endParaRPr lang="en-US" sz="750" dirty="0"/>
          </a:p>
        </p:txBody>
      </p:sp>
      <p:sp>
        <p:nvSpPr>
          <p:cNvPr id="58" name="Shape 52"/>
          <p:cNvSpPr/>
          <p:nvPr/>
        </p:nvSpPr>
        <p:spPr>
          <a:xfrm>
            <a:off x="420624" y="5650992"/>
            <a:ext cx="11338560" cy="96012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9" name="Shape 53"/>
          <p:cNvSpPr/>
          <p:nvPr/>
        </p:nvSpPr>
        <p:spPr>
          <a:xfrm>
            <a:off x="420624" y="5650992"/>
            <a:ext cx="41148" cy="9601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60" name="Text 54"/>
          <p:cNvSpPr/>
          <p:nvPr/>
        </p:nvSpPr>
        <p:spPr>
          <a:xfrm>
            <a:off x="603504" y="5705856"/>
            <a:ext cx="11018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검증(데이터표)과 설명(용어)을 모달로 붙여 두면서, 확인을 마친 뒤 원래 보던 화면으로 정확히 돌아온다. 되짚어 조작할 일이 없다.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SSI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O5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Look &amp; Feel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색·글자·요소 규격을 한 벌로 정하고, 실제 화면 조각마다 어떻게 적용됐는지 확인한다.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색채 계획 및 지도 색 단계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타이포그래피 및 여백 규격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조각별 시각화 작업 (헤더 ~ 모달)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커서 되먹임 및 최종 화면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   색채 계획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단계 4종 · 화면 기본색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722376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단계 (7단계 고정)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550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성격에 따라 4종 중 하나를 배정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1298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  주황 계열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51790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높을수록 나쁨 · 부담을 뜻하는 지표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02736" y="1316736"/>
            <a:ext cx="562356" cy="475488"/>
          </a:xfrm>
          <a:prstGeom prst="rect">
            <a:avLst/>
          </a:prstGeom>
          <a:solidFill>
            <a:srgbClr val="FFF3E6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1810512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#FFF3E6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4183380" y="1316736"/>
            <a:ext cx="562356" cy="475488"/>
          </a:xfrm>
          <a:prstGeom prst="rect">
            <a:avLst/>
          </a:prstGeom>
          <a:solidFill>
            <a:srgbClr val="FFDDB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83380" y="1810512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#FFDDBC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4764024" y="1316736"/>
            <a:ext cx="562356" cy="475488"/>
          </a:xfrm>
          <a:prstGeom prst="rect">
            <a:avLst/>
          </a:prstGeom>
          <a:solidFill>
            <a:srgbClr val="FFC38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810512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#FFC38C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5344668" y="1316736"/>
            <a:ext cx="562356" cy="475488"/>
          </a:xfrm>
          <a:prstGeom prst="rect">
            <a:avLst/>
          </a:prstGeom>
          <a:solidFill>
            <a:srgbClr val="FDA35A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4668" y="1810512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#FDA35A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5925312" y="1316736"/>
            <a:ext cx="562356" cy="475488"/>
          </a:xfrm>
          <a:prstGeom prst="rect">
            <a:avLst/>
          </a:prstGeom>
          <a:solidFill>
            <a:srgbClr val="F5760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1810512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#F5760D</a:t>
            </a:r>
            <a:endParaRPr lang="en-US" sz="550" dirty="0"/>
          </a:p>
        </p:txBody>
      </p:sp>
      <p:sp>
        <p:nvSpPr>
          <p:cNvPr id="22" name="Shape 20"/>
          <p:cNvSpPr/>
          <p:nvPr/>
        </p:nvSpPr>
        <p:spPr>
          <a:xfrm>
            <a:off x="6505956" y="1316736"/>
            <a:ext cx="562356" cy="475488"/>
          </a:xfrm>
          <a:prstGeom prst="rect">
            <a:avLst/>
          </a:prstGeom>
          <a:solidFill>
            <a:srgbClr val="C85B06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5956" y="1810512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#C85B06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7086600" y="1316736"/>
            <a:ext cx="562356" cy="475488"/>
          </a:xfrm>
          <a:prstGeom prst="rect">
            <a:avLst/>
          </a:prstGeom>
          <a:solidFill>
            <a:srgbClr val="8F3F03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810512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#8F3F03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420624" y="22311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BLUE  파랑 계열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0624" y="2450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높을수록 좋음 · 순위 표시 공통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02736" y="2249424"/>
            <a:ext cx="562356" cy="475488"/>
          </a:xfrm>
          <a:prstGeom prst="rect">
            <a:avLst/>
          </a:prstGeom>
          <a:solidFill>
            <a:srgbClr val="EAF6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2743200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#EAF6FF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183380" y="2249424"/>
            <a:ext cx="562356" cy="475488"/>
          </a:xfrm>
          <a:prstGeom prst="rect">
            <a:avLst/>
          </a:prstGeom>
          <a:solidFill>
            <a:srgbClr val="CBE8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3380" y="2743200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#CBE8FC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4764024" y="2249424"/>
            <a:ext cx="562356" cy="475488"/>
          </a:xfrm>
          <a:prstGeom prst="rect">
            <a:avLst/>
          </a:prstGeom>
          <a:solidFill>
            <a:srgbClr val="9AD3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2743200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#9AD3FF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5344668" y="2249424"/>
            <a:ext cx="562356" cy="475488"/>
          </a:xfrm>
          <a:prstGeom prst="rect">
            <a:avLst/>
          </a:prstGeom>
          <a:solidFill>
            <a:srgbClr val="5FB6F5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4668" y="2743200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#5FB6F5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5925312" y="2249424"/>
            <a:ext cx="562356" cy="475488"/>
          </a:xfrm>
          <a:prstGeom prst="rect">
            <a:avLst/>
          </a:prstGeom>
          <a:solidFill>
            <a:srgbClr val="0B93EE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25312" y="2743200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#0B93EE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6505956" y="2249424"/>
            <a:ext cx="562356" cy="475488"/>
          </a:xfrm>
          <a:prstGeom prst="rect">
            <a:avLst/>
          </a:prstGeom>
          <a:solidFill>
            <a:srgbClr val="0A6FB3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5956" y="2743200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#0A6FB3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7086600" y="2249424"/>
            <a:ext cx="562356" cy="475488"/>
          </a:xfrm>
          <a:prstGeom prst="rect">
            <a:avLst/>
          </a:prstGeom>
          <a:solidFill>
            <a:srgbClr val="08507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2743200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#08507F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420624" y="31638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  초록 계열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0624" y="33832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· 활력 성격의 지표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02736" y="3182112"/>
            <a:ext cx="562356" cy="475488"/>
          </a:xfrm>
          <a:prstGeom prst="rect">
            <a:avLst/>
          </a:prstGeom>
          <a:solidFill>
            <a:srgbClr val="EDFAF0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02736" y="3675888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#EDFAF0</a:t>
            </a:r>
            <a:endParaRPr lang="en-US" sz="550" dirty="0"/>
          </a:p>
        </p:txBody>
      </p:sp>
      <p:sp>
        <p:nvSpPr>
          <p:cNvPr id="46" name="Shape 44"/>
          <p:cNvSpPr/>
          <p:nvPr/>
        </p:nvSpPr>
        <p:spPr>
          <a:xfrm>
            <a:off x="4183380" y="3182112"/>
            <a:ext cx="562356" cy="475488"/>
          </a:xfrm>
          <a:prstGeom prst="rect">
            <a:avLst/>
          </a:prstGeom>
          <a:solidFill>
            <a:srgbClr val="CDF0D6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83380" y="3675888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#CDF0D6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4764024" y="3182112"/>
            <a:ext cx="562356" cy="475488"/>
          </a:xfrm>
          <a:prstGeom prst="rect">
            <a:avLst/>
          </a:prstGeom>
          <a:solidFill>
            <a:srgbClr val="A2E3B4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4024" y="3675888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#A2E3B4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5344668" y="3182112"/>
            <a:ext cx="562356" cy="475488"/>
          </a:xfrm>
          <a:prstGeom prst="rect">
            <a:avLst/>
          </a:prstGeom>
          <a:solidFill>
            <a:srgbClr val="6FD08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4668" y="3675888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#6FD08D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5925312" y="3182112"/>
            <a:ext cx="562356" cy="475488"/>
          </a:xfrm>
          <a:prstGeom prst="rect">
            <a:avLst/>
          </a:prstGeom>
          <a:solidFill>
            <a:srgbClr val="2FB86A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25312" y="3675888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#2FB86A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6505956" y="3182112"/>
            <a:ext cx="562356" cy="475488"/>
          </a:xfrm>
          <a:prstGeom prst="rect">
            <a:avLst/>
          </a:prstGeom>
          <a:solidFill>
            <a:srgbClr val="1D8A4E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05956" y="3675888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#1D8A4E</a:t>
            </a:r>
            <a:endParaRPr lang="en-US" sz="550" dirty="0"/>
          </a:p>
        </p:txBody>
      </p:sp>
      <p:sp>
        <p:nvSpPr>
          <p:cNvPr id="56" name="Shape 54"/>
          <p:cNvSpPr/>
          <p:nvPr/>
        </p:nvSpPr>
        <p:spPr>
          <a:xfrm>
            <a:off x="7086600" y="3182112"/>
            <a:ext cx="562356" cy="475488"/>
          </a:xfrm>
          <a:prstGeom prst="rect">
            <a:avLst/>
          </a:prstGeom>
          <a:solidFill>
            <a:srgbClr val="136135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86600" y="3675888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#136135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420624" y="40965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DIV  발산형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20624" y="43159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기준선(전국 평균)에서 양쪽으로 갈리는 값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02736" y="4114800"/>
            <a:ext cx="562356" cy="475488"/>
          </a:xfrm>
          <a:prstGeom prst="rect">
            <a:avLst/>
          </a:prstGeom>
          <a:solidFill>
            <a:srgbClr val="08507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02736" y="4608576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#08507F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4183380" y="4114800"/>
            <a:ext cx="562356" cy="475488"/>
          </a:xfrm>
          <a:prstGeom prst="rect">
            <a:avLst/>
          </a:prstGeom>
          <a:solidFill>
            <a:srgbClr val="0B93EE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83380" y="4608576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#0B93EE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4764024" y="4114800"/>
            <a:ext cx="562356" cy="475488"/>
          </a:xfrm>
          <a:prstGeom prst="rect">
            <a:avLst/>
          </a:prstGeom>
          <a:solidFill>
            <a:srgbClr val="9AD3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64024" y="4608576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#9AD3FF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344668" y="4114800"/>
            <a:ext cx="562356" cy="475488"/>
          </a:xfrm>
          <a:prstGeom prst="rect">
            <a:avLst/>
          </a:prstGeom>
          <a:solidFill>
            <a:srgbClr val="EEF1F5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344668" y="4608576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#EEF1F5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5925312" y="4114800"/>
            <a:ext cx="562356" cy="475488"/>
          </a:xfrm>
          <a:prstGeom prst="rect">
            <a:avLst/>
          </a:prstGeom>
          <a:solidFill>
            <a:srgbClr val="FFC38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25312" y="4608576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#FFC38C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6505956" y="4114800"/>
            <a:ext cx="562356" cy="475488"/>
          </a:xfrm>
          <a:prstGeom prst="rect">
            <a:avLst/>
          </a:prstGeom>
          <a:solidFill>
            <a:srgbClr val="F5760D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05956" y="4608576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#F5760D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086600" y="4114800"/>
            <a:ext cx="562356" cy="475488"/>
          </a:xfrm>
          <a:prstGeom prst="rect">
            <a:avLst/>
          </a:prstGeom>
          <a:solidFill>
            <a:srgbClr val="8F3F03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086600" y="4608576"/>
            <a:ext cx="5623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#8F3F03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7882128" y="932688"/>
            <a:ext cx="387705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5" name="Text 73"/>
          <p:cNvSpPr/>
          <p:nvPr/>
        </p:nvSpPr>
        <p:spPr>
          <a:xfrm>
            <a:off x="8010144" y="93268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기본색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882128" y="1298448"/>
            <a:ext cx="402336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75904" y="13075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375904" y="149961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· 강조 바탕  #0F172A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9820656" y="1298448"/>
            <a:ext cx="402336" cy="402336"/>
          </a:xfrm>
          <a:prstGeom prst="rect">
            <a:avLst/>
          </a:prstGeom>
          <a:solidFill>
            <a:srgbClr val="475569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314432" y="130759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짙은 회색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0314432" y="149961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보조 글자  #475569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882128" y="1865376"/>
            <a:ext cx="402336" cy="402336"/>
          </a:xfrm>
          <a:prstGeom prst="rect">
            <a:avLst/>
          </a:prstGeom>
          <a:solidFill>
            <a:srgbClr val="94A3B8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375904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375904" y="2066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· 비활성  #94A3B8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9820656" y="1865376"/>
            <a:ext cx="402336" cy="402336"/>
          </a:xfrm>
          <a:prstGeom prst="rect">
            <a:avLst/>
          </a:prstGeom>
          <a:solidFill>
            <a:srgbClr val="E2E8F0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314432" y="187452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0314432" y="20665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구분선  #E2E8F0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882128" y="2432304"/>
            <a:ext cx="402336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75904" y="24414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375904" y="26334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안쪽 바탕  #F8FAFC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9820656" y="2432304"/>
            <a:ext cx="402336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314432" y="244144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흰색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0314432" y="26334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 · 모달 바탕  #FFFFFF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882128" y="2999232"/>
            <a:ext cx="402336" cy="402336"/>
          </a:xfrm>
          <a:prstGeom prst="rect">
            <a:avLst/>
          </a:prstGeom>
          <a:solidFill>
            <a:srgbClr val="33A8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375904" y="300837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375904" y="3200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· 활성 표시  #33A8FF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820656" y="2999232"/>
            <a:ext cx="402336" cy="402336"/>
          </a:xfrm>
          <a:prstGeom prst="rect">
            <a:avLst/>
          </a:prstGeom>
          <a:solidFill>
            <a:srgbClr val="E6F3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314432" y="300837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연강조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0314432" y="32004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항목 바탕  #E6F3FF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882128" y="4041648"/>
            <a:ext cx="3877056" cy="1005840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55280" y="4041648"/>
            <a:ext cx="3730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색은 값의 크기만 나타내고, 선택 여부는 테두리 굵기로만 표시한다. 색과 선택 상태를 겹쳐 쓰지 않아야 색맹 조건에서도 두 정보가 섞이지 않는다.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20624" y="5230368"/>
            <a:ext cx="11338560" cy="13807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20624" y="5230368"/>
            <a:ext cx="41148" cy="13807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4" name="Text 102"/>
          <p:cNvSpPr/>
          <p:nvPr/>
        </p:nvSpPr>
        <p:spPr>
          <a:xfrm>
            <a:off x="603504" y="5285232"/>
            <a:ext cx="110185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지표마다 색띠를 바꾸지 않고 성격별로 4종에 묶어 두었기 때문에, 지표를 바꿔도 색이 뜻하는 방향은 그대로 유지된다.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7단계로 고정한 이유는 시군구 229개를 나눴을 때 한 단계에 30여 곳이 들어가 지도에서 덩어리가 구분되는 크기이기 때문이다.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작업_2   타이포그래피 및 여백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Pretendard · 8단계 크기 규격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676656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크기 규격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1830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 본문 기준 · 숫자는 tabular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" y="1298448"/>
            <a:ext cx="6766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29844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제목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129844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px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0" y="12984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532120" y="12984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좌측 · 화면당 1회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20624" y="1810512"/>
            <a:ext cx="676656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8105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구역 제목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181051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px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0" y="181051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532120" y="181051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A · B · C 구역 머리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20624" y="2322576"/>
            <a:ext cx="6766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32257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제목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232257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px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43200" y="23225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6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936" dirty="0"/>
          </a:p>
        </p:txBody>
      </p:sp>
      <p:sp>
        <p:nvSpPr>
          <p:cNvPr id="24" name="Text 22"/>
          <p:cNvSpPr/>
          <p:nvPr/>
        </p:nvSpPr>
        <p:spPr>
          <a:xfrm>
            <a:off x="5532120" y="23225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카드 · 모달 탭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20624" y="2834640"/>
            <a:ext cx="676656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83464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 수치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20240" y="28346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px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2834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532120" y="283464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· 점수 등 핵심 값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20624" y="3346704"/>
            <a:ext cx="6766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3467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20240" y="334670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px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0" y="334670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4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864" dirty="0"/>
          </a:p>
        </p:txBody>
      </p:sp>
      <p:sp>
        <p:nvSpPr>
          <p:cNvPr id="34" name="Text 32"/>
          <p:cNvSpPr/>
          <p:nvPr/>
        </p:nvSpPr>
        <p:spPr>
          <a:xfrm>
            <a:off x="5532120" y="334670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문장 · 표 내용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20624" y="3858768"/>
            <a:ext cx="676656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85876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설명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20240" y="385876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px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0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92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792" dirty="0"/>
          </a:p>
        </p:txBody>
      </p:sp>
      <p:sp>
        <p:nvSpPr>
          <p:cNvPr id="39" name="Text 37"/>
          <p:cNvSpPr/>
          <p:nvPr/>
        </p:nvSpPr>
        <p:spPr>
          <a:xfrm>
            <a:off x="5532120" y="385876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· 출처 · 각주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20624" y="4370832"/>
            <a:ext cx="6766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3708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20240" y="437083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px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43200" y="43708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532120" y="4370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눈금 · 범례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20624" y="4882896"/>
            <a:ext cx="676656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48828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920240" y="4882896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px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43200" y="48828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8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229</a:t>
            </a:r>
            <a:endParaRPr lang="en-US" sz="648" dirty="0"/>
          </a:p>
        </p:txBody>
      </p:sp>
      <p:sp>
        <p:nvSpPr>
          <p:cNvPr id="49" name="Text 47"/>
          <p:cNvSpPr/>
          <p:nvPr/>
        </p:nvSpPr>
        <p:spPr>
          <a:xfrm>
            <a:off x="5532120" y="488289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시군구 이름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370064" y="932688"/>
            <a:ext cx="438912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1" name="Text 49"/>
          <p:cNvSpPr/>
          <p:nvPr/>
        </p:nvSpPr>
        <p:spPr>
          <a:xfrm>
            <a:off x="7498080" y="93268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여백 · 모서리 규격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70064" y="1298448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79792" y="12984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 바깥 여백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217152" y="12984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px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058400" y="129844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가장자리와 덱 사이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370064" y="1810512"/>
            <a:ext cx="438912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479792" y="18105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사이 선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217152" y="181051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px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058400" y="1810512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↔ 통계 패널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70064" y="2322576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79792" y="23225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안쪽 여백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9217152" y="232257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px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058400" y="2322576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테두리와 내용 사이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370064" y="2834640"/>
            <a:ext cx="438912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79792" y="28346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사이 간격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217152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px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058400" y="2834640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지표 항목 사이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370064" y="3346704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79792" y="33467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 반경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9217152" y="334670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px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10058400" y="3346704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 · 카드 · 모달 공통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370064" y="3858768"/>
            <a:ext cx="4389120" cy="475488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79792" y="38587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그림자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217152" y="385876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0 8 24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058400" y="3858768"/>
            <a:ext cx="1591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덱이 지도 위에 뜬 층 표시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370064" y="4443984"/>
            <a:ext cx="4389120" cy="877824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43216" y="4443984"/>
            <a:ext cx="424281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 반경과 그림자를 덱·카드·모달에 같은 값으로 적용해, 서로 다른 요소가 같은 층에 놓였는지 다른 층인지를 형태만으로 구분한다.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20624" y="5504688"/>
            <a:ext cx="11338560" cy="110642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79" name="Shape 77"/>
          <p:cNvSpPr/>
          <p:nvPr/>
        </p:nvSpPr>
        <p:spPr>
          <a:xfrm>
            <a:off x="420624" y="5504688"/>
            <a:ext cx="41148" cy="110642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0" name="Text 78"/>
          <p:cNvSpPr/>
          <p:nvPr/>
        </p:nvSpPr>
        <p:spPr>
          <a:xfrm>
            <a:off x="603504" y="5559552"/>
            <a:ext cx="110185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숫자에는 자리폭이 고정된 서체 설정을 적용해, 순위가 바뀔 때 자릿수가 흔들려 표가 들썩이지 않게 했다.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크기는 8단계로 제한했다. 단계를 늘리면 위계가 촘촘해지는 것이 아니라 오히려 구분이 흐려진다.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작업_3   헤더 · 흐름 막대 · 손잡이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상단 고정 요소 3종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79552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1263324"/>
            <a:ext cx="7955280" cy="27141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02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263324"/>
            <a:ext cx="7955280" cy="27141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263324"/>
            <a:ext cx="7955280" cy="271415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1664208"/>
            <a:ext cx="7918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 로고(SSI)와 화면 제목을 고정하고 오른쪽에 용어·방법론과 전체 데이터표를 놓았다. 화면을 어떻게 조작해도 이 줄은 자리를 지킨다. 배경이 지도이므로 반투명 대신 흰 바탕을 깔아 글자가 지형에 묻히지 않게 했다.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0624" y="2615184"/>
            <a:ext cx="79552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615184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20624" y="2933575"/>
            <a:ext cx="7955280" cy="117373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04-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933575"/>
            <a:ext cx="7955280" cy="117373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0624" y="2933575"/>
            <a:ext cx="7955280" cy="117373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8912" y="4224528"/>
            <a:ext cx="7918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→ 지표 → 지역 → 방법 순으로 지금 고른 값을 한 줄로 늘어놓는다. 조작부를 다시 펼치지 않고도 현재 화면이 어떤 조건으로 그려졌는지 확인할 수 있다. 항목 사이는 화살표가 아니라 가운뎃점으로 이어 조작 순서가 아닌 조건 나열임을 표시했다.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8595360" y="932688"/>
            <a:ext cx="31638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8723376" y="932688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손잡이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571126" y="1243584"/>
            <a:ext cx="1212291" cy="2871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05-ta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126" y="1243584"/>
            <a:ext cx="1212291" cy="287121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571126" y="1243584"/>
            <a:ext cx="1212291" cy="287121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13648" y="4224528"/>
            <a:ext cx="3127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패널을 여닫는 손잡이. 초안에서는 패널 안쪽 가운데에 있어 눈에 띄지 않았다. 덱 바깥으로 물려 라벨처럼 튀어나오게 바꾸고 세로 글자를 넣어, 접힌 상태에서도 무엇을 여는 단추인지 읽히게 했다.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6" name="Shape 2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상단 고정 요소는 모두 흰 바탕 위에 놓아 지도의 색 단계와 겹치지 않게 했다. 배경이 어떤 색으로 칠해지든 읽는 데 지장이 없다.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작업_4   조작부 컴포넌트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접이 목록 · 방법 선택 · 지역 선택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겹 접이 목록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95568" y="1243584"/>
            <a:ext cx="93209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07-side-grou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568" y="1243584"/>
            <a:ext cx="932096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795568" y="1243584"/>
            <a:ext cx="932096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3645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 안에 묶음 상자를 넣고 ＋/－ 로 여닫는다. 묶음 머리줄은 옅은 바탕으로 항목과 구분하고, 열린 묶음만 항목을 펼쳐 세로 길이를 줄였다. 고른 항목은 진한 바탕으로 남아 접힌 뒤에도 소속이 드러난다.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 선택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57820" y="1243584"/>
            <a:ext cx="286416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08-meth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820" y="1243584"/>
            <a:ext cx="2864168" cy="2834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57820" y="1243584"/>
            <a:ext cx="2864168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4169664"/>
            <a:ext cx="3645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방법을 계열별로 묶어 배치했다. 간격보존형 3방법과 순위전용형 1방법 사이에 구분선을 두어, 방법을 바꾸는 일이 같은 계열 안의 조정인지 계열을 넘는 전환인지 고르는 순간에 알 수 있게 했다.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선택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452144" y="1243584"/>
            <a:ext cx="93209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10-sg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144" y="1243584"/>
            <a:ext cx="932096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452144" y="1243584"/>
            <a:ext cx="932096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4169664"/>
            <a:ext cx="3645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시·도를 고르면 시·군·구 목록이 곧바로 그 안으로 좁혀지고 개수가 함께 표시된다. 접힌 상태에서도 고른 값이 머리줄에 남으며, 초기화 단추를 같은 칸에 두어 전국으로 한 번에 되돌린다.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6" name="Shape 2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조작부의 모든 요소는 눌렀을 때 무엇이 바뀌는지를 요소 자신이 설명한다. 별도의 안내 문구를 붙이지 않아도 되는 만큼 세로 길이를 아꼈다.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작업_5   통계 카드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과정 · 원자료 · 표준화 결과 · 분포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과정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4839" y="1243584"/>
            <a:ext cx="231019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15-card-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839" y="1243584"/>
            <a:ext cx="2310198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34839" y="1243584"/>
            <a:ext cx="2310198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 → 방향 반전 → 표준화 → 동일가중 합산 네 단계를 한 카드에 펼쳤다. 각 단계의 수식과 그 단계를 지난 값을 함께 적어, 결과 하나가 어떤 경로로 만들어졌는지 되짚을 수 있다.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원자료 지표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2076253"/>
            <a:ext cx="2738628" cy="116930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16-card-ra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076253"/>
            <a:ext cx="2738628" cy="116930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2076253"/>
            <a:ext cx="2738628" cy="116930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이전의 원래 값과 단위, 방향(높을수록 좋음/나쁨)을 함께 적는다. 방향이 반대인 지표는 반전 표시를 붙여, 값이 큰 쪽이 좋은지 나쁜지 오해가 생기지 않게 했다.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결과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330399" y="1243584"/>
            <a:ext cx="238565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17-card-st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399" y="1243584"/>
            <a:ext cx="2385654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330399" y="1243584"/>
            <a:ext cx="2385654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방법의 표준화 점수를 같은 축(0–100) 위에 나란히 놓는다. 값의 절대 크기보다 방법 간 간격이 먼저 눈에 들어오도록 축 범위를 고정하고 눈금을 최소로 줄였다.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분포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188523" y="1243584"/>
            <a:ext cx="2402695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/18-card-d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8523" y="1243584"/>
            <a:ext cx="2402695" cy="2834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188523" y="1243584"/>
            <a:ext cx="2402695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시군구의 점수 분포를 방법마다 같은 눈금으로 그렸다. 간격보존형은 한쪽으로 몰리고 백분위순위는 고르게 퍼지는 성질이 형태 차이로 그대로 드러난다.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카드 네 장은 값 하나를 놓고 "무엇으로 만들었나 → 원래 값은 → 방법마다 얼마인가 → 전국은 어떤 모양인가" 순으로 이어지며, 각 카드는 앞 카드의 답을 전제로 삼는다.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작업_6   차트 규격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· 산점도 · 목록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간 순위 이동 (범프)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99022" y="1243584"/>
            <a:ext cx="2325189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19-card-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022" y="1243584"/>
            <a:ext cx="2325189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99022" y="1243584"/>
            <a:ext cx="2325189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3645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방법에서의 전국 순위를 선으로 이어, 어느 방법에서 밀리고 어디에서 올라가는지를 한눈에 본다. 선이 가파를수록 방법 선택에 민감한 지역이다. 세로축은 순위이므로 위쪽이 1위가 되도록 뒤집었다.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 산점도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78525" y="1243584"/>
            <a:ext cx="222275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20-card-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525" y="1243584"/>
            <a:ext cx="2222757" cy="2834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78525" y="1243584"/>
            <a:ext cx="2222757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4169664"/>
            <a:ext cx="3645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가로축에 Min-Max 순위, 세로축에 백분위순위 순위를 놓고 대각선에서 벗어난 거리로 민감도를 읽는다. 대각선 위의 점은 두 방법에서 같은 순위인 지역이고, 멀어질수록 방법에 따라 평가가 갈린다.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큰 지역 목록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9162854" y="1243584"/>
            <a:ext cx="151067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21-card-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854" y="1243584"/>
            <a:ext cx="1510676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162854" y="1243584"/>
            <a:ext cx="1510676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4169664"/>
            <a:ext cx="36454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산점도에서 바깥으로 밀려난 시군구를 이동 폭 순으로 늘어놓았다. 그림에서 위치로만 보이던 값을 숫자로 확인하는 자리이며, 목록의 행을 누르면 지도와 통계가 그 지역으로 옮겨간다.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6" name="Shape 2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세 그림은 같은 값(순위 이동 폭)을 선 · 점 · 숫자 세 가지 형태로 보여준다. 형태를 바꿔 세 번 보여주는 이유는 하나의 표현만으로는 크기 감각과 개별 확인이 동시에 되지 않기 때문이다.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작업_7   지도 표현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단계 · 표시 전환 · 확대 · 실시간 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단계 적용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1261124"/>
            <a:ext cx="2738628" cy="2799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23-map-pct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261124"/>
            <a:ext cx="2738628" cy="27995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261124"/>
            <a:ext cx="2738628" cy="27995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7단계 색띠로 칠하고 범례를 지도 위에 항상 띄운다. 시군구 경계선은 흰색 가는 선으로만 그어 색 덩어리가 끊기지 않게 했고, 선택한 지역만 굵은 테두리로 감쌌다.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전환 스위치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2324689"/>
            <a:ext cx="2738628" cy="67243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25-maps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324689"/>
            <a:ext cx="2738628" cy="672431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2324689"/>
            <a:ext cx="2738628" cy="67243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보기 같은 표시 조건을 지도 위 스위치로 두었다. 조작부까지 돌아가지 않고 지도를 보면서 바로 켜고 끌 수 있어, 확인하는 동안 시선이 화면 왼쪽으로 끌려가지 않는다.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 · 축소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100379" y="1243584"/>
            <a:ext cx="84569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28-map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79" y="1243584"/>
            <a:ext cx="845694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100379" y="1243584"/>
            <a:ext cx="845694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단추를 지도 오른쪽 위에 세로로 쌓았다. 지도 위 요소는 모두 반투명 흰 바탕에 얹어, 아래에 어떤 색 단계가 깔리든 단추의 모양이 흐려지지 않게 했다.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띠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020556" y="2485259"/>
            <a:ext cx="2738628" cy="35129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/27-l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2485259"/>
            <a:ext cx="2738628" cy="35129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020556" y="2485259"/>
            <a:ext cx="2738628" cy="35129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마우스가 지나간 시군구의 이름 · 값 · 전국 순위를 지도 위쪽 띠에 즉시 띄운다. 클릭하지 않아도 값을 확인할 수 있어 전국을 훑는 속도가 크게 빨라진다.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 위에 얹는 요소는 네 가지(범례 · 스위치 · 확대 단추 · 실시간 띠)로 제한하고 모두 모서리 쪽에 붙였다. 지도의 가운데는 언제나 비워 둔다.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작업_8   모달 · 데이터표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검증과 설명을 화면 위에 겹쳐 연다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1760655"/>
            <a:ext cx="2738628" cy="180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/35-table-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60655"/>
            <a:ext cx="2738628" cy="180049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760655"/>
            <a:ext cx="2738628" cy="180049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× 40개 컬럼을 정렬해 확인한다. 머리줄을 고정해 아래로 내려가도 컬럼 이름을 잃지 않고, 지도에서 고른 지역의 행은 자동으로 강조되어 찾을 필요가 없다.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 · 방법론 (탭 1)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1244520"/>
            <a:ext cx="2738628" cy="283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/37-glossary-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1244520"/>
            <a:ext cx="2738628" cy="28327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1244520"/>
            <a:ext cx="2738628" cy="283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 탭. 표준화 · 부문지수 · 순위 이동 폭 같은 말을 짧은 문장으로 정의했다. 화면을 떠나지 않고 그 자리에서 열리므로 확인 후 닫으면 원래 상태로 돌아온다.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 (탭 2)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54576" y="1243584"/>
            <a:ext cx="25373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/38-gloss-metho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76" y="1243584"/>
            <a:ext cx="2537300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54576" y="1243584"/>
            <a:ext cx="2537300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방법의 수식과 성질을 같은 형식으로 늘어놓았다. 계열(간격보존형 / 순위전용형)을 함께 표시해, 방법을 고르는 일이 무엇을 포기하고 무엇을 얻는 선택인지 드러낸다.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컬럼사전 (탭 3)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335217" y="1243584"/>
            <a:ext cx="210930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/39-gloss-c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217" y="1243584"/>
            <a:ext cx="2109306" cy="2834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335217" y="1243584"/>
            <a:ext cx="2109306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40개 컬럼의 전체 이름 · 단위 · 방향 · 계산 근거를 정리했다. 화면에 축약어로 표시되는 지표명이 실제로 무엇을 뜻하는지 확인하는 자리다.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모달 두 개는 모두 화면을 덮지 않고 가운데에 겹쳐 열린다. 뒤에 남은 화면이 흐리게 비치므로, 확인이 끝나면 어디로 돌아가는지 열려 있는 동안에도 알 수 있다.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작업_9   커서 되먹임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조준점 / 조작부 원형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— 조준점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47872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십자선 + 바깥 링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73352" y="1280160"/>
            <a:ext cx="309067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40-cur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280160"/>
            <a:ext cx="3090672" cy="23774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73352" y="1280160"/>
            <a:ext cx="3090672" cy="23774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3749040"/>
            <a:ext cx="5596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위에서는 포인터가 십자 조준점으로 바뀐다. 시군구 경계가 촘촘한 수도권에서 어느 지점을 누르는 중인지 정확히 겨냥할 수 있도록, 화살표 대신 중심점이 분명한 형태를 골랐다. 바깥 링은 커서를 0.22의 비율로 따라오며 살짝 늦게 붙어, 빠르게 움직일 때 잔상처럼 방향을 남긴다.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163056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2"/>
          <p:cNvSpPr/>
          <p:nvPr/>
        </p:nvSpPr>
        <p:spPr>
          <a:xfrm>
            <a:off x="6291072" y="93268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· 단추 위 — 원형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29030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확대 + 클릭 시 축소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63056" y="1415491"/>
            <a:ext cx="5596128" cy="210677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Image 1" descr="/home/claude/patch/shots/41-cur-bt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415491"/>
            <a:ext cx="5596128" cy="210677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163056" y="1415491"/>
            <a:ext cx="5596128" cy="210677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63056" y="3749040"/>
            <a:ext cx="55961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조작할 수 있는 요소 위에서는 링이 커지고 안쪽 점이 사라진다. 누른 순간에는 링이 줄어들었다가 손을 떼면 되돌아와, 클릭이 실제로 들어갔는지를 값이 바뀌기 전에 먼저 알 수 있다. 마우스가 있는 환경에서만 켜지며, 터치 기기에서는 기본 포인터를 그대로 둔다.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20624" y="5029200"/>
            <a:ext cx="2194560" cy="51206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20624" y="50657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20624" y="5276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점 + 가는 링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706624" y="5029200"/>
            <a:ext cx="2194560" cy="51206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706624" y="50657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가능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2706624" y="5276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확대 · 점 숨김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4992624" y="5029200"/>
            <a:ext cx="2194560" cy="51206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992624" y="50657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누름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992624" y="5276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 축소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278624" y="5029200"/>
            <a:ext cx="2194560" cy="51206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278624" y="50657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278624" y="5276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 조준점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9564624" y="5029200"/>
            <a:ext cx="2194560" cy="51206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564624" y="50657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비활성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9564624" y="5276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포인터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20624" y="5687568"/>
            <a:ext cx="11338560" cy="9235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7" name="Shape 33"/>
          <p:cNvSpPr/>
          <p:nvPr/>
        </p:nvSpPr>
        <p:spPr>
          <a:xfrm>
            <a:off x="420624" y="5687568"/>
            <a:ext cx="41148" cy="9235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8" name="Text 34"/>
          <p:cNvSpPr/>
          <p:nvPr/>
        </p:nvSpPr>
        <p:spPr>
          <a:xfrm>
            <a:off x="603504" y="5742432"/>
            <a:ext cx="11018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커서는 화면의 성격을 알려주는 가장 값싼 신호다. 지도 위인지 조작부인지를 글자나 색을 쓰지 않고 형태만으로 구분해, 다른 요소의 자리를 뺏지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작업_10   최종 화면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결과 4종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화면 — Min-Max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96381" y="1261872"/>
            <a:ext cx="264461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/01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381" y="1261872"/>
            <a:ext cx="2644615" cy="157276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96381" y="1261872"/>
            <a:ext cx="2644615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2871216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배경 + 떠 있는 덱 + 흐름 막대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932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01968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전환 — 백분위순위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02237" y="1261872"/>
            <a:ext cx="264461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Image 1" descr="/home/claude/patch/shots/22-pctr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7" y="1261872"/>
            <a:ext cx="2644615" cy="157276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602237" y="1261872"/>
            <a:ext cx="2644615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2871216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지표 · 같은 범위, 색 분포만 달라진다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20624" y="3328416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2" name="Text 18"/>
          <p:cNvSpPr/>
          <p:nvPr/>
        </p:nvSpPr>
        <p:spPr>
          <a:xfrm>
            <a:off x="512064" y="33284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96112" y="3328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 나란히 비교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1896381" y="3657600"/>
            <a:ext cx="264461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Image 2" descr="/home/claude/patch/shots/32-comp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381" y="3657600"/>
            <a:ext cx="2644615" cy="157276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896381" y="3657600"/>
            <a:ext cx="2644615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0624" y="5266944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지도에 같은 조작이 동시에 걸린다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126480" y="3328416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6217920" y="33284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601968" y="3328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전환 — 지역사회 건강도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602237" y="3657600"/>
            <a:ext cx="2644615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2" name="Image 3" descr="/home/claude/patch/shots/29-s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237" y="3657600"/>
            <a:ext cx="2644615" cy="1572768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602237" y="3657600"/>
            <a:ext cx="2644615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26480" y="5266944"/>
            <a:ext cx="5596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7개 부문에서도 조작부에 스크롤이 없다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6" name="Shape 30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7" name="Text 31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네 화면은 모두 같은 원자료를 쓰며 달라지는 것은 표준화 방법과 부문, 그리고 보여주는 방식뿐이다. 화면 구조는 어떤 조건에서도 흔들리지 않는다.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이 자료의 모든 캡쳐는 실제 빌드에서 보정 없이 옮긴 것이며, 각 화면은 URL 해시만으로 그대로 다시 열 수 있다.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/pen-dar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3200400" y="-1097280"/>
            <a:ext cx="5852160" cy="5477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5410048" y="3703320"/>
            <a:ext cx="1371600" cy="256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95020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파일럿 분석결과(229개 시군구 · 40개 컬럼)를 기준으로 작성되었습니다.</a:t>
            </a:r>
            <a:endParaRPr lang="en-US" sz="9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방법에 따른 순위 변동은 지수 해석의 전제 조건이며, 방법 선택은 정책 목적에 따라 달라집니다.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0" y="627278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표준화 민감도 진단 대시보드  |  ssi-dashboard  |  단일 파일 웹 애플리케이션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SSI 대시보드 화면 분석 자료</dc:title>
  <dc:subject>PptxGenJS Presentation</dc:subject>
  <dc:creator>SSI 분석</dc:creator>
  <cp:lastModifiedBy>SSI 분석</cp:lastModifiedBy>
  <cp:revision>1</cp:revision>
  <dcterms:created xsi:type="dcterms:W3CDTF">2026-07-27T05:41:00Z</dcterms:created>
  <dcterms:modified xsi:type="dcterms:W3CDTF">2026-07-27T05:41:00Z</dcterms:modified>
</cp:coreProperties>
</file>