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</p:sldIdLst>
  <p:notesMasterIdLst>
    <p:notesMasterId r:id="rId7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image" Target="../media/image-4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image" Target="../media/image-4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image" Target="../media/image-4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image" Target="../media/image-4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png"/><Relationship Id="rId4" Type="http://schemas.openxmlformats.org/officeDocument/2006/relationships/image" Target="../media/image-50-4.png"/><Relationship Id="rId5" Type="http://schemas.openxmlformats.org/officeDocument/2006/relationships/image" Target="../media/image-5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png"/><Relationship Id="rId3" Type="http://schemas.openxmlformats.org/officeDocument/2006/relationships/image" Target="../media/image-51-3.png"/><Relationship Id="rId4" Type="http://schemas.openxmlformats.org/officeDocument/2006/relationships/image" Target="../media/image-5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png"/><Relationship Id="rId3" Type="http://schemas.openxmlformats.org/officeDocument/2006/relationships/image" Target="../media/image-53-3.png"/><Relationship Id="rId4" Type="http://schemas.openxmlformats.org/officeDocument/2006/relationships/image" Target="../media/image-53-4.png"/><Relationship Id="rId5" Type="http://schemas.openxmlformats.org/officeDocument/2006/relationships/image" Target="../media/image-53-5.png"/><Relationship Id="rId6" Type="http://schemas.openxmlformats.org/officeDocument/2006/relationships/image" Target="../media/image-5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image" Target="../media/image-54-3.png"/><Relationship Id="rId4" Type="http://schemas.openxmlformats.org/officeDocument/2006/relationships/image" Target="../media/image-5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png"/><Relationship Id="rId3" Type="http://schemas.openxmlformats.org/officeDocument/2006/relationships/image" Target="../media/image-55-3.png"/><Relationship Id="rId4" Type="http://schemas.openxmlformats.org/officeDocument/2006/relationships/image" Target="../media/image-5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png"/><Relationship Id="rId3" Type="http://schemas.openxmlformats.org/officeDocument/2006/relationships/image" Target="../media/image-56-3.png"/><Relationship Id="rId4" Type="http://schemas.openxmlformats.org/officeDocument/2006/relationships/image" Target="../media/image-5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png"/><Relationship Id="rId3" Type="http://schemas.openxmlformats.org/officeDocument/2006/relationships/image" Target="../media/image-57-3.png"/><Relationship Id="rId4" Type="http://schemas.openxmlformats.org/officeDocument/2006/relationships/image" Target="../media/image-5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image" Target="../media/image-5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png"/><Relationship Id="rId3" Type="http://schemas.openxmlformats.org/officeDocument/2006/relationships/image" Target="../media/image-59-3.png"/><Relationship Id="rId4" Type="http://schemas.openxmlformats.org/officeDocument/2006/relationships/image" Target="../media/image-5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png"/><Relationship Id="rId3" Type="http://schemas.openxmlformats.org/officeDocument/2006/relationships/image" Target="../media/image-60-3.png"/><Relationship Id="rId4" Type="http://schemas.openxmlformats.org/officeDocument/2006/relationships/image" Target="../media/image-60-4.png"/><Relationship Id="rId5" Type="http://schemas.openxmlformats.org/officeDocument/2006/relationships/image" Target="../media/image-6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png"/><Relationship Id="rId3" Type="http://schemas.openxmlformats.org/officeDocument/2006/relationships/image" Target="../media/image-62-3.png"/><Relationship Id="rId4" Type="http://schemas.openxmlformats.org/officeDocument/2006/relationships/image" Target="../media/image-6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png"/><Relationship Id="rId3" Type="http://schemas.openxmlformats.org/officeDocument/2006/relationships/image" Target="../media/image-66-3.png"/><Relationship Id="rId4" Type="http://schemas.openxmlformats.org/officeDocument/2006/relationships/image" Target="../media/image-6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png"/><Relationship Id="rId3" Type="http://schemas.openxmlformats.org/officeDocument/2006/relationships/image" Target="../media/image-67-3.png"/><Relationship Id="rId4" Type="http://schemas.openxmlformats.org/officeDocument/2006/relationships/image" Target="../media/image-67-4.png"/><Relationship Id="rId5" Type="http://schemas.openxmlformats.org/officeDocument/2006/relationships/image" Target="../media/image-6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png"/><Relationship Id="rId3" Type="http://schemas.openxmlformats.org/officeDocument/2006/relationships/image" Target="../media/image-69-3.png"/><Relationship Id="rId4" Type="http://schemas.openxmlformats.org/officeDocument/2006/relationships/image" Target="../media/image-6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png"/><Relationship Id="rId3" Type="http://schemas.openxmlformats.org/officeDocument/2006/relationships/image" Target="../media/image-71-3.png"/><Relationship Id="rId4" Type="http://schemas.openxmlformats.org/officeDocument/2006/relationships/image" Target="../media/image-7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png"/><Relationship Id="rId3" Type="http://schemas.openxmlformats.org/officeDocument/2006/relationships/image" Target="../media/image-72-3.png"/><Relationship Id="rId4" Type="http://schemas.openxmlformats.org/officeDocument/2006/relationships/image" Target="../media/image-7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png"/><Relationship Id="rId3" Type="http://schemas.openxmlformats.org/officeDocument/2006/relationships/image" Target="../media/image-74-3.png"/><Relationship Id="rId4" Type="http://schemas.openxmlformats.org/officeDocument/2006/relationships/image" Target="../media/image-7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-21q/pen-dark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406640" y="-822960"/>
            <a:ext cx="5852160" cy="54772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4718304"/>
            <a:ext cx="3657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85800" y="543153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SPATIAL ANALYSIS LAB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58368" y="1463040"/>
            <a:ext cx="8412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</a:t>
            </a:r>
            <a:endParaRPr lang="en-US" sz="33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민감도 진단 대시보드</a:t>
            </a:r>
            <a:endParaRPr lang="en-US" sz="33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분석 자료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85800" y="3255264"/>
            <a:ext cx="1371600" cy="256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" y="3456432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This document covers the information architecture, screen-level analysis, wireframe service flow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and visual design of the SSI dashboard. All screen captures are taken from the built application.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58368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 표준화 민감도 진단 대시보드  |  ssi-dashboard  |  단일 파일 웹 애플리케이션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-21q/pen-dark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766560" y="-502920"/>
            <a:ext cx="6035040" cy="5641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  ·  SPATIAL ANALYSIS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760720" y="347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O1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및 화면 구조 분석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94360" y="4315968"/>
            <a:ext cx="1097280" cy="21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498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화면을 거치는 순서대로 기능을 늘어놓고, 그 기능이 어느 화면 조각에 속하는지 나눈다.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액션(여정) 단위의 화면 구성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화면별 기능 상세 정리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화면 구조(I.A) 분류 체계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기능 유형 및 레이아웃 유형 배정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및 화면 구조 분석 (I.A)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3  ·  액션 여정별 기능 정리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896112"/>
          <a:ext cx="11338560" cy="914400"/>
        </p:xfrm>
        <a:graphic>
          <a:graphicData uri="http://schemas.openxmlformats.org/drawingml/2006/table">
            <a:tbl>
              <a:tblPr/>
              <a:tblGrid>
                <a:gridCol w="402336"/>
                <a:gridCol w="1298448"/>
                <a:gridCol w="1737360"/>
                <a:gridCol w="4919472"/>
                <a:gridCol w="2980944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액션 (여정)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상세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구조 (I.A)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고르기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A. 시작 화면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자료가 들어온 여섯 부문을 카드로 펼치고 지표 수와 연도 범위를 함께 보여준다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아직 자료가 없는 네 부문은 아래 띠에 흐리게 두어 지표체계 전체를 보이게 한다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카드를 누르면 그 부문만 들고 본 화면으로 들어간다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 시작 화면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A-1 부문 카드 6 (LP)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A-2 자료 준비중 4 (LP)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담기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지표 고르기 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부문의 지표 카드를 펴고, 정의·단위·산식·출처·방향을 카드에서 바로 읽는다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지표마다 있는 연도 단추를 눌러 원하는 해로 담는다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부문의 지표도 검색으로 찾아 함께 담을 수 있다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B-1 부문 목록 (PK)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B-2 지표 카드 (PK)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B-3 담은 목록 (PK)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 정하기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C. 조작부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1단계 지표 선택과 2단계 표준화 방법만 반드시 거치도록 순서를 고정한다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2단계는 기본값이 이미 잡혀 있어 닿는 즉시 통계창까지 열린다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색 기준은 선택 칸으로 따로 떼어 아래에 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C-1 1 지표 선택 (SB)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C-2 2 표준화 방법 (SB)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C-3 · 지도 색 기준 (SB)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종합 읽기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D. 통계창 본문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 229개 시군구의 부문점수 분포·상하위·시도별 평균을 세 칸으로 편다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지도에서 시군구를 고르면 그 지역 진단표가 본문 맨 위로 올라온다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탭 없이 위에서 아래로 한 번만 훑으면 결론까지 닿는다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D-1 전국 요약 4칸 (CP)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D-2 선택 지역 진단표 (CP)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D-3 흐름 막대 (CP)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펼치기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E. 서랍 두 짝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 민감도 서랍 — 방법별 점수 분포, 방법 간 순위 이동, 민감도 산점도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원데이터 서랍 — 선택 지역 원값, 전국 원값, 축을 직접 고르는 지표 간 산점도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서랍 모두 처음부터 펴 둔 채로 들어가며 필요할 때 접는다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E-1 표준화 민감도 (DR)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E-2 원데이터 (DR)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E-3 접기·펴기 (DR)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 좁혀 보기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F. 지도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값을 색 단계로 칠하고 시군구 이름표를 얹으며 범례에서 구간 나누는 방식을 고른다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시군구를 고르면 그 지역이 굵게 둘리고 통계창 본문 맨 위로 올라온다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전국으로 돌아가는 길을 지도·흐름 막대·머리줄 세 자리에 같이 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 색 단계 · 이름표 (MP)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F-2 범례 · 지도 도구 (MP)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F-3 전국으로 돌아가기 (MP)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· 내보내기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G. 나란히 비교 · 내려받기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조합을 좌우에 놓고 색 구간이 갈리는 곳과 10계단 이상 움직인 곳을 센다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지도는 shp·GeoJSON·CSV 로, 통계는 CSV·엑셀·PNG 로 내려받는다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담은 지표까지 URL 해시 열 개 키에 담아 같은 계산 결과를 주소로 넘긴다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G-1 나란히 비교 (MP)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G-2 내려받기 차림표 (EX)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G-3 데이터표 · 상태 공유 (DT·CR)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여정은 부문 고르기 → 지표 담기 → 방법 정하기 → 부문 종합 읽기 → 근거 펼치기 → 지역 좁혀 보기 → 비교·내보내기 일곱 단계이며, 통계창 위의 흐름 막대가 지금까지 고른 값을 한 줄로 되짚어 준다.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기능 코드는 화면 조각 단위로 LP(시작 화면) · HD(머리줄) · PK(지표 고르기 창) · SB(조작부) · MP(지도) · CP(통계창 본문) · DR(서랍) · EX(내려받기) · DT(데이터표) · CR(상태 공유) 열 갈래로 나눈다.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및 화면 구조 분석 (I.A)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3  ·  기능 유형 분류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877824"/>
          <a:ext cx="1133856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207008"/>
                <a:gridCol w="1572768"/>
                <a:gridCol w="3858768"/>
                <a:gridCol w="786384"/>
                <a:gridCol w="352958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액션 (여정)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상세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유형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구조 (I.A)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고르기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A. 시작 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여섯 부문을 카드로 펼쳐 지표 수와 연도를 보이고, 고른 부문만 들고 본 화면으로 들어간다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 시작 화면  ·  A-1 부문 카드 6 (LP)  ·  A-2 자료 준비중 4 (LP)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담기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지표 고르기 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카드에서 정의·산식·출처·방향을 읽고 연도 단추로 원하는 해를 담는다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B-1 부문 목록 (PK)  ·  B-2 지표 카드 (PK)  ·  B-3 담은 목록 (PK)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 정하기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C. 조작부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지표 선택 → 2 표준화 방법 두 칸만 필수로 두고, 지도 색 기준은 선택 칸으로 뺀다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C-1 1 지표 선택 (SB)  ·  C-2 2 표준화 방법 (SB)  ·  C-3 · 지도 색 기준 (SB)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종합 읽기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D. 통계창 본문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 요약 세 칸을 훑고, 지도에서 고른 시군구는 진단표로 본문 맨 위에 올린다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D-1 전국 요약 4칸 (CP)  ·  D-2 선택 지역 진단표 (CP)  ·  D-3 흐름 막대 (CP)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펼치기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E. 서랍 두 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 민감도 · 원데이터 두 서랍을 펴 둔 채 근거를 이어서 읽는다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E-1 표준화 민감도 (DR)  ·  E-2 원데이터 (DR)  ·  E-3 접기·펴기 (DR)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 좁혀 보기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F. 지도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 단계·이름표·범례로 전국을 훑고, 고른 지역과 전국을 세 자리 단추로 오간다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 색 단계 · 이름표 (MP)  ·  F-2 범례 · 지도 도구 (MP)  ·  F-3 전국으로 돌아가기 (MP)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· 내보내기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G. 나란히 비교 · 내려받기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조합을 좌우로 놓고 대조하며, 지도·통계를 파일로 내리고 화면 상태를 주소로 넘긴다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편의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828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G-1 나란히 비교 (MP)  ·  G-2 내려받기 차림표 (EX)  ·  G-3 데이터표 · 상태 공유 (DT·CR)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4956048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95604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유형 구분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90304" y="49560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갈래로 나누어 화면 조각마다 어떤 성격의 조작이 모여 있는지 본다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0624" y="5285232"/>
            <a:ext cx="2743200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20624" y="5285232"/>
            <a:ext cx="45720" cy="457200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5303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54772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고르는 조작 — 부문 · 지표 · 연도 · 표준화 방법 · 지도 색 기준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3273552" y="5285232"/>
            <a:ext cx="2743200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73552" y="5285232"/>
            <a:ext cx="45720" cy="457200"/>
          </a:xfrm>
          <a:prstGeom prst="rect">
            <a:avLst/>
          </a:prstGeom>
          <a:solidFill>
            <a:srgbClr val="2FA95C"/>
          </a:solidFill>
          <a:ln/>
        </p:spPr>
      </p:sp>
      <p:sp>
        <p:nvSpPr>
          <p:cNvPr id="17" name="Text 14"/>
          <p:cNvSpPr/>
          <p:nvPr/>
        </p:nvSpPr>
        <p:spPr>
          <a:xfrm>
            <a:off x="3401568" y="5303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401568" y="54772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화면을 바꾸는 조작 — 이름표 · 서랍 접기 · 통계창 접기 · 전국으로 돌아가기</a:t>
            </a:r>
            <a:endParaRPr lang="en-US" sz="700" dirty="0"/>
          </a:p>
        </p:txBody>
      </p:sp>
      <p:sp>
        <p:nvSpPr>
          <p:cNvPr id="19" name="Shape 16"/>
          <p:cNvSpPr/>
          <p:nvPr/>
        </p:nvSpPr>
        <p:spPr>
          <a:xfrm>
            <a:off x="6126480" y="5285232"/>
            <a:ext cx="2743200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126480" y="5285232"/>
            <a:ext cx="45720" cy="45720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21" name="Text 18"/>
          <p:cNvSpPr/>
          <p:nvPr/>
        </p:nvSpPr>
        <p:spPr>
          <a:xfrm>
            <a:off x="6254496" y="5303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254496" y="54772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값을 그림으로 보여주는 것 — 색 단계 지도 · 분포 · 순위 이동 · 산점도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8979408" y="5285232"/>
            <a:ext cx="2743200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979408" y="5285232"/>
            <a:ext cx="45720" cy="457200"/>
          </a:xfrm>
          <a:prstGeom prst="rect">
            <a:avLst/>
          </a:prstGeom>
          <a:solidFill>
            <a:srgbClr val="7A828C"/>
          </a:solidFill>
          <a:ln/>
        </p:spPr>
      </p:sp>
      <p:sp>
        <p:nvSpPr>
          <p:cNvPr id="25" name="Text 22"/>
          <p:cNvSpPr/>
          <p:nvPr/>
        </p:nvSpPr>
        <p:spPr>
          <a:xfrm>
            <a:off x="9107424" y="53035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9107424" y="5477256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읽기를 돕는 것 — 내려받기 · 데이터표 · 데이터 설명 · 용어 · 상태 공유</a:t>
            </a:r>
            <a:endParaRPr lang="en-US" sz="700" dirty="0"/>
          </a:p>
        </p:txBody>
      </p:sp>
      <p:sp>
        <p:nvSpPr>
          <p:cNvPr id="27" name="Shape 24"/>
          <p:cNvSpPr/>
          <p:nvPr/>
        </p:nvSpPr>
        <p:spPr>
          <a:xfrm>
            <a:off x="420624" y="5925312"/>
            <a:ext cx="11338560" cy="6858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28" name="Shape 25"/>
          <p:cNvSpPr/>
          <p:nvPr/>
        </p:nvSpPr>
        <p:spPr>
          <a:xfrm>
            <a:off x="420624" y="5925312"/>
            <a:ext cx="41148" cy="68580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603504" y="5980176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고르는 조작은 시작 화면 · 지표 고르기 창 · 조작부 세 자리에만 두고, 실행 조작은 효과가 보이는 자리에 붙여 눌러야 할 곳을 찾지 않게 했다.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및 화면 구조 분석 (I.A)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3  ·  레이아웃 유형 배정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877824"/>
          <a:ext cx="11338560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1207008"/>
                <a:gridCol w="1572768"/>
                <a:gridCol w="3858768"/>
                <a:gridCol w="786384"/>
                <a:gridCol w="352958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No.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액션 (여정)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 상세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레이아웃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구조 (I.A)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고르기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A. 시작 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여섯 부문을 카드로 펼쳐 지표 수와 연도를 보이고, 고른 부문만 들고 본 화면으로 들어간다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 시작 화면  ·  A-1 부문 카드 6 (LP)  ·  A-2 자료 준비중 4 (LP)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담기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B. 지표 고르기 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카드에서 정의·산식·출처·방향을 읽고 연도 단추로 원하는 해를 담는다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B-1 부문 목록 (PK)  ·  B-2 지표 카드 (PK)  ·  B-3 담은 목록 (PK)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 정하기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C. 조작부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지표 선택 → 2 표준화 방법 두 칸만 필수로 두고, 지도 색 기준은 선택 칸으로 뺀다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A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C-1 1 지표 선택 (SB)  ·  C-2 2 표준화 방법 (SB)  ·  C-3 · 지도 색 기준 (SB)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종합 읽기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D. 통계창 본문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 요약 세 칸을 훑고, 지도에서 고른 시군구는 진단표로 본문 맨 위에 올린다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D-1 전국 요약 4칸 (CP)  ·  D-2 선택 지역 진단표 (CP)  ·  D-3 흐름 막대 (CP)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펼치기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E. 서랍 두 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 민감도 · 원데이터 두 서랍을 펴 둔 채 근거를 이어서 읽는다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A2B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E-1 표준화 민감도 (DR)  ·  E-2 원데이터 (DR)  ·  E-3 접기·펴기 (DR)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 좁혀 보기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F. 지도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 단계·이름표·범례로 전국을 훑고, 고른 지역과 전국을 세 자리 단추로 오간다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F-1 색 단계 · 이름표 (MP)  ·  F-2 범례 · 지도 도구 (MP)  ·  F-3 전국으로 돌아가기 (MP)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· 내보내기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G. 나란히 비교 · 내려받기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조합을 좌우로 놓고 대조하며, 지도·통계를 파일로 내리고 화면 상태를 주소로 넘긴다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5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G-1 나란히 비교 (MP)  ·  G-2 내려받기 차림표 (EX)  ·  G-3 데이터표 · 상태 공유 (DT·CR)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4956048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95604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레이아웃 유형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90304" y="495604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자리에 같은 성격의 화면이 오도록 세 벌만 쓴다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0624" y="5285232"/>
            <a:ext cx="3694176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30352" y="5394960"/>
            <a:ext cx="237744" cy="237744"/>
          </a:xfrm>
          <a:prstGeom prst="ellipse">
            <a:avLst/>
          </a:prstGeom>
          <a:solidFill>
            <a:srgbClr val="F4C542"/>
          </a:solidFill>
          <a:ln/>
        </p:spPr>
      </p:sp>
      <p:sp>
        <p:nvSpPr>
          <p:cNvPr id="13" name="Text 10"/>
          <p:cNvSpPr/>
          <p:nvPr/>
        </p:nvSpPr>
        <p:spPr>
          <a:xfrm>
            <a:off x="530352" y="5394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41248" y="5312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배치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41248" y="5477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전체를 하나가 덮는 형태. 부문을 고르는 시작 화면과, 지도가 배경으로 깔린 본 화면이 여기에 속한다.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4224528" y="5285232"/>
            <a:ext cx="3694176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34256" y="5394960"/>
            <a:ext cx="237744" cy="237744"/>
          </a:xfrm>
          <a:prstGeom prst="ellipse">
            <a:avLst/>
          </a:prstGeom>
          <a:solidFill>
            <a:srgbClr val="2FA95C"/>
          </a:solidFill>
          <a:ln/>
        </p:spPr>
      </p:sp>
      <p:sp>
        <p:nvSpPr>
          <p:cNvPr id="18" name="Text 15"/>
          <p:cNvSpPr/>
          <p:nvPr/>
        </p:nvSpPr>
        <p:spPr>
          <a:xfrm>
            <a:off x="4334256" y="5394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645152" y="5312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목록 · 세 칸 창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645152" y="5477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 고를 것을 세로로 쌓는 형태. 단계가 번호로 매겨진 조작부와, 목록·카드·담은 것 세 칸으로 나눈 지표 고르기 창이 여기에 속한다.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8028432" y="5285232"/>
            <a:ext cx="3694176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38160" y="5394960"/>
            <a:ext cx="237744" cy="237744"/>
          </a:xfrm>
          <a:prstGeom prst="ellipse">
            <a:avLst/>
          </a:prstGeom>
          <a:solidFill>
            <a:srgbClr val="17A2B8"/>
          </a:solidFill>
          <a:ln/>
        </p:spPr>
      </p:sp>
      <p:sp>
        <p:nvSpPr>
          <p:cNvPr id="23" name="Text 20"/>
          <p:cNvSpPr/>
          <p:nvPr/>
        </p:nvSpPr>
        <p:spPr>
          <a:xfrm>
            <a:off x="8138160" y="5394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449056" y="5312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+ 서랍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449056" y="547725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통계창 안에서 부문 종합을 본문으로 두고 근거를 서랍 두 짝에 접어 두는 형태. 읽기와 비교가 여기에 속한다.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420624" y="5925312"/>
            <a:ext cx="11338560" cy="6858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27" name="Shape 24"/>
          <p:cNvSpPr/>
          <p:nvPr/>
        </p:nvSpPr>
        <p:spPr>
          <a:xfrm>
            <a:off x="420624" y="5925312"/>
            <a:ext cx="41148" cy="68580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8" name="Text 25"/>
          <p:cNvSpPr/>
          <p:nvPr/>
        </p:nvSpPr>
        <p:spPr>
          <a:xfrm>
            <a:off x="603504" y="5980176"/>
            <a:ext cx="11018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레이아웃을 세 벌로 묶어 두면 부문을 바꿔 다시 들어와도 조작이 놓인 자리가 바뀌지 않아, 두 번째 부문부터는 찾지 않고 누른다.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-21q/pen-dark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766560" y="-502920"/>
            <a:ext cx="6035040" cy="5641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  ·  SPATIAL ANALYSIS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760720" y="347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O2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 상세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94360" y="4315968"/>
            <a:ext cx="1097280" cy="21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498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완성된 화면을 영역별로 나누어, 각 영역이 무엇으로 이루어져 있고 화면에서 어떤 일을 맡는지 정리한다.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화면 개요 및 데이터 범위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영역별 구성 요약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WEB UI 영역 구분 (조작부 · 지도 · 통계창)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영역별 기능 13건 및 기능 명세 · 종합 정리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개요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목적 · 데이터 범위 · 구성 방식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1792224" cy="8412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" y="1005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20624" y="14264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시군구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322576" y="932688"/>
            <a:ext cx="1792224" cy="8412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1" name="Text 9"/>
          <p:cNvSpPr/>
          <p:nvPr/>
        </p:nvSpPr>
        <p:spPr>
          <a:xfrm>
            <a:off x="2322576" y="1005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322576" y="14264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(가동 6)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24528" y="932688"/>
            <a:ext cx="1792224" cy="8412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1005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224528" y="14264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932688"/>
            <a:ext cx="1792224" cy="8412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005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98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126480" y="14264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× 연도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028432" y="932688"/>
            <a:ext cx="1792224" cy="8412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8"/>
          <p:cNvSpPr/>
          <p:nvPr/>
        </p:nvSpPr>
        <p:spPr>
          <a:xfrm>
            <a:off x="8028432" y="1005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028432" y="14264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930384" y="932688"/>
            <a:ext cx="1792224" cy="8412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3" name="Text 21"/>
          <p:cNvSpPr/>
          <p:nvPr/>
        </p:nvSpPr>
        <p:spPr>
          <a:xfrm>
            <a:off x="9930384" y="1005840"/>
            <a:ext cx="1792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930384" y="1426464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 2019~2025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20624" y="1975104"/>
            <a:ext cx="369417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1975104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목적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0624" y="2249424"/>
            <a:ext cx="3694176" cy="329184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340864"/>
            <a:ext cx="34381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원자료를 쓰더라도 표준화 방법을 무엇으로 잡느냐에 따라 시군구 순위가 달라진다. 이 흔들림의 크기를 화면에서 바로 확인하는 것이 이 대시보드의 목적이다.</a:t>
            </a:r>
            <a:endParaRPr lang="en-US" sz="8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지수 값 하나만 보여주는 화면이 아니라, 그 값이 어떤 계산을 거쳐 나왔고 방법을 바꾸면 어디까지 움직이는지를 같은 화면 안에서 대조할 수 있게 구성했다.</a:t>
            </a:r>
            <a:endParaRPr lang="en-US" sz="8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 시군구는 지역 진단표에서 원값 · 표준화 값 · 표준점수(T) · 순위 · 백분위 다섯 줄로 읽는다.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24528" y="1975104"/>
            <a:ext cx="369417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0" name="Text 28"/>
          <p:cNvSpPr/>
          <p:nvPr/>
        </p:nvSpPr>
        <p:spPr>
          <a:xfrm>
            <a:off x="4352544" y="1975104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범위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24528" y="2249424"/>
            <a:ext cx="3694176" cy="329184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52544" y="2340864"/>
            <a:ext cx="34381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2차 취합 자료 기준 229개 시군구. 부문은 열 갈래이며 그중 여섯(공간구조 효율성 3 · 인구활력도 6 · 친환경성 4 · 지역사회건강도 7 · 지역사회안전 6 · 재정건전성 6)이 지표 32개로 돌아간다.</a:t>
            </a:r>
            <a:endParaRPr lang="en-US" sz="8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네 부문(지역경제활력도 · 지역산업성장성 · 교통인프라 접근성 · 생활인프라 편리성)은 시작 화면 아래 띠에 자리만 잡혀 있다.</a:t>
            </a:r>
            <a:endParaRPr lang="en-US" sz="8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지표마다 쓸 수 있는 연도가 다르다. 지표 32개를 연도별로 펴면 98개 조합이 되고, 이 중 무엇을 담을지는 화면에서 고른다.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028432" y="1975104"/>
            <a:ext cx="369417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4" name="Text 32"/>
          <p:cNvSpPr/>
          <p:nvPr/>
        </p:nvSpPr>
        <p:spPr>
          <a:xfrm>
            <a:off x="8156448" y="1975104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방식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28432" y="2249424"/>
            <a:ext cx="3694176" cy="329184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56448" y="2340864"/>
            <a:ext cx="34381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점수와 순위는 파일에 저장해 두지 않는다. 담은 지표와 연도가 바뀌면 브라우저에서 그 자리에서 다시 계산한다.</a:t>
            </a:r>
            <a:endParaRPr lang="en-US" sz="8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화면은 시작 화면 · 머리줄 · 지표 고르기 창 · 조작부 · 지도 · 통계창(본문 + 서랍 두 짝) · 데이터표 · 데이터 설명 · 용어 아홉 조각으로 이루어진다.</a:t>
            </a:r>
            <a:endParaRPr lang="en-US" sz="850" dirty="0"/>
          </a:p>
          <a:p>
            <a:pPr marL="342900" indent="-3429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 한 번이 지도 · 통계 · 데이터표에 동시에 걸리고, 담은 지표까지 URL 해시 열 개 키에 담겨 주소만으로 같은 계산 결과가 복원된다.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20624" y="5669280"/>
            <a:ext cx="11338560" cy="941832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8" name="Shape 36"/>
          <p:cNvSpPr/>
          <p:nvPr/>
        </p:nvSpPr>
        <p:spPr>
          <a:xfrm>
            <a:off x="420624" y="5669280"/>
            <a:ext cx="41148" cy="9418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7"/>
          <p:cNvSpPr/>
          <p:nvPr/>
        </p:nvSpPr>
        <p:spPr>
          <a:xfrm>
            <a:off x="603504" y="5724144"/>
            <a:ext cx="11018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표준화 방법은 옳고 그름의 문제가 아니라 무엇을 보여줄 것인가의 문제다. 화면은 방법을 대신 고르지 않고, 고를 수 있도록 근거만 나란히 놓는다.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영역별 구성 요약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구성 · 하는 일 · 판독 지점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657600"/>
                <a:gridCol w="3657600"/>
                <a:gridCol w="3017520"/>
              </a:tblGrid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화면에서 하는 일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판독 지점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화면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자료가 들어온 여섯 부문이 카드 여섯 장으로, 아직 없는 네 부문이 아래 흐린 띠로 놓인다. 카드마다 지표 수 · 연도 범위 · 지표 이름이 붙는다.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실무자는 자기 분야 하나만 본다. 열 부문을 모두 지나지 않고 볼 부문을 먼저 정한 뒤 그 부문만 들고 본 화면으로 들어간다.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부문에 무엇이 들어 있는가 · 어느 해까지 있는가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고르기 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목록 · 지표 카드 · 담은 목록 세 칸. 카드에 정의 · 단위 · 산식 · 출처 · 방향 · 연도가 함께 적혀 있다.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계산할지 정한다. 들어온 부문의 지표가 먼저 열리고, 검색으로 다른 부문의 지표도 찾아 담을 수 있다.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 지표가 무엇을 재는가 · 어느 해 자료인가 · 지금 무엇을 담아 두었는가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지표 선택(필수) · 2 표준화 방법(필수) · · 지도 색 기준(선택) 세 칸이 번호로 매겨져 세로로 쌓이고, 맨 아래 발판에 현황 넷과 비교 단추가 고정된다.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 골라야 하는 칸과 안 골라도 되는 칸을 번호와 가운뎃점으로 갈라 놓아, 어디까지 해야 화면이 나오는지 보이게 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 어떤 조합으로 화면이 그려졌는가 · 아직 남은 단계가 있는가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오른쪽을 채우는 바탕. 값이 색 단계로 칠해지고 시군구 이름표가 얹히며, 범례에서 구간 나누는 방식을 다섯 가지로 바꾼다.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값의 전국 분포를 한 판에서 훑는다. 시군구를 고르면 굵게 둘리고, 전국으로 돌아가는 단추가 왼쪽 위에 나타난다.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색이 어느 쪽으로 몰려 있는가 · 방법을 바꿨을 때 덩어리가 어떻게 갈리는가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통계창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종합이 본문이고, 표준화 민감도와 원데이터는 서랍 두 짝으로 아래에 붙는다. 탭은 두지 않는다.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값의 근거를 보여준다. 전국 요약 세 칸 → 방법별 민감도 → 원값 순으로 위에서 아래로 이어진다.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전국은 어떤 모양인가 → 이 지역은 어디쯤인가 → 방법을 바꾸면 얼마나 움직이는가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내보내기 · 공유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지도는 shp · GeoJSON · CSV 로, 통계는 CSV · 엑셀 · PNG 로 내려받고, 화면 상태를 열 개 키로 URL 해시에 담는다.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화면에서 본 것을 그대로 밖으로 가져간다. shp 는 QGIS 에서 바로 열리고, 주소를 연 사람은 같은 조합으로 계산된 화면을 본다.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캡쳐가 아니라 파일과 주소로 넘어가는가 · 다시 열었을 때 조합이 그대로인가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742432"/>
            <a:ext cx="11338560" cy="86868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" y="5742432"/>
            <a:ext cx="41148" cy="8686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5797296"/>
            <a:ext cx="11018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여섯 갈래는 모두 “값과 그 값을 믿을 근거를 같은 화면에 둔다”는 하나의 원칙 위에 놓여 있다.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따라서 화면의 축은 꾸미기가 아니라, 계산의 중간 단계와 방법 간 차이를 화면 안으로 끌어올리는 데 있다.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 UI 영역 구분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· 통계창 · 지도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6387" y="969264"/>
            <a:ext cx="7760874" cy="46177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8" name="Image 0" descr="/home/claude/patch/shots-21q/06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387" y="969264"/>
            <a:ext cx="7760874" cy="46177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26387" y="969264"/>
            <a:ext cx="7760874" cy="46177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9518" y="1315593"/>
            <a:ext cx="1358153" cy="4155948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9518" y="1123569"/>
            <a:ext cx="96926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2" name="Text 9"/>
          <p:cNvSpPr/>
          <p:nvPr/>
        </p:nvSpPr>
        <p:spPr>
          <a:xfrm>
            <a:off x="519518" y="1123569"/>
            <a:ext cx="9692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  조작부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924236" y="1315593"/>
            <a:ext cx="1746197" cy="4155948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24236" y="1123569"/>
            <a:ext cx="110642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5" name="Text 12"/>
          <p:cNvSpPr/>
          <p:nvPr/>
        </p:nvSpPr>
        <p:spPr>
          <a:xfrm>
            <a:off x="1924236" y="1123569"/>
            <a:ext cx="11064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  통계창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748041" y="1315593"/>
            <a:ext cx="4338329" cy="4155948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60006" y="1123569"/>
            <a:ext cx="62636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8" name="Text 15"/>
          <p:cNvSpPr/>
          <p:nvPr/>
        </p:nvSpPr>
        <p:spPr>
          <a:xfrm>
            <a:off x="7460006" y="1123569"/>
            <a:ext cx="6263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  지도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8412480" y="969264"/>
            <a:ext cx="3346704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7"/>
          <p:cNvSpPr/>
          <p:nvPr/>
        </p:nvSpPr>
        <p:spPr>
          <a:xfrm>
            <a:off x="8540496" y="969264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   조작부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412480" y="1243584"/>
            <a:ext cx="3346704" cy="106070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540496" y="1298448"/>
            <a:ext cx="3090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볼지 고르는 칸. 1 지표 선택 · 2 표준화 방법 · · 지도 색 기준이 번호로 매겨져 위에서 아래로 쌓인다. 아직 오지 않은 칸은 흐리게 잠가 두고, 한 칸을 마치면 다음 칸이 눈에 들어오도록 조작부 안에서만 스크롤이 움직인다.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8412480" y="2450592"/>
            <a:ext cx="3346704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4" name="Text 21"/>
          <p:cNvSpPr/>
          <p:nvPr/>
        </p:nvSpPr>
        <p:spPr>
          <a:xfrm>
            <a:off x="8540496" y="245059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   통계창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8412480" y="2724912"/>
            <a:ext cx="3346704" cy="106070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40496" y="2779776"/>
            <a:ext cx="3090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조건의 근거를 보여주는 칸. 부문 종합이 본문이고 표준화 민감도 · 원데이터는 서랍 두 짝으로 아래에 붙는다. 오른쪽 손잡이로 창 전체를 접었다 펼 수 있다.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8412480" y="3931920"/>
            <a:ext cx="3346704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8" name="Text 25"/>
          <p:cNvSpPr/>
          <p:nvPr/>
        </p:nvSpPr>
        <p:spPr>
          <a:xfrm>
            <a:off x="8540496" y="3931920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   지도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8412480" y="4206240"/>
            <a:ext cx="3346704" cy="106070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540496" y="4261104"/>
            <a:ext cx="3090672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오른쪽을 채우는 바탕. 값이 색 단계로 칠해지고 시군구 이름표가 얹히며 선택한 곳만 굵게 둘린다. 조작부와 통계창은 이 위에 떠 있는 한 덩어리(덱)로 얹힌다.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8412480" y="5468112"/>
            <a:ext cx="3346704" cy="512064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485632" y="546811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통계창을 접으면 덱의 폭이 그만큼 줄고 지도가 곧바로 넓어진다. 덱의 폭은 한 곳에서 계산해 세 칸이 같이 따라간다.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4" name="Shape 31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5" name="Text 32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조작부와 통계창은 지도 위에 떠 있되 왼쪽으로 몰려 있어, 지도에서 실제로 봐야 할 부분이 화면 가운데로 오도록 여백을 계산해 밀어 둔다.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대상 화면 설정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화면 · 2 ×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32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96112" y="932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화면 (부문 고르기)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50930" y="1261872"/>
            <a:ext cx="273551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-21q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0930" y="1261872"/>
            <a:ext cx="2735516" cy="162763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850930" y="1261872"/>
            <a:ext cx="2735516" cy="162763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0624" y="2944368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들어오면 가장 먼저 뜨는 화면. 여섯 부문 카드와 자료 준비중 네 부문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26480" y="932688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9326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601968" y="932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화면 (Min-Max)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556786" y="1261872"/>
            <a:ext cx="273551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8" name="Image 1" descr="/home/claude/patch/shots-21q/06-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786" y="1261872"/>
            <a:ext cx="2735516" cy="162763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556786" y="1261872"/>
            <a:ext cx="2735516" cy="162763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26480" y="2944368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부문을 고른 뒤의 기준 화면. 조작부 + 통계창 + 지도가 한 판 위에 있다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420624" y="3419856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2" name="Text 18"/>
          <p:cNvSpPr/>
          <p:nvPr/>
        </p:nvSpPr>
        <p:spPr>
          <a:xfrm>
            <a:off x="512064" y="34198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96112" y="3419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방식 나란히 비교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1850930" y="3749040"/>
            <a:ext cx="273551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Image 2" descr="/home/claude/patch/shots-21q/51-compar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930" y="3749040"/>
            <a:ext cx="2735516" cy="162763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850930" y="3749040"/>
            <a:ext cx="2735516" cy="162763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20624" y="5431536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간격보존형과 순위전용형을 좌우로 놓고 동시에 대조하는 화면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6126480" y="3419856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9" name="Text 24"/>
          <p:cNvSpPr/>
          <p:nvPr/>
        </p:nvSpPr>
        <p:spPr>
          <a:xfrm>
            <a:off x="6217920" y="34198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601968" y="341985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데이터표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7556786" y="3749040"/>
            <a:ext cx="2735516" cy="162763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2" name="Image 3" descr="/home/claude/patch/shots-21q/59-tab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6786" y="3749040"/>
            <a:ext cx="2735516" cy="162763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556786" y="3749040"/>
            <a:ext cx="2735516" cy="162763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126480" y="5431536"/>
            <a:ext cx="5596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시군구를 정렬해 담은 지표의 원값까지 확인하는 화면</a:t>
            </a:r>
            <a:endParaRPr lang="en-US" sz="800" dirty="0"/>
          </a:p>
        </p:txBody>
      </p:sp>
      <p:sp>
        <p:nvSpPr>
          <p:cNvPr id="35" name="Shape 29"/>
          <p:cNvSpPr/>
          <p:nvPr/>
        </p:nvSpPr>
        <p:spPr>
          <a:xfrm>
            <a:off x="420624" y="5943600"/>
            <a:ext cx="11338560" cy="667512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6" name="Shape 30"/>
          <p:cNvSpPr/>
          <p:nvPr/>
        </p:nvSpPr>
        <p:spPr>
          <a:xfrm>
            <a:off x="420624" y="5943600"/>
            <a:ext cx="41148" cy="66751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7" name="Text 31"/>
          <p:cNvSpPr/>
          <p:nvPr/>
        </p:nvSpPr>
        <p:spPr>
          <a:xfrm>
            <a:off x="603504" y="5998464"/>
            <a:ext cx="1101852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네 화면은 모두 같은 원자료를 쓰며, 달라지는 것은 담은 지표와 표준화 방법, 그리고 보여주는 방식뿐이다.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01  ·  Sidebar 조작부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들어오자마자 볼 부문부터 고르는 시작 화면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57815" y="1700784"/>
            <a:ext cx="4180114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815" y="1700784"/>
            <a:ext cx="4180114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457815" y="1700784"/>
            <a:ext cx="4180114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52037" y="2322576"/>
            <a:ext cx="2591671" cy="945124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52037" y="2130552"/>
            <a:ext cx="103784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2252037" y="2130552"/>
            <a:ext cx="10378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자료가 들어온 여섯 부문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252037" y="3329879"/>
            <a:ext cx="2131858" cy="136794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252037" y="3137855"/>
            <a:ext cx="90068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7" name="Text 24"/>
          <p:cNvSpPr/>
          <p:nvPr/>
        </p:nvSpPr>
        <p:spPr>
          <a:xfrm>
            <a:off x="2252037" y="3137855"/>
            <a:ext cx="9006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준비중 네 부문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화면을 보는 사람은 자기 분야 하나만 본다. 열 부문을 모두 지나게 하지 않고 볼 부문을 맨 먼저 정하게 했다.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카드에 지표 수와 연도 범위, 그리고 그 부문에 실제로 들어 있는 지표 이름을 함께 적어 열기 전에 내용을 알 수 있다.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2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자료가 없는 네 부문은 아래 흐린 띠로 남겨, 지표체계 전체가 열 부문이라는 사실은 그대로 보이게 했다.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8" name="Shape 35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6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카드를 누르면 그 부문만 들고 본 화면으로 들어가며, 조작부는 곧바로 1단계에 선다.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전에 보던 조합이 주소에 남아 있으면 해당 카드에 이어보기 표시가 붙고, 누르면 그 상태로 복원된다.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머리줄의 부문 이름을 누르면 언제든 이 화면으로 되돌아온다.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653926" y="2743200"/>
            <a:ext cx="3419061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2" name="Image 1" descr="/home/claude/patch/shots-21q/01b-lp-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926" y="2743200"/>
            <a:ext cx="3419061" cy="1828800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7653926" y="2743200"/>
            <a:ext cx="3419061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부문을 먼저 고르므로 이후 화면에는 그 부문의 지표만 나온다. 고를 것이 서른둘에서 서넛으로 줄어든다.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준비중 네 부문은 눌리지 않는다. 다만 이름과 예정 지표 수를 적어 두어 왜 비어 있는지 묻지 않게 했다.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9" name="Shape 45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0" name="Text 46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진입 지점을 부문 선택으로 옮기면서, 본 화면의 조작부에서 부문 목록이 사라지고 그 자리에 지표와 방법만 남았다.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02  ·  Sidebar 조작부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목록 · 지표 카드 · 담은 목록 세 칸으로 나눈 지표 고르기 창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22828" y="1700784"/>
            <a:ext cx="5050087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05-pi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828" y="1700784"/>
            <a:ext cx="5050087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022828" y="1700784"/>
            <a:ext cx="5050087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98580" y="2024116"/>
            <a:ext cx="1010017" cy="2064349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098580" y="1832092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1098580" y="1832092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목록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143948" y="2024116"/>
            <a:ext cx="2525044" cy="2064349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143948" y="1832092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7" name="Text 24"/>
          <p:cNvSpPr/>
          <p:nvPr/>
        </p:nvSpPr>
        <p:spPr>
          <a:xfrm>
            <a:off x="2143948" y="1832092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카드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734643" y="2024116"/>
            <a:ext cx="1262522" cy="2064349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94244" y="1832092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30" name="Text 27"/>
          <p:cNvSpPr/>
          <p:nvPr/>
        </p:nvSpPr>
        <p:spPr>
          <a:xfrm>
            <a:off x="5494244" y="1832092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담은 목록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왼쪽은 부문 열 갈래다. 자료가 들어온 여섯 부문에는 지표 수가, 아직 들어오지 않은 네 부문에는 잠금 표시가 붙는다.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2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가운데는 지표 카드다. 이름 · 정의 · 단위 · 산식 · 출처 · 방향(▲▼)과 그 지표에 있는 연도가 카드 한 장에 모여 있다.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8" name="Text 35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오른쪽은 담은 목록이다. 지금까지 담은 지표와 연도가 순서대로 쌓이고 하나씩 뺄 수 있다.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41" name="Shape 38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2" name="Text 39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연도 단추를 눌러 담으면 같은 지표라도 해마다 따로 담긴다. 지표 32개는 연도별로 98개 조합이 된다.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검색창에 낱말을 넣으면 부문을 넘어 전 부문에서 지표를 찾아 담을 수 있다.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준비중 부문을 열면 예정 지표만 흐리게 보여주고 담기는 막는다.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6967728" y="3220233"/>
            <a:ext cx="4791456" cy="87473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5" name="Image 1" descr="/home/claude/patch/shots-21q/05c-picker-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3220233"/>
            <a:ext cx="4791456" cy="874734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6967728" y="3220233"/>
            <a:ext cx="4791456" cy="87473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지표의 뜻을 고르는 자리에서 바로 읽게 해, 나중에 용어를 찾으러 화면을 떠나지 않게 했다.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담은 것이 한 개도 없으면 아래 확인 단추가 잠긴다. 빈 계산으로 화면이 열리는 일을 막는다.</a:t>
            </a:r>
            <a:endParaRPr lang="en-US" sz="800" dirty="0"/>
          </a:p>
        </p:txBody>
      </p:sp>
      <p:sp>
        <p:nvSpPr>
          <p:cNvPr id="51" name="Shape 47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52" name="Shape 48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3" name="Text 49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부문 열 갈래와 지표 서른둘을 조작부에 늘어놓는 대신 창 하나에 모았으므로, 지표가 늘어도 조작부의 세로 길이는 그대로다.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03  ·  Sidebar 조작부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지표 선택 · 2 표준화 방법 — 반드시 거쳐야 할 두 칸만 번호로 매긴다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38798" y="1700784"/>
            <a:ext cx="818147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07-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8798" y="1700784"/>
            <a:ext cx="818147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138798" y="1700784"/>
            <a:ext cx="818147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71524" y="1837578"/>
            <a:ext cx="752696" cy="497434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71524" y="1645554"/>
            <a:ext cx="96926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3171524" y="1645554"/>
            <a:ext cx="9692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지표 선택 · 필수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3171524" y="2359884"/>
            <a:ext cx="752696" cy="596920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171524" y="2167860"/>
            <a:ext cx="103784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7" name="Text 24"/>
          <p:cNvSpPr/>
          <p:nvPr/>
        </p:nvSpPr>
        <p:spPr>
          <a:xfrm>
            <a:off x="3171524" y="2167860"/>
            <a:ext cx="10378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표준화 방법 · 필수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3171524" y="2994111"/>
            <a:ext cx="752696" cy="149230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171524" y="2802087"/>
            <a:ext cx="110642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30" name="Text 27"/>
          <p:cNvSpPr/>
          <p:nvPr/>
        </p:nvSpPr>
        <p:spPr>
          <a:xfrm>
            <a:off x="3171524" y="2802087"/>
            <a:ext cx="11064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지도 색 기준 · 선택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계산을 실제로 바꾸는 것은 지표와 표준화 방법 둘뿐이다. 이 둘만 번호를 달아 필수로 두고 나머지는 가운뎃점으로 뺐다.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2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오지 않은 칸은 흐리게 잠가 둔다. 꼭 골라야 하는 것과 그렇지 않은 것이 같은 무게로 늘어서면 어디까지 해야 하는지 알 수 없다.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8" name="Text 35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칸을 마치면 다음 칸이 눈에 들어오도록 조작부 안에서만 스크롤이 움직인다. 창 전체를 움직이면 지도가 흔들려 오히려 어지럽다.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41" name="Shape 38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2" name="Text 39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2단계는 멈춰 서는 칸이 아니다. 표준화 방법은 들어올 때 이미 Min-Max 로 잡혀 있으므로, 닿는 즉시 통계창까지 열린다.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방법은 간격보존형 셋(Min-Max · 거리기반 · 로지스틱)과 순위전용형 하나(백분위순위)로 진영을 갈라 놓았다.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방법을 바꾸면 지도와 통계가 곧바로 다시 계산된다. 확인 단추를 한 번 더 누를 필요가 없다.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8402841" y="2743200"/>
            <a:ext cx="192123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5" name="Image 1" descr="/home/claude/patch/shots-21q/11-meth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841" y="2743200"/>
            <a:ext cx="1921230" cy="1828800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8402841" y="2743200"/>
            <a:ext cx="1921230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이름은 줄임말 대신 전부 풀어 썼다. 한 줄 설명을 붙여 무엇을 재는 자인지 이름만 보고 알 수 있게 했다.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골라져 있는 것을 다시 눌러야 넘어가는 절차를 없앴다. 단계는 남기고 걸음만 줄였다.</a:t>
            </a:r>
            <a:endParaRPr lang="en-US" sz="800" dirty="0"/>
          </a:p>
        </p:txBody>
      </p:sp>
      <p:sp>
        <p:nvSpPr>
          <p:cNvPr id="51" name="Shape 47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52" name="Shape 48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3" name="Text 49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필수 두 칸을 마치면 통계창이 저절로 열린다. 사용자가 해야 하는 최소 조작은 부문 하나 + 지표 담기 + 확인, 세 번이다.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04  ·  Sidebar 조작부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네 묶음 두 층 목록과, 아래에 고정된 현황 발판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68596" y="1700784"/>
            <a:ext cx="1558553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12b-metrics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8596" y="1700784"/>
            <a:ext cx="1558553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768596" y="1700784"/>
            <a:ext cx="1558553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99767" y="1750527"/>
            <a:ext cx="1496211" cy="746150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799767" y="1558503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2799767" y="1558503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종합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799767" y="2521549"/>
            <a:ext cx="1496211" cy="1094354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99767" y="2329525"/>
            <a:ext cx="110642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7" name="Text 24"/>
          <p:cNvSpPr/>
          <p:nvPr/>
        </p:nvSpPr>
        <p:spPr>
          <a:xfrm>
            <a:off x="2799767" y="2329525"/>
            <a:ext cx="11064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원데이터 (지표별 소묶음)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2799767" y="3640775"/>
            <a:ext cx="1496211" cy="497434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99767" y="3448751"/>
            <a:ext cx="124358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30" name="Text 27"/>
          <p:cNvSpPr/>
          <p:nvPr/>
        </p:nvSpPr>
        <p:spPr>
          <a:xfrm>
            <a:off x="2799767" y="3448751"/>
            <a:ext cx="124358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민감도 · 참고 플래그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맨 윗층은 네 묶음으로 고정한다. 부문 종합 · 원데이터 · 표준화 민감도 · 참고 플래그, 그 이상 늘리지 않는다.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2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원데이터만 한 층 더 접힌다. 담은 지표가 늘면 항목이 수십 개가 되므로 지표 이름을 소묶음 머리로 세운다.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8" name="Text 35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보고 있는 항목이 든 묶음은 처음부터 펴진 채로 열린다. 어디를 눌러야 지금 지도가 나오는지 찾지 않는다.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41" name="Shape 38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2" name="Text 39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기준은 안 골라도 화면이 나온다. 이미 계산된 결과 중 무엇을 색으로 볼지 정하는 칸이기 때문이다.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방법을 바꾸면 값이 따라 바뀌는 항목에는 마름모 표시를 붙여 구분한다.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발판에는 시군구 수 · 평균 이동 · 10계단 이상 움직인 곳 · 민감 지역 수 넷과, 이 화면의 주 행동인 2종 동시 비교 단추만 고정한다.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209074" y="2743200"/>
            <a:ext cx="430876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5" name="Image 1" descr="/home/claude/patch/shots-21q/14-fo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074" y="2743200"/>
            <a:ext cx="4308764" cy="1828800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7209074" y="2743200"/>
            <a:ext cx="4308764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원데이터를 원데이터끼리 묶어 두어, 부문 점수와 원값이 같은 높이로 섞여 보이지 않게 했다.</a:t>
            </a:r>
            <a:endParaRPr lang="en-US" sz="800" dirty="0"/>
          </a:p>
        </p:txBody>
      </p:sp>
      <p:sp>
        <p:nvSpPr>
          <p:cNvPr id="49" name="Shape 45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지역만 보기 스위치는 조작부가 아니라 지도 오른쪽 아래에 하나만 둔다. 효과가 보이는 자리에 조작을 붙였다.</a:t>
            </a:r>
            <a:endParaRPr lang="en-US" sz="800" dirty="0"/>
          </a:p>
        </p:txBody>
      </p:sp>
      <p:sp>
        <p:nvSpPr>
          <p:cNvPr id="51" name="Shape 47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52" name="Shape 48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3" name="Text 49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색으로 볼 값을 바꿔도 계산은 다시 하지 않는다. 계산을 바꾸는 칸과 보기를 바꾸는 칸을 화면에서 분명히 갈라 두었다.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명세 종합 — Sidebar 조작부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항목 4 × 정리 관점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2194560"/>
                <a:gridCol w="2377440"/>
                <a:gridCol w="246888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 요소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 방식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반응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 의도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화면 부문 선택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카드 6 · 자료 준비중 4 · 이어보기 표시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 누르기 · 머리줄 부문 이름으로 되돌아오기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부문만 들고 본 화면으로 넘어가며 조작부가 1단계에 선다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볼 것을 먼저 좁혀 이후 화면의 선택지를 줄인다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고르기 창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목록 · 지표 카드 · 담은 목록 · 검색창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연도 단추로 담기 · 담은 목록에서 빼기 · 낱말 검색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담은 지표 요약이 조작부 1단계에 그대로 뜬다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고르는 창과 읽는 화면을 갈라 조작부 길이를 고정한다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필수 두 단계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지표 선택 · 2 표준화 방법 · 잠금 표시 · 자동 스크롤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단추 한 번 · 방법 라디오 고르기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2단계에 닿으면 곧바로 통계창까지 열린다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꼭 해야 할 일과 안 해도 될 일을 번호로 가른다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색 기준 · 발판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 묶음 두 층 목록 · 범례 띠 · 현황 넷 · 비교 단추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 펴기·접기 · 항목 누르기 · 비교 켜기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색과 범례가 즉시 바뀌고 계산은 그대로다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보기를 바꾸는 칸을 계산을 바꾸는 칸과 분리한다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175504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17550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 순서 고정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90304" y="517550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→ 지표 · 연도 → 표준화 방법 → (선택) 지도 색 기준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0624" y="5632704"/>
            <a:ext cx="11338560" cy="97840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2" name="Shape 9"/>
          <p:cNvSpPr/>
          <p:nvPr/>
        </p:nvSpPr>
        <p:spPr>
          <a:xfrm>
            <a:off x="420624" y="5632704"/>
            <a:ext cx="41148" cy="9784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" y="5687568"/>
            <a:ext cx="11018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조작부는 접히지 않고 늘 열려 있으며, 세로 길이는 담은 지표 수와 무관하게 일정하다.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필수 두 칸을 마치는 데 필요한 조작은 세 번이고, 그 뒤의 모든 조작은 되돌릴 수 있는 보기 변경이다.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05  ·  Map 지도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229개 시군구 색 단계 지도와 시군구 이름표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33138" y="1700784"/>
            <a:ext cx="2429468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09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3138" y="1700784"/>
            <a:ext cx="2429468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333138" y="1700784"/>
            <a:ext cx="2429468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406022" y="1775399"/>
            <a:ext cx="2283700" cy="2337938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06022" y="1583375"/>
            <a:ext cx="179222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2406022" y="1583375"/>
            <a:ext cx="17922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시군구 경계 · 색 단계 · 이름표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행정경계는 실제 시군구 경계를 그대로 쓴다. 시도 경계는 굵은 선으로 한 겹 더 얹어 광역 단위가 눈에 들어오게 했다.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색은 값이 높을수록 진해지는 한 방향 띠를 기본으로 쓰고, 순위 이동처럼 방향이 둘인 값에는 가운데가 옅은 띠를 쓴다.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시군구 이름표는 배율에 따라 겹치지 않을 만큼만 뜨고, 확대하면 작은 시군구의 이름까지 차례로 드러난다.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이름표는 지도 오른쪽 도구에서 끄고 켤 수 있다. 색만 크게 훑을 때는 끄고, 어디인지 확인할 때는 켠다.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값이 없는 시군구는 색을 칠하지 않고 회색으로 남겨 0 과 구분한다.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마우스를 올리면 지도 아래 실시간 띠에 그 시군구의 이름과 지금 색으로 칠한 값이 뜬다.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8331069" y="2743200"/>
            <a:ext cx="206477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-21q/33-labels-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069" y="2743200"/>
            <a:ext cx="2064774" cy="18288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8331069" y="2743200"/>
            <a:ext cx="2064774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이름표를 켠 상태를 기본으로 둔다. 색만 있는 지도는 어디가 어디인지 확인하러 다시 확대하게 만든다.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확대·축소는 색 기준을 바꾸지 않는다. 화면을 옮겨 다녀도 같은 색이 같은 값을 뜻한다.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지도는 값을 그리는 자리이자 시군구를 고르는 자리다. 그래서 조작 도구는 모두 지도 가장자리에 붙여 두었다.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06  ·  Map 지도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도구 — 확대 · 축소 · 화면 맞추기 · 선택 지역 확대 · 이름표 · 내보내기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39828" y="1700784"/>
            <a:ext cx="616087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31-map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828" y="1700784"/>
            <a:ext cx="616087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239828" y="1700784"/>
            <a:ext cx="616087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52150" y="1750527"/>
            <a:ext cx="591444" cy="2387681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52150" y="1558503"/>
            <a:ext cx="83210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3252150" y="1558503"/>
            <a:ext cx="8321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도구 여섯 개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지도 오른쪽 위 한 줄에 세로로 모은다. 지도 위 여기저기에 흩어 놓으면 볼 값을 가린다.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확대와 축소, 화면 맞추기, 선택 지역 확대, 시군구 이름표, 내보내기 여섯 개다.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맞추기(↺)는 배율만 되돌리고 선택은 풀지 않는다. 선택을 푸는 일은 전국으로 돌아가기 단추가 맡는다.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도구에 읽어주기 이름을 달아 마우스를 올리면 무엇을 하는 단추인지 뜬다.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지역 확대는 시군구를 고른 동안에만 눌린다. 고르지 않았을 때는 흐리게 잠긴다.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내보내기는 지금 지도에 그려진 것을 shp · GeoJSON · CSV 로 내려준다. shp 는 QGIS 에서 바로 열린다.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8414420" y="2743200"/>
            <a:ext cx="189807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-21q/35-ex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4420" y="2743200"/>
            <a:ext cx="1898073" cy="18288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8414420" y="2743200"/>
            <a:ext cx="1898073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배율만 되돌리는 단추와 선택까지 푸는 단추를 이름과 자리로 갈라, 되돌리기의 정도를 고를 수 있게 했다.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내보내는 속성은 지금 지도에 칠해진 지표를 중심으로 담는다. 화면과 파일이 어긋나지 않는다.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지도 도구는 여섯 개를 넘기지 않는다. 자주 쓰는 것만 남기고 나머지는 범례와 조작부로 내려 보냈다.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07  ·  Map 지도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범례 — 구간 나누는 방식을 다섯 가지로 바꾼다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36143" y="1700784"/>
            <a:ext cx="2023459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32-leg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6143" y="1700784"/>
            <a:ext cx="2023459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2536143" y="1700784"/>
            <a:ext cx="2023459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576612" y="1750527"/>
            <a:ext cx="1942520" cy="2387681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76612" y="1558503"/>
            <a:ext cx="138074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2576612" y="1558503"/>
            <a:ext cx="13807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색띠 · 구간 · 분류 방식 다섯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범례는 지도 오른쪽 아래에 고정한다. 지금 무엇을 색으로 보고 있는지 이름과 색띠로 함께 보여준다.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구간을 나누는 방식은 자동 · 등간격 · 분위수 · 자연분류 · 표준편차 다섯 가지다.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방식을 고르면 그 방식이 무엇을 하는 것인지 한 줄 설명이 아래에 뜬다.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순위처럼 이미 고르게 퍼진 값에는 등간격이, 한쪽으로 몰린 원값에는 분위수가 맞는다. 자동은 값의 모양을 보고 대신 골라 준다.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값이라도 나누는 방식이 다르면 지도의 인상이 달라진다. 그래서 방식을 감추지 않고 범례에 꺼내 두었다.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 경계값을 색띠 아래에 숫자로 적어, 색이 어디서 바뀌는지 눈으로 확인할 수 있다.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8619537" y="2743200"/>
            <a:ext cx="1487837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-21q/32b-legend-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9537" y="2743200"/>
            <a:ext cx="1487837" cy="18288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8619537" y="2743200"/>
            <a:ext cx="1487837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 방식을 화면 밖에 두면 “왜 이 지도만 유독 붉은가” 라는 물음에 답할 수 없다. 그래서 꺼내 두었다.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방식을 바꿔도 값 자체는 바뀌지 않는다. 바뀌는 것은 같은 값을 몇 칸으로 자르느냐뿐이다.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범례는 색을 읽는 도구이자 지도의 전제를 밝히는 자리다. 색 기준 · 구간 방식 · 경계값 셋을 한 상자에 모았다.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08  ·  Map 지도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시군구 선택과, 전국으로 돌아가는 세 갈래 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57815" y="1700784"/>
            <a:ext cx="4180114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38-sel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815" y="1700784"/>
            <a:ext cx="4180114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457815" y="1700784"/>
            <a:ext cx="4180114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76165" y="1887322"/>
            <a:ext cx="2307423" cy="2238451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08584" y="1695298"/>
            <a:ext cx="117500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4408584" y="1695298"/>
            <a:ext cx="11750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선택된 시군구가 굵게 둘린다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264577" y="1887322"/>
            <a:ext cx="940526" cy="746150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264577" y="1695298"/>
            <a:ext cx="96926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7" name="Text 24"/>
          <p:cNvSpPr/>
          <p:nvPr/>
        </p:nvSpPr>
        <p:spPr>
          <a:xfrm>
            <a:off x="2264577" y="1695298"/>
            <a:ext cx="9692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진단표가 본문 맨 위로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시군구를 누르면 그 경계가 굵게 둘리고, 통계창 본문 맨 위에 그 지역 진단표가 올라온다.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요약은 진단표 아래로 밀린다. 지금 보고 있는 대상이 무엇인지를 화면의 위아래 순서로 알린다.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2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고르기 전에는 전국 통계만 보인다. 지역 카드가 미리 빈 채로 자리를 차지하지 않는다.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8" name="Shape 35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6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전국으로 돌아가는 단추를 세 자리에 두었다. 지도 왼쪽 위, 흐름 막대의 선택 지역 조각, 선택 지역 머리줄이다.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 다 같은 일을 한다. 선택이 풀리고 지도는 전국 배율로 되돌아간다.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왼쪽 위 단추는 시군구를 고른 동안에만 나타나고, 통계창에 가려지지 않는 자리에 놓았다.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967728" y="2849226"/>
            <a:ext cx="4791456" cy="161674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2" name="Image 1" descr="/home/claude/patch/shots-21q/39-mapba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2849226"/>
            <a:ext cx="4791456" cy="1616749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6967728" y="2849226"/>
            <a:ext cx="4791456" cy="1616749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곳을 눌러야만 돌아갈 수 있으면 돌아가는 길이 사실상 없는 것과 같다. 누를 이유가 있는 자리에 단추를 두었다.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배율만 맞추는 ↺ 와 선택까지 푸는 ← 를 이름과 모양으로 갈라, 실수로 선택이 풀리지 않게 했다.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9" name="Shape 45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0" name="Text 46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선택은 지도 · 흐름 막대 · 통계창 세 곳에 동시에 표시되고, 그 세 곳 어디서나 풀 수 있다.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09  ·  Map 지도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09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지역만 보기와, 두 조합을 좌우로 놓는 나란히 비교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57815" y="1700784"/>
            <a:ext cx="4180114" cy="24871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37-onlyhig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7815" y="1700784"/>
            <a:ext cx="4180114" cy="2487168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1457815" y="1700784"/>
            <a:ext cx="4180114" cy="24871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76165" y="1887322"/>
            <a:ext cx="2307423" cy="2238451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14324" y="1695298"/>
            <a:ext cx="96926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4614324" y="1695298"/>
            <a:ext cx="9692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지역만 남긴 지도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4760105" y="4013850"/>
            <a:ext cx="836023" cy="136794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93208" y="3821826"/>
            <a:ext cx="502920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7" name="Text 24"/>
          <p:cNvSpPr/>
          <p:nvPr/>
        </p:nvSpPr>
        <p:spPr>
          <a:xfrm>
            <a:off x="5093208" y="3821826"/>
            <a:ext cx="502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지역만 보기를 켜면 표준화 방법 간 순위 이동이 큰 시군구만 색이 남고 나머지는 옅어진다.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스위치는 지도 오른쪽 아래에 하나만 둔다. 효과가 보이는 자리에 조작을 붙여 조작과 결과 사이의 거리를 없앴다.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2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민감의 기준은 순위 이동 10계단 이상이며, 조작부 발판의 민감 지역 수와 같은 기준이다.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8" name="Shape 35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6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발판의 2종 동시 비교를 누르면 지도가 좌우 두 판으로 갈린다.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 조합은 부문 · 표준화 방법 · 볼 항목 세 가지를 각각 직접 고른다. 정해진 짝만 보여주지 않는다.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띠에 색 구간이 갈리는 곳과 10계단 이상 움직인 곳의 수가 뜬다. 두 지도의 확대·이동은 함께 움직인다.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967728" y="3518348"/>
            <a:ext cx="4791456" cy="27850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2" name="Image 1" descr="/home/claude/patch/shots-21q/54b-free-pi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3518348"/>
            <a:ext cx="4791456" cy="278503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6967728" y="3518348"/>
            <a:ext cx="4791456" cy="278503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기억에 기대지 않도록 두 지도를 같은 화면에 놓고, 확대와 이동을 묶어 같은 자리를 보게 했다.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좌우를 자유 조합으로 열어 두어 같은 방법으로 다른 부문을 대조하는 것도 가능하다.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9" name="Shape 45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0" name="Text 46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민감 지역만 보기와 나란히 비교는 같은 물음의 두 답이다. 하나는 어디가 흔들리는지, 다른 하나는 얼마나 갈리는지를 보여준다.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명세 종합 — Map 지도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항목 4 × 정리 관점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2194560"/>
                <a:gridCol w="2377440"/>
                <a:gridCol w="246888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 요소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 방식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반응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 의도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 단계 지도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시군구 경계 229 · 시도 경계 · 색띠 · 이름표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마우스 올리기 · 누르기 · 이름표 끄고 켜기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실시간 띠에 이름과 값이 뜨고 고른 곳이 굵게 둘린다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 분포를 한 판에서 훑고 그 자리에서 고른다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도구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확대 · 축소 · 화면 맞추기 · 선택 지역 확대 · 이름표 · 내보내기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오른쪽 위 세로 줄에서 누르기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배율만 바뀌고 색 기준과 선택은 그대로다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자주 쓰는 여섯 개만 남겨 지도를 가리지 않는다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 기준 이름 · 색띠 · 경계값 · 구간 방식 다섯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분류 방식 고르기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값을 다른 폭으로 잘라 색이 다시 칠해진다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지도의 전제를 감추지 않고 화면에 꺼내 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 · 되돌아가기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굵은 테두리 · 되돌아가기 단추 세 자리 · 민감 지역 스위치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시군구 누르기 · 되돌아가기 누르기 · 스위치 켜기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통계창 본문 맨 위가 바뀌고 흐름 막대에 조각이 붙는다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선택과 해제를 같은 무게의 조작으로 만든다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175504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17550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규칙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90304" y="517550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방향 값은 짙어지는 띠 · 방향이 둘인 값은 가운데가 옅은 띠 · 값 없음은 회색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0624" y="5632704"/>
            <a:ext cx="11338560" cy="97840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2" name="Shape 9"/>
          <p:cNvSpPr/>
          <p:nvPr/>
        </p:nvSpPr>
        <p:spPr>
          <a:xfrm>
            <a:off x="420624" y="5632704"/>
            <a:ext cx="41148" cy="9784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" y="5687568"/>
            <a:ext cx="11018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지도에서의 조작은 모두 지도 가장자리에서 이루어지고, 지도 한가운데는 값을 보는 자리로 비워 둔다.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색 기준 · 구간 방식 · 배율 · 선택 네 가지는 서로 간섭하지 않는다. 하나를 바꿔도 나머지 셋은 유지된다.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10  ·  Container 통계창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10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막대 — 지금까지 고른 값을 한 줄로 되짚는다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" y="2097424"/>
            <a:ext cx="5486400" cy="169388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08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097424"/>
            <a:ext cx="5486400" cy="1693889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04672" y="2097424"/>
            <a:ext cx="5486400" cy="1693889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9536" y="2182118"/>
            <a:ext cx="5376672" cy="711433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9536" y="1990094"/>
            <a:ext cx="138074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859536" y="1990094"/>
            <a:ext cx="13807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지표 · 2 방법 · 지도 색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59536" y="3029062"/>
            <a:ext cx="5376672" cy="677555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59536" y="2837038"/>
            <a:ext cx="83210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7" name="Text 24"/>
          <p:cNvSpPr/>
          <p:nvPr/>
        </p:nvSpPr>
        <p:spPr>
          <a:xfrm>
            <a:off x="859536" y="2837038"/>
            <a:ext cx="83210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전체 내려받기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막대는 통계창 맨 위에 고정한다. 조작부를 다시 훑지 않고도 지금 화면이 어떤 조건으로 그려졌는지 확인한다.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조각은 1 지표 몇 개 · 연도, 2 표준화 방법, 지도 색 기준 순으로 조작부의 번호와 같은 차례로 놓인다.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2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시군구를 고르면 선택 지역 조각이 하나 더 붙고, 그 조각에 전국으로 되돌아가는 표시가 함께 들어간다.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8" name="Shape 35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6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조각을 누르면 조작부의 해당 칸으로 곧바로 간다. 흐름 막대는 표시이자 이동 수단이다.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끝의 내려받기는 지금 통계창에 있는 것 전체를 한 번에 받는다.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카드마다 있는 저장 단추는 그 카드 하나만 CSV · 엑셀 · PNG 로 받는다.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941056" y="2743200"/>
            <a:ext cx="284480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2" name="Image 1" descr="/home/claude/patch/shots-21q/47-dlmen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1056" y="2743200"/>
            <a:ext cx="2844800" cy="1828800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7941056" y="2743200"/>
            <a:ext cx="2844800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막대의 조각 간격을 조작부의 칸 번호와 맞춰, 두 곳을 오갈 때 눈이 다시 자리를 찾지 않게 했다.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통계를 CSV 하나로만 내리면 표는 되어도 발표 자료에는 못 쓴다. 엑셀과 PNG 를 함께 열어 두었다.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9" name="Shape 45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0" name="Text 46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흐름 막대는 화면의 상태를 요약하는 한 줄이며, 이 한 줄에 적힌 것이 그대로 URL 해시에 담겨 주소로 넘어간다.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11  ·  Container 통계창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11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종합 — 전국 요약 세 칸이 통계창의 본문이다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" y="2624328"/>
            <a:ext cx="54864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20-csect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624328"/>
            <a:ext cx="5486400" cy="64008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04672" y="2624328"/>
            <a:ext cx="5486400" cy="64008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59536" y="2637130"/>
            <a:ext cx="5376672" cy="614477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59536" y="2445106"/>
            <a:ext cx="144932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859536" y="2445106"/>
            <a:ext cx="14493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종합 · 전국 229개 시군구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통계창에는 탭을 두지 않는다. 부문 종합이 본문이고, 나머지는 그 아래 서랍으로 붙는다.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요약은 분포 요약 · 상위·하위 열 곳 · 시도별 평균 비교 세 칸이다.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분포 요약에는 평균 · 중앙값 · 표준편차 · 최고 · 최저 · 중간 절반 구간과 막대 그림이 함께 들어간다.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상위·하위 열 곳의 시군구 이름을 누르면 지도에서 그 지역이 선택된다. 표가 곧 선택 도구다.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시도별 평균 비교는 17개 시도의 부문점수 평균을 한 줄로 늘어놓아 광역 간 차이를 본다.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칸 모두 오른쪽 위 저장 단추가 붙어 있어 그 칸만 CSV · 엑셀 · PNG 로 따로 받는다.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8569489" y="2743200"/>
            <a:ext cx="158793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-21q/16-d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9489" y="2743200"/>
            <a:ext cx="1587934" cy="18288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8569489" y="2743200"/>
            <a:ext cx="1587934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종합을 다른 칸과 같은 높이에 두지 않고 본문으로 올려, 무엇이 이 화면의 주제인지 분명히 했다.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지도를 누르기 전에는 전국 통계만 보여준다. 빈 지역 카드가 자리를 차지하지 않는다.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본문은 늘 전국에서 시작한다. 시군구를 고르면 그 지역 진단표가 본문 맨 위에 끼어들고 전국 요약은 그 아래로 밀린다.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12  ·  Container 통계창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민감도 서랍 — 방법별 부문점수와 순위 이동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" y="2597615"/>
            <a:ext cx="5486400" cy="69350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21-drw-se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597615"/>
            <a:ext cx="5486400" cy="69350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04672" y="2597615"/>
            <a:ext cx="5486400" cy="693506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2104" y="2632290"/>
            <a:ext cx="5431536" cy="624155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" y="2440266"/>
            <a:ext cx="131216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832104" y="2440266"/>
            <a:ext cx="13121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 머리 · 카드 수 · 접기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서랍은 처음부터 펴 둔 채로 들어간다. 접혀 있으면 안에 무엇이 있는지 몰라 결국 열어 보지 않는다.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머리에는 이름과 부제, 안에 든 카드 수, 그리고 접기 단추가 함께 있다.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접은 상태만 URL 해시에 적는다. 기본값인 펴 둔 상태에서는 주소에 아무것도 남지 않는다.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안에는 선택한 표준화 방법 · 방법별 부문점수 분포 · 방법 간 순위 이동 · 표준화 민감도 산점도 · 순위 이동이 큰 시군구가 들어간다.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이동은 Min-Max 순위와 백분위순위 순위의 차이로 재며, 10계단 이상을 민감으로 본다.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산점도는 가로에 부문점수, 세로에 순위 이동을 놓아 어떤 점수대가 특히 흔들리는지 본다.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8784391" y="2743200"/>
            <a:ext cx="1158131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-21q/24-rank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391" y="2743200"/>
            <a:ext cx="1158131" cy="18288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8784391" y="2743200"/>
            <a:ext cx="1158131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간 순위 이동은 이 대시보드의 주제다. 그래서 본문 바로 아래 첫 번째 서랍에 두었다.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이동이 큰 시군구 표에서는 순위 이동 한 가지만 남기고 비슷한 지표를 정리했다.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간격보존형과 순위전용형은 서로 다른 자다. 어느 쪽이 옳은지가 아니라 어느 쪽을 쓰면 어디가 달라지는지를 보여준다.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기능 상세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13  ·  Container 통계창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 rot="16200000">
            <a:off x="128016" y="640080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420624" y="1444752"/>
            <a:ext cx="310896" cy="4754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8"/>
          <p:cNvSpPr/>
          <p:nvPr/>
        </p:nvSpPr>
        <p:spPr>
          <a:xfrm rot="16200000">
            <a:off x="128016" y="1152144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20624" y="1956816"/>
            <a:ext cx="310896" cy="475488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 rot="16200000">
            <a:off x="128016" y="1664208"/>
            <a:ext cx="89611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804672" y="932688"/>
            <a:ext cx="10954512" cy="329184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" y="932688"/>
            <a:ext cx="11338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 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48256" y="932688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원데이터 서랍 — 원값과, 축을 직접 고르는 지표 간 산점도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1371600"/>
            <a:ext cx="5486400" cy="256032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1371600"/>
            <a:ext cx="5266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" y="2597615"/>
            <a:ext cx="5486400" cy="69350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0" descr="/home/claude/patch/shots-21q/27-drw-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597615"/>
            <a:ext cx="5486400" cy="69350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804672" y="2597615"/>
            <a:ext cx="5486400" cy="693506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32104" y="2632290"/>
            <a:ext cx="5431536" cy="624155"/>
          </a:xfrm>
          <a:prstGeom prst="rect">
            <a:avLst/>
          </a:prstGeom>
          <a:ln w="19050">
            <a:solidFill>
              <a:srgbClr val="D9302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" y="2440266"/>
            <a:ext cx="1312164" cy="19202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24" name="Text 21"/>
          <p:cNvSpPr/>
          <p:nvPr/>
        </p:nvSpPr>
        <p:spPr>
          <a:xfrm>
            <a:off x="832104" y="2440266"/>
            <a:ext cx="131216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 머리 · 카드 수 · 접기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22960" y="43068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4306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7280" y="42793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원데이터는 부문 종합과 섞지 않고 따로 서랍 한 짝으로 뺀다. 계산된 값과 계산 전 값은 성격이 다르다.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2960" y="47640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6"/>
          <p:cNvSpPr/>
          <p:nvPr/>
        </p:nvSpPr>
        <p:spPr>
          <a:xfrm>
            <a:off x="822960" y="47640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97280" y="47365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안에는 선택 지역 지표 원값 · 전국 지표 원값 · 지표 간 산점도가 들어간다.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822960" y="522122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9"/>
          <p:cNvSpPr/>
          <p:nvPr/>
        </p:nvSpPr>
        <p:spPr>
          <a:xfrm>
            <a:off x="822960" y="5221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97280" y="5193792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지표를 고르지 않은 상태에서도 서랍은 열려 있고, 담은 지표가 없다는 사실을 그대로 보여준다.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601968" y="1371600"/>
            <a:ext cx="14630" cy="416966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5" name="Shape 32"/>
          <p:cNvSpPr/>
          <p:nvPr/>
        </p:nvSpPr>
        <p:spPr>
          <a:xfrm>
            <a:off x="6967728" y="1371600"/>
            <a:ext cx="4791456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6" name="Text 33"/>
          <p:cNvSpPr/>
          <p:nvPr/>
        </p:nvSpPr>
        <p:spPr>
          <a:xfrm>
            <a:off x="7077456" y="13716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및 화면 표시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004304" y="1700784"/>
            <a:ext cx="4718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간 산점도는 가로축과 세로축을 담은 지표 중에서 직접 고른다. 정해진 짝만 보여주지 않는다.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 하나가 시군구 하나이며, 지금 고른 시군구는 강조되어 어디쯤인지 바로 보인다.</a:t>
            </a:r>
            <a:endParaRPr lang="en-US" sz="850" dirty="0"/>
          </a:p>
          <a:p>
            <a:pPr marL="342900" indent="-342900">
              <a:lnSpc>
                <a:spcPts val="14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지표 원값 표에서는 단위와 방향(▲▼)을 함께 적어 값이 클수록 좋은지 나쁜지를 표에서 알 수 있다.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8815744" y="2743200"/>
            <a:ext cx="1095423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9" name="Image 1" descr="/home/claude/patch/shots-21q/30-scat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5744" y="2743200"/>
            <a:ext cx="1095423" cy="1828800"/>
          </a:xfrm>
          <a:prstGeom prst="rect">
            <a:avLst/>
          </a:prstGeom>
        </p:spPr>
      </p:pic>
      <p:sp>
        <p:nvSpPr>
          <p:cNvPr id="40" name="Shape 36"/>
          <p:cNvSpPr/>
          <p:nvPr/>
        </p:nvSpPr>
        <p:spPr>
          <a:xfrm>
            <a:off x="8815744" y="2743200"/>
            <a:ext cx="1095423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967728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7040880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원값을 화면에 남겨 두면 표준화 결과가 이상해 보일 때 어디서 비롯됐는지 그 자리에서 되짚을 수 있다.</a:t>
            </a:r>
            <a:endParaRPr lang="en-US" sz="800" dirty="0"/>
          </a:p>
        </p:txBody>
      </p:sp>
      <p:sp>
        <p:nvSpPr>
          <p:cNvPr id="43" name="Shape 39"/>
          <p:cNvSpPr/>
          <p:nvPr/>
        </p:nvSpPr>
        <p:spPr>
          <a:xfrm>
            <a:off x="9363456" y="4645152"/>
            <a:ext cx="2322576" cy="89611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9436608" y="4645152"/>
            <a:ext cx="2176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축을 고정하지 않은 산점도는 지표 사이의 관계를 화면에서 직접 확인하는 유일한 자리다.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2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3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본문 → 표준화 민감도 → 원데이터 순서는 결론에서 근거로, 다시 원자료로 내려가는 읽기 순서를 그대로 옮긴 것이다.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명세 종합 — Container 통계창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항목 4 × 정리 관점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468880"/>
                <a:gridCol w="2194560"/>
                <a:gridCol w="2377440"/>
                <a:gridCol w="246888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구성 요소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 방식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 반응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 의도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흐름 막대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조각 · 방법 조각 · 지도 색 조각 · 선택 지역 조각 · 내려받기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조각 누르기 · 내려받기 차림표 열기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조작부의 해당 칸으로 이동하고 파일을 내려준다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화면의 상태를 한 줄로 요약하고 그 줄로 되돌아간다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종합 (본문)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분포 요약 · 상위·하위 열 곳 · 시도별 평균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시군구 이름 누르기 · 카드별 저장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지도에서 그 지역이 선택되고 진단표가 맨 위에 붙는다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탭 없이 위에서 아래로 한 번만 훑게 한다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 민감도 (서랍)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 설명 · 점수 분포 · 순위 이동 · 민감도 산점도 · 이동 큰 시군구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서랍 접기·펴기 · 축 고르기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접은 상태만 주소에 남고 다시 열면 그대로 복원된다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주제를 본문 바로 아래 첫 서랍에 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원데이터 (서랍)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선택 지역 원값 · 전국 원값 · 지표 간 산점도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축 두 개 고르기 · 표 정렬 · 카드별 저장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시군구가 산점도에서 강조된다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계산된 값과 계산 전 값을 화면에서 갈라 둔다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175504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517550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 순서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290304" y="5175504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전국은 어떤 모양인가 → 이 지역은 어디쯤인가 → 방법을 바꾸면 얼마나 움직이는가 → 원값은 무엇인가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20624" y="5632704"/>
            <a:ext cx="11338560" cy="97840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2" name="Shape 9"/>
          <p:cNvSpPr/>
          <p:nvPr/>
        </p:nvSpPr>
        <p:spPr>
          <a:xfrm>
            <a:off x="420624" y="5632704"/>
            <a:ext cx="41148" cy="9784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" y="5687568"/>
            <a:ext cx="11018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통계창은 본문 하나와 서랍 두 짝, 모두 세 덩어리다. 이 이상 나누지 않으므로 무엇이 어디 있는지 외울 필요가 없다.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카드는 모두 저장 단추를 하나씩 가지며, 흐름 막대의 내려받기로 통계창 전체를 한 번에 받을 수도 있다.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명세 종합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영역별 구성 · 판독 방식 · 핵심 키워드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69417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Sidebar   조작부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" y="1207008"/>
            <a:ext cx="3694176" cy="42245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38074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80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1335024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화면 부문 선택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" y="173736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고르기 창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185416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185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" y="2139696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두 단계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2587752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41248" y="2542032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· 발판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999232"/>
            <a:ext cx="3438144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27248"/>
            <a:ext cx="3438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고르는 일만 맡는다. 계산을 바꾸는 칸(지표 · 방법)과 보기를 바꾸는 칸(지도 색)을 번호와 가운뎃점으로 갈라 놓았다.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48640" y="4224528"/>
            <a:ext cx="1664208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24528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#필수두칸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0" y="4224528"/>
            <a:ext cx="1664208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4224528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#자동진행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48640" y="4553712"/>
            <a:ext cx="1664208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553712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#두층목록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0" y="4553712"/>
            <a:ext cx="1664208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4553712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#고정발판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24528" y="932688"/>
            <a:ext cx="369417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31"/>
          <p:cNvSpPr/>
          <p:nvPr/>
        </p:nvSpPr>
        <p:spPr>
          <a:xfrm>
            <a:off x="4352544" y="93268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Map   지도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224528" y="1207008"/>
            <a:ext cx="3694176" cy="42245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52544" y="138074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6" name="Text 34"/>
          <p:cNvSpPr/>
          <p:nvPr/>
        </p:nvSpPr>
        <p:spPr>
          <a:xfrm>
            <a:off x="4352544" y="1380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645152" y="1335024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단계 지도 · 이름표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52544" y="1783080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9" name="Text 37"/>
          <p:cNvSpPr/>
          <p:nvPr/>
        </p:nvSpPr>
        <p:spPr>
          <a:xfrm>
            <a:off x="4352544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645152" y="173736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도구 여섯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52544" y="2185416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2" name="Text 40"/>
          <p:cNvSpPr/>
          <p:nvPr/>
        </p:nvSpPr>
        <p:spPr>
          <a:xfrm>
            <a:off x="4352544" y="2185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45152" y="2139696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범례 · 구간 방식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52544" y="2587752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5" name="Text 43"/>
          <p:cNvSpPr/>
          <p:nvPr/>
        </p:nvSpPr>
        <p:spPr>
          <a:xfrm>
            <a:off x="4352544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45152" y="2542032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· 되돌아가기 · 비교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52544" y="2999232"/>
            <a:ext cx="3438144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48" name="Text 46"/>
          <p:cNvSpPr/>
          <p:nvPr/>
        </p:nvSpPr>
        <p:spPr>
          <a:xfrm>
            <a:off x="4352544" y="3127248"/>
            <a:ext cx="3438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보는 일과 고르는 일을 함께 맡는다. 조작은 모두 가장자리에 붙이고 한가운데는 값을 보는 자리로 비워 둔다.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352544" y="4224528"/>
            <a:ext cx="1664208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52544" y="4224528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#색단계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089904" y="4224528"/>
            <a:ext cx="1664208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9904" y="4224528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#구간방식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352544" y="4553712"/>
            <a:ext cx="1664208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52544" y="4553712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#세갈래복귀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089904" y="4553712"/>
            <a:ext cx="1664208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089904" y="4553712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#나란히비교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028432" y="932688"/>
            <a:ext cx="3694176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8" name="Text 56"/>
          <p:cNvSpPr/>
          <p:nvPr/>
        </p:nvSpPr>
        <p:spPr>
          <a:xfrm>
            <a:off x="8156448" y="932688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Container   통계창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8028432" y="1207008"/>
            <a:ext cx="3694176" cy="42245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156448" y="1380744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61" name="Text 59"/>
          <p:cNvSpPr/>
          <p:nvPr/>
        </p:nvSpPr>
        <p:spPr>
          <a:xfrm>
            <a:off x="8156448" y="1380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8449056" y="1335024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막대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156448" y="1783080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64" name="Text 62"/>
          <p:cNvSpPr/>
          <p:nvPr/>
        </p:nvSpPr>
        <p:spPr>
          <a:xfrm>
            <a:off x="8156448" y="1783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449056" y="173736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종합 (본문)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156448" y="2185416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67" name="Text 65"/>
          <p:cNvSpPr/>
          <p:nvPr/>
        </p:nvSpPr>
        <p:spPr>
          <a:xfrm>
            <a:off x="8156448" y="21854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449056" y="2139696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민감도 (서랍)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8156448" y="2587752"/>
            <a:ext cx="201168" cy="201168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70" name="Text 68"/>
          <p:cNvSpPr/>
          <p:nvPr/>
        </p:nvSpPr>
        <p:spPr>
          <a:xfrm>
            <a:off x="8156448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8449056" y="2542032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원데이터 (서랍)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156448" y="2999232"/>
            <a:ext cx="3438144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73" name="Text 71"/>
          <p:cNvSpPr/>
          <p:nvPr/>
        </p:nvSpPr>
        <p:spPr>
          <a:xfrm>
            <a:off x="8156448" y="3127248"/>
            <a:ext cx="3438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근거를 대는 일을 맡는다. 본문 하나와 서랍 두 짝으로만 나누고, 결론에서 근거, 다시 원자료로 내려가게 배치했다.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156448" y="4224528"/>
            <a:ext cx="1664208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156448" y="4224528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#본문과서랍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893808" y="4224528"/>
            <a:ext cx="1664208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93808" y="4224528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#전국요약4칸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8156448" y="4553712"/>
            <a:ext cx="1664208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56448" y="4553712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#순위이동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9893808" y="4553712"/>
            <a:ext cx="1664208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893808" y="4553712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#원값보존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20624" y="5632704"/>
            <a:ext cx="11338560" cy="97840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83" name="Shape 81"/>
          <p:cNvSpPr/>
          <p:nvPr/>
        </p:nvSpPr>
        <p:spPr>
          <a:xfrm>
            <a:off x="420624" y="5632704"/>
            <a:ext cx="41148" cy="9784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4" name="Text 82"/>
          <p:cNvSpPr/>
          <p:nvPr/>
        </p:nvSpPr>
        <p:spPr>
          <a:xfrm>
            <a:off x="603504" y="5687568"/>
            <a:ext cx="11018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세 영역은 고르기 · 보기 · 근거 대기로 역할이 갈리며, 한 영역의 조작이 나머지 두 영역에 그대로 반영된다.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기능 13건 중 여덟 건이 되돌릴 수 있는 보기 변경이고, 계산을 실제로 바꾸는 것은 지표 선택과 표준화 방법 둘뿐이다.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-21q/pen-dark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766560" y="-502920"/>
            <a:ext cx="6035040" cy="5641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  ·  SPATIAL ANALYSIS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760720" y="347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O3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테마 및 설계 원칙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94360" y="4315968"/>
            <a:ext cx="1097280" cy="21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498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전체를 관통하는 두 가지 테마를 정하고, 그 테마를 지키기 위해 세운 설계 원칙을 항목별로 적는다.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화면 테마 2종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화면 설계 원칙 11항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레이아웃 유형별 적용 화면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유형 A · B · C 구성 방식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테마 설정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Theme 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200400" cy="21214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0424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03504" y="2066544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지도를 바닥에 깔고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판을 그 위에 띄운다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" y="3127248"/>
            <a:ext cx="3200400" cy="13716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18688"/>
            <a:ext cx="29443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전체를 전국 지도가 채우고, 조작부와 통계창은 그 위에 흰 판으로 떠 있다. 지도가 늘 뒤에 남아 있어 지금 읽는 숫자가 전국 어느 자리의 이야기인지 시선을 옮기지 않고 확인한다.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판은 접을 수 있고, 접으면 지도가 그만큼 넓어진다. 화면을 옮겨 다니지 않고 한 자리에서 끝낸다.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" y="4590288"/>
            <a:ext cx="320040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902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키워드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" y="4901184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4901184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우선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57400" y="4901184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4901184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떠 있는 판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" y="5184648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518464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접고 펴기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57400" y="5184648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518464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화면 완결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5468112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5468112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흰 바탕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57400" y="5468112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5468112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옅은 경계선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77056" y="932688"/>
            <a:ext cx="2560320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8" name="Text 26"/>
          <p:cNvSpPr/>
          <p:nvPr/>
        </p:nvSpPr>
        <p:spPr>
          <a:xfrm>
            <a:off x="4005072" y="932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들어가는 자리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77056" y="1268273"/>
            <a:ext cx="2560320" cy="152339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0" name="Image 0" descr="/home/claude/patch/shots-21q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7056" y="1268273"/>
            <a:ext cx="2560320" cy="152339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3877056" y="1268273"/>
            <a:ext cx="2560320" cy="152339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77056" y="2962656"/>
            <a:ext cx="2560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카드만 놓인 시작 화면이다. 자료가 들어온 여섯 부문을 카드로 펴고, 아직 준비중인 네 부문은 아래 띠에 흐리게 두어 지표체계 열 부문이 모두 보이게 했다.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537960" y="932688"/>
            <a:ext cx="2560320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4" name="Text 31"/>
          <p:cNvSpPr/>
          <p:nvPr/>
        </p:nvSpPr>
        <p:spPr>
          <a:xfrm>
            <a:off x="6665976" y="932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판이 모두 펴진 자리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537960" y="1268273"/>
            <a:ext cx="2560320" cy="152339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6" name="Image 1" descr="/home/claude/patch/shots-21q/06-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68273"/>
            <a:ext cx="2560320" cy="152339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6537960" y="1268273"/>
            <a:ext cx="2560320" cy="152339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537960" y="2962656"/>
            <a:ext cx="2560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조작부, 가운데 통계창, 바닥의 지도가 한 화면에 함께 있다. 조작부에서 무엇을 바꾸든 통계창과 지도가 같은 순간에 다시 그려진다.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9198864" y="932688"/>
            <a:ext cx="2560320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0" name="Text 36"/>
          <p:cNvSpPr/>
          <p:nvPr/>
        </p:nvSpPr>
        <p:spPr>
          <a:xfrm>
            <a:off x="9326880" y="932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판을 접은 자리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9198864" y="1268273"/>
            <a:ext cx="2560320" cy="152339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2" name="Image 2" descr="/home/claude/patch/shots-21q/50-collaps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4" y="1268273"/>
            <a:ext cx="2560320" cy="1523390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9198864" y="1268273"/>
            <a:ext cx="2560320" cy="152339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9198864" y="2962656"/>
            <a:ext cx="2560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통계창을 접으면 지도만 남는다. 발표나 화면 공유처럼 지도를 크게 보여야 할 때 쓰고, 다시 펴면 접기 전에 보던 자리로 그대로 돌아온다.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420624" y="5742432"/>
            <a:ext cx="11338560" cy="86868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1"/>
          <p:cNvSpPr/>
          <p:nvPr/>
        </p:nvSpPr>
        <p:spPr>
          <a:xfrm>
            <a:off x="420624" y="5742432"/>
            <a:ext cx="41148" cy="8686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2"/>
          <p:cNvSpPr/>
          <p:nvPr/>
        </p:nvSpPr>
        <p:spPr>
          <a:xfrm>
            <a:off x="603504" y="5797296"/>
            <a:ext cx="11018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지도를 배경으로 고정한 덕분에 표준화 방법을 바꿀 때 값이 어느 지역에서 움직였는지가 표를 읽기 전에 색으로 먼저 보인다.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판을 접고 펴는 것만으로 지도 중심 보기와 통계 중심 보기를 오가므로 화면을 따로 만들지 않았다.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테마 설정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Theme 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200400" cy="21214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0424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THEME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66928" y="1243584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03504" y="2066544"/>
            <a:ext cx="2834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결과는 본문에</a:t>
            </a:r>
            <a:endParaRPr lang="en-US" sz="13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서랍에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" y="3127248"/>
            <a:ext cx="3200400" cy="13716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218688"/>
            <a:ext cx="29443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통계창에는 탭을 두지 않았다. 부문 종합이 본문으로 맨 위에 오고, 표준화 민감도와 원데이터는 그 아래 서랍 두 짝으로 접어 둔다.</a:t>
            </a: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endParaRPr lang="en-US" sz="8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서랍은 처음부터 펴 둔 채로 열린다. 탭과 달리 접힌 칸의 이름이 계속 보이므로, 아직 열어 보지 않은 근거가 무엇인지 화면에서 바로 읽힌다.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0624" y="4590288"/>
            <a:ext cx="320040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9028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키워드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0624" y="4901184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4901184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탭 없음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057400" y="4901184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4901184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+ 서랍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0624" y="5184648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518464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층위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057400" y="5184648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5184648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펴 둠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5468112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5468112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계속 노출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057400" y="5468112"/>
            <a:ext cx="1563624" cy="246888"/>
          </a:xfrm>
          <a:prstGeom prst="roundRect">
            <a:avLst>
              <a:gd name="adj" fmla="val 48148"/>
            </a:avLst>
          </a:prstGeom>
          <a:solidFill>
            <a:srgbClr val="111418"/>
          </a:solidFill>
          <a:ln w="9525">
            <a:solidFill>
              <a:srgbClr val="11141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57400" y="5468112"/>
            <a:ext cx="15636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접은 상태 저장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77056" y="932688"/>
            <a:ext cx="2560320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8" name="Text 26"/>
          <p:cNvSpPr/>
          <p:nvPr/>
        </p:nvSpPr>
        <p:spPr>
          <a:xfrm>
            <a:off x="4005072" y="932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부문을 바꾼 자리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877056" y="1268273"/>
            <a:ext cx="2560320" cy="152339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0" name="Image 0" descr="/home/claude/patch/shots-21q/61-sector-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7056" y="1268273"/>
            <a:ext cx="2560320" cy="1523390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3877056" y="1268273"/>
            <a:ext cx="2560320" cy="152339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77056" y="2962656"/>
            <a:ext cx="2560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머리줄에서 다른 부문으로 옮겨도 조작부·통계창·지도가 놓인 자리는 그대로다. 바뀌는 것은 안에 담긴 지표와 숫자뿐이라 두 번째 부문부터는 조작을 찾지 않는다.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6537960" y="932688"/>
            <a:ext cx="2560320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4" name="Text 31"/>
          <p:cNvSpPr/>
          <p:nvPr/>
        </p:nvSpPr>
        <p:spPr>
          <a:xfrm>
            <a:off x="6665976" y="932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방법을 바꾼 자리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537960" y="1268273"/>
            <a:ext cx="2560320" cy="152339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6" name="Image 1" descr="/home/claude/patch/shots-21q/48-pctr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68273"/>
            <a:ext cx="2560320" cy="152339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6537960" y="1268273"/>
            <a:ext cx="2560320" cy="152339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537960" y="2962656"/>
            <a:ext cx="2560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방법을 백분위순위로 바꾼 화면이다. 부문 종합·서랍·지도가 한 번에 다시 계산되고, 순위가 크게 움직인 지역은 지도 색에서 먼저 드러난다.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9198864" y="932688"/>
            <a:ext cx="2560320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0" name="Text 36"/>
          <p:cNvSpPr/>
          <p:nvPr/>
        </p:nvSpPr>
        <p:spPr>
          <a:xfrm>
            <a:off x="9326880" y="9326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조합을 나란히 둔 자리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9198864" y="1268273"/>
            <a:ext cx="2560320" cy="152339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2" name="Image 2" descr="/home/claude/patch/shots-21q/54-compare-f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4" y="1268273"/>
            <a:ext cx="2560320" cy="1523390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9198864" y="1268273"/>
            <a:ext cx="2560320" cy="152339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9198864" y="2962656"/>
            <a:ext cx="2560320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지표·방법 조합을 좌우에 각각 지정해 지도 두 장을 동시에 본다. 어느 쪽이 기준인지 정해 두지 않고 자유 조합만 남겨, 무엇과 무엇을 대비할지 사용자가 정한다.</a:t>
            </a:r>
            <a:endParaRPr lang="en-US" sz="850" dirty="0"/>
          </a:p>
        </p:txBody>
      </p:sp>
      <p:sp>
        <p:nvSpPr>
          <p:cNvPr id="45" name="Shape 40"/>
          <p:cNvSpPr/>
          <p:nvPr/>
        </p:nvSpPr>
        <p:spPr>
          <a:xfrm>
            <a:off x="420624" y="5742432"/>
            <a:ext cx="11338560" cy="86868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6" name="Shape 41"/>
          <p:cNvSpPr/>
          <p:nvPr/>
        </p:nvSpPr>
        <p:spPr>
          <a:xfrm>
            <a:off x="420624" y="5742432"/>
            <a:ext cx="41148" cy="8686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7" name="Text 42"/>
          <p:cNvSpPr/>
          <p:nvPr/>
        </p:nvSpPr>
        <p:spPr>
          <a:xfrm>
            <a:off x="603504" y="5797296"/>
            <a:ext cx="11018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근거를 탭 뒤로 숨기지 않고 서랍으로 접어 두면, 열지 않아도 어떤 근거가 준비되어 있는지가 이름만으로 전달된다.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접은 서랍은 주소에 함께 기록되므로, 같은 주소를 받은 사람은 접어 둔 상태까지 똑같이 본다.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설계 원칙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  ·  들어가는 순서와 층위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1700784"/>
                <a:gridCol w="3200400"/>
                <a:gridCol w="3694176"/>
                <a:gridCol w="2029968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 원칙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화면에서의 구현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들어가는 길은 하나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 부문을 한꺼번에 늘어놓지 않는다. 볼 부문을 먼저 정하고 그 부문만 들고 들어간다.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화면에서 자료가 있는 여섯 부문을 카드로 고르게 하고, 준비중인 네 부문은 아래 띠에 흐리게 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화면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구조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반드시 거칠 단계는 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계산을 실제로 바꾸는 조작에만 번호를 매기고, 보기만 바꾸는 조작은 번호 밖으로 뺀다.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조작부는 1 지표 선택 · 2 표준화 방법 둘만 번호를 달고, 지도 색 기준은 번호 없는 선택 칸으로 따로 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기본값이 있으면 멈추지 않는다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 골라져 있는 것을 한 번 더 누르게 하지 않는다.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2단계에 닿으면 Min-Max가 잡힌 채로 화면이 내려가면서 통계창까지 곧바로 열린다.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 · 통계창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본문과 근거를 층으로 나눈다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화면에 모두 담되, 먼저 읽어야 할 것이 위에 오게 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종합을 본문으로 두고 표준화 민감도 · 원데이터를 그 아래 서랍 두 짝으로 접는다.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통계창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되돌아가는 길은 보이는 자리에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빈 곳 누르기처럼 배워야 아는 조작에 되돌리기를 맡기지 않는다.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전국으로 돌아가기를 지도 왼쪽 위 · 흐름 막대 · 선택 지역 머리줄 세 자리에 같은 이름으로 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· 통계창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숫자 옆에 근거를 붙인다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 숫자만 두지 않고 그 숫자가 어디서 왔는지 같은 자리에서 읽게 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 진단표가 원값 · 표준점수 · 백분위를 한 줄에 두고, 계산 과정 칸이 네 방법의 중간값을 그대로 편다.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통계창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632704"/>
            <a:ext cx="11338560" cy="97840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" y="5632704"/>
            <a:ext cx="41148" cy="9784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5687568"/>
            <a:ext cx="11018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원칙은 모두 "고르는 일과 읽는 일을 섞지 않는다"는 한 줄로 모인다. 고르는 조작은 왼쪽과 창에, 읽는 것은 가운데와 지도에 둔다.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설계 원칙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  ·  용어 · 표기 · 내보내기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713232"/>
                <a:gridCol w="1700784"/>
                <a:gridCol w="3200400"/>
                <a:gridCol w="3694176"/>
                <a:gridCol w="2029968"/>
              </a:tblGrid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 원칙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화면에서의 구현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줄임말을 쓰지 않는다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화면에서는 풀어 쓴 이름만 쓰고, 줄임말은 용어 창 안에서만 설명한다.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MM · DI 같은 표기를 없애고 Min-Max · 거리기반 · 백분위순위 · 로지스틱으로 적는다.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 · 통계창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긴 설명은 창으로 뺀다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본문에 풀이를 길게 붙이지 않고, 필요한 사람만 열어 보게 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머리줄에 데이터 설명 · 용어 · 방법론 · 전체 데이터표 세 짝을 각각 따로 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머리줄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등급은 두지 않는다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아홉 칸으로 자른 등급은 백분위를 다시 적은 것에 지나지 않아 화면에서 뺀다.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 진단표와 범례에서 등급 표기를 지우고 표준점수(T)와 백분위만 남긴다.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통계창 · 지도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상태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 화면을 그대로 넘긴다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조합을 말로 설명하지 않고 주소만 건네도 같은 화면이 열리게 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· 방법 · 지표 · 지도 색 기준 · 선택 지역 · 접은 서랍까지 열 개 열쇠로 주소에 적는다.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화면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내려받기는 보는 자리에서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자료를 찾으러 다른 화면으로 가지 않고, 지금 보는 칸에서 바로 받게 한다.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 카드마다 저장 단추를 붙이고 지도는 PNG · Shapefile, 표는 CSV · Excel로 내보낸다.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통계창 · 지도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632704"/>
            <a:ext cx="11338560" cy="97840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" y="5632704"/>
            <a:ext cx="41148" cy="9784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5687568"/>
            <a:ext cx="11018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연구기관이 쓰는 화면이므로 쉬운 말로 바꾸되 정의가 흐려지지 않도록, 화면에는 이름만 두고 정의는 창에 모아 두었다.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등급을 빼고 백분위만 남긴 것은 두 표기가 같은 값을 두 번 말하고 있었기 때문이다.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 — 유형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배치  ·  화면 전체를 하나가 덮는다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화면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" y="1318626"/>
            <a:ext cx="3681984" cy="21907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318626"/>
            <a:ext cx="3681984" cy="21907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1318626"/>
            <a:ext cx="3681984" cy="219078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카드 여섯 장과 준비중 네 부문이 한 화면을 채운다. 다른 조작이 없어 무엇을 먼저 해야 하는지 고민할 자리를 남기지 않는다.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48912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4376928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지도가 덮은 본 화면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48912" y="1318626"/>
            <a:ext cx="3681984" cy="21907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37-onlyhig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912" y="1318626"/>
            <a:ext cx="3681984" cy="21907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248912" y="1318626"/>
            <a:ext cx="3681984" cy="219078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67200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지도가 바닥 전체를 덮고 판이 그 위에 얹힌다. 오른쪽 아래 스위치로 순위 이동이 큰 지역만 남겨 볼 수 있다.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77200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6"/>
          <p:cNvSpPr/>
          <p:nvPr/>
        </p:nvSpPr>
        <p:spPr>
          <a:xfrm>
            <a:off x="8205216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되돌아온 시작 화면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77200" y="1318626"/>
            <a:ext cx="3681984" cy="21907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60-home-ag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318626"/>
            <a:ext cx="3681984" cy="21907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077200" y="1318626"/>
            <a:ext cx="3681984" cy="219078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95488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머리줄의 부문 이름을 누르면 시작 화면이 다시 전면으로 올라온다. 부문을 갈아타는 길을 화면 밖에 두지 않았다.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20624" y="4937760"/>
            <a:ext cx="1133856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Text 22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요약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92024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4"/>
          <p:cNvSpPr/>
          <p:nvPr/>
        </p:nvSpPr>
        <p:spPr>
          <a:xfrm>
            <a:off x="192024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215798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전체를 덮어 다른 조작이 눈에 들어오지 않게 한다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521208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7"/>
          <p:cNvSpPr/>
          <p:nvPr/>
        </p:nvSpPr>
        <p:spPr>
          <a:xfrm>
            <a:off x="521208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44982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들어가는 자리와 되돌아오는 자리를 같은 화면으로 맞춘다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850392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850392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74166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지도는 배경으로 두어 판을 접으면 그대로 드러난다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8" name="Shape 33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4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전면 배치는 고르는 순간과 보는 순간에만 쓴다. 그 사이의 모든 조작은 판 위에서 끝나므로 화면이 통째로 바뀌는 일이 없다.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 — 유형 B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 목록 · 세 칸 창  ·  고를 것을 쌓는다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1단계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" y="1318626"/>
            <a:ext cx="3681984" cy="21907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02-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318626"/>
            <a:ext cx="3681984" cy="21907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1318626"/>
            <a:ext cx="3681984" cy="219078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왼쪽에 번호가 매겨진 단계가 세로로 쌓인다. 1단계를 마치기 전에는 아래 단계가 흐리게 잠겨 순서를 눈으로 알린다.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48912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4376928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고르기 창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77463" y="1243584"/>
            <a:ext cx="3624882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05e-picker-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463" y="1243584"/>
            <a:ext cx="3624882" cy="234086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277463" y="1243584"/>
            <a:ext cx="3624882" cy="234086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67200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목록 · 지표 카드 · 담은 목록 세 칸으로 나눈다. 카드 안에서 정의와 출처를 읽고 연도 단추로 바로 담는다.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77200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6"/>
          <p:cNvSpPr/>
          <p:nvPr/>
        </p:nvSpPr>
        <p:spPr>
          <a:xfrm>
            <a:off x="8205216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안에서 찾기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141445" y="1243584"/>
            <a:ext cx="3553494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05f-picker-fi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445" y="1243584"/>
            <a:ext cx="3553494" cy="234086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141445" y="1243584"/>
            <a:ext cx="3553494" cy="234086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95488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부문 지표도 검색으로 불러 함께 담는다. 부문 경계를 넘는 조합이 필요할 때만 쓰이는 길이라 창 안에 두었다.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20624" y="4937760"/>
            <a:ext cx="1133856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Text 22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요약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92024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4"/>
          <p:cNvSpPr/>
          <p:nvPr/>
        </p:nvSpPr>
        <p:spPr>
          <a:xfrm>
            <a:off x="192024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215798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번호가 붙은 단계는 계산을 바꾸는 둘뿐이다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521208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7"/>
          <p:cNvSpPr/>
          <p:nvPr/>
        </p:nvSpPr>
        <p:spPr>
          <a:xfrm>
            <a:off x="521208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44982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고르는 일은 왼쪽과 창에서만 일어난다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850392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850392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74166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담은 목록이 늘 오른쪽에 남아 무엇을 골랐는지 잊지 않는다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8" name="Shape 33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4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세로 목록은 순서가 있는 조작에, 세 칸 창은 고를 것이 많은 조작에 쓴다. 둘 다 고르는 일만 맡고 결과는 보여 주지 않는다.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 — 유형 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+ 서랍  ·  결과 아래 근거를 접는다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서랍을 접은 상태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20624" y="1318626"/>
            <a:ext cx="3681984" cy="21907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50-collaps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318626"/>
            <a:ext cx="3681984" cy="21907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1318626"/>
            <a:ext cx="3681984" cy="219078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접으면 본문만 남는다. 접힌 칸의 이름은 계속 보이므로 무엇을 아직 열지 않았는지 화면에서 읽힌다.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248912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4376928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서랍을 편 상태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48912" y="1318626"/>
            <a:ext cx="3681984" cy="21907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06-ma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912" y="1318626"/>
            <a:ext cx="3681984" cy="21907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248912" y="1318626"/>
            <a:ext cx="3681984" cy="219078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67200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 열릴 때는 두 서랍이 모두 펴진 채로 나온다. 부문 종합을 읽고 그대로 아래로 내려가면 근거가 이어진다.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8077200" y="932688"/>
            <a:ext cx="3681984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6"/>
          <p:cNvSpPr/>
          <p:nvPr/>
        </p:nvSpPr>
        <p:spPr>
          <a:xfrm>
            <a:off x="8205216" y="932688"/>
            <a:ext cx="3425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지역을 고른 상태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77200" y="1318626"/>
            <a:ext cx="3681984" cy="21907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38-selec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318626"/>
            <a:ext cx="3681984" cy="21907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8077200" y="1318626"/>
            <a:ext cx="3681984" cy="219078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095488" y="3657600"/>
            <a:ext cx="36454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시군구를 누르면 그 지역 칸이 통계창 맨 위로 올라온다. 전국 요약은 그 아래로 밀려 함께 남는다.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420624" y="4937760"/>
            <a:ext cx="11338560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Text 22"/>
          <p:cNvSpPr/>
          <p:nvPr/>
        </p:nvSpPr>
        <p:spPr>
          <a:xfrm>
            <a:off x="420624" y="4937760"/>
            <a:ext cx="1371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요약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92024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9" name="Text 24"/>
          <p:cNvSpPr/>
          <p:nvPr/>
        </p:nvSpPr>
        <p:spPr>
          <a:xfrm>
            <a:off x="192024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215798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본문은 부문 종합 하나로 고정한다</a:t>
            </a:r>
            <a:endParaRPr lang="en-US" sz="750" dirty="0"/>
          </a:p>
        </p:txBody>
      </p:sp>
      <p:sp>
        <p:nvSpPr>
          <p:cNvPr id="31" name="Shape 26"/>
          <p:cNvSpPr/>
          <p:nvPr/>
        </p:nvSpPr>
        <p:spPr>
          <a:xfrm>
            <a:off x="521208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2" name="Text 27"/>
          <p:cNvSpPr/>
          <p:nvPr/>
        </p:nvSpPr>
        <p:spPr>
          <a:xfrm>
            <a:off x="521208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28"/>
          <p:cNvSpPr/>
          <p:nvPr/>
        </p:nvSpPr>
        <p:spPr>
          <a:xfrm>
            <a:off x="544982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근거는 표준화 민감도 · 원데이터 두 서랍으로 나눈다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8503920" y="5056632"/>
            <a:ext cx="182880" cy="182880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850392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8741664" y="4992624"/>
            <a:ext cx="29992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7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접은 상태는 주소에 기록되어 공유해도 그대로 열린다</a:t>
            </a:r>
            <a:endParaRPr lang="en-US" sz="750" dirty="0"/>
          </a:p>
        </p:txBody>
      </p:sp>
      <p:sp>
        <p:nvSpPr>
          <p:cNvPr id="37" name="Shape 32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8" name="Shape 33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4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탭을 없애고 서랍으로 바꾼 뒤로는 화면을 옮기지 않고도 결과와 근거를 한 줄기로 읽는다. 접은 상태까지 넘어가므로 발표용 화면을 따로 만들 필요가 없다.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-21q/pen-dark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766560" y="-502920"/>
            <a:ext cx="6035040" cy="5641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  ·  SPATIAL ANALYSIS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760720" y="347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O4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설계 및 화면 흐름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94360" y="4315968"/>
            <a:ext cx="1097280" cy="21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498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기능을 코드로 묶어 목록으로 만들고, 그 목록을 화면 구조로 세운 뒤 사용자가 지나가는 순서대로 흐름을 그린다.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기능 구성 목록 28건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화면 구조(I.A) 전체도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부문 체계 10개 · 지표 32개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서비스 플로우 3종 · 세부 흐름 2종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구성 목록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  ·  시작 화면 · 머리줄 · 지표 고르기 창 · 조작부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896112"/>
          <a:ext cx="113385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74980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LP-01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카드 고르기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자료가 들어온 여섯 부문을 카드로 펴고 지표 수와 연도 범위를 함께 보인다. 카드를 누르면 그 부문만 들고 본 화면으로 들어간다.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화면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LP-02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준비중 부문 보이기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아직 자료가 없는 네 부문을 아래 띠에 흐리게 두어, 지표체계 열 부문의 전체 모습을 처음부터 알린다.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화면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HD-01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이름 · 부문 바꾸기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머리줄 왼쪽의 부문 이름을 누르면 시작 화면이 다시 올라온다. 부문을 갈아타는 길을 화면 안에 둔다.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머리줄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HD-02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데이터 설명 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 고른 지표의 정의 · 단위 · 산식 · 출처 · 방향을 창으로 편다. 지표를 바꾸면 목록도 함께 바뀐다.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머리줄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HD-03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용어 · 방법론 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핵심 용어 · 표준화 방법 4종 · 지표 사전 32개를 세 갈피로 나눈 창이다. 화면에 쓰인 말의 정의를 한자리에 모은다.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머리줄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HD-04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데이터표 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229개 시군구 × 선택 지표를 표로 펴고 정렬과 검색을 붙인다. 값을 직접 확인해야 할 때 쓴다.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머리줄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PK-01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목록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창 왼쪽 칸에 열 부문을 세로로 두고 지금 보는 부문을 표시한다. 다른 부문으로 옮겨도 담은 목록은 남는다.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고르기 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PK-02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카드 · 연도 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지표마다 정의 · 단위 · 출처 · 방향을 카드에 적고, 카드 안의 연도 단추로 원하는 해를 담는다.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고르기 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PK-03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검색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부문을 넘어 이름으로 지표를 찾는다. 검색 결과 줄에 몇 개가 어느 범위에서 걸렸는지 함께 적는다.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고르기 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PK-04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담은 목록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오른쪽 칸에 담은 지표와 연도를 쌓아 두고, 낱개로 빼거나 한꺼번에 비운다.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고르기 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SB-01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지표 선택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고르기 창을 여는 단계다. 담은 지표 수와 연도 범위를 단계 안에 요약해 둔다.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SB-02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 표준화 방법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간격보존형 세 가지와 순위전용형 한 가지를 두 진영으로 나누어 고른다. Min-Max가 기본으로 잡혀 있다.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SB-03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색 기준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종합 · 원데이터 · 표준화 민감도 · 참고 플래그 네 묶음에서 지도에 칠할 값을 고른다.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SB-04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 진행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단계를 마치면 화면이 다음 단계로 내려가고, 2단계에 닿으면 통계창까지 곧바로 열린다.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조작부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705856"/>
            <a:ext cx="11338560" cy="905256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" y="5705856"/>
            <a:ext cx="41148" cy="90525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5760720"/>
            <a:ext cx="11018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기능은 화면 조각 단위로 LP · HD · PK · SB 네 갈래로 묶었다. 이 가운데 계산을 실제로 바꾸는 것은 PK-02와 SB-02 둘뿐이다.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구성 목록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  ·  지도 · 통계창 · 서랍 · 내보내기 · 상태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896112"/>
          <a:ext cx="113385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7498080"/>
                <a:gridCol w="1097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기능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설명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MP-01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시군구 선택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지도에서 시군구를 누르면 그 지역이 통계창 맨 위로 올라오고 진단표가 함께 열린다.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MP-02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 라벨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시군구 이름을 지도 위에 켜고 끈다. 배율에 따라 겹치는 이름은 자동으로 솎아 낸다.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MP-03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범례 · 분류 방식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 · 등간격 · 분위수 · 자연분류 · 표준편차 다섯 가지로 색 끊는 자리를 바꾸고, 왜 그렇게 끊었는지 한 줄로 적는다.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MP-04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민감 지역만 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 이동이 큰 지역만 남겨 지도에 칠한다. 방법에 따라 흔들리는 자리를 한눈에 추린다.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MP-05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전국으로 돌아가기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왼쪽 위 · 흐름 막대 · 선택 지역 머리줄 세 자리에 같은 단추를 둔다. 오른쪽 위 화면 맞추기는 배율만 맞추고 선택은 풀지 않는다.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· 통계창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CP-01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종합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지표를 표준화해 평균 낸 부문점수와 전국 순위를 통계창 본문으로 맨 위에 둔다.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CP-02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 요약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분포 요약 · 상위와 하위 열 곳 · 시도별 평균 세 칸으로 전국의 모습을 먼저 보인다.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CP-03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 진단표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시군구의 원값 · 표준점수(T) · 백분위 · 순위를 지표마다 한 줄로 펴고, 방법을 바꿨을 때의 순위도 함께 적는다.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DR-01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 민감도 서랍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방법별 부문점수와 순위 이동 · 순위 흐름 · 이동이 큰 곳 목록 · 산점도를 접어 둔다.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DR-02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원데이터 서랍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지표의 원값을 지역 하나 기준과 전국 기준으로 나누어 접어 둔다.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EX-01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 카드 저장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카드마다 저장 단추를 붙여 그 칸의 값을 CSV · Excel · PNG로 바로 받는다.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통계창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EX-02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 내보내기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 칠해진 지도를 PNG 그림으로, 또는 지표값이 담긴 Shapefile로 내보낸다.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DT-01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데이터표 내려받기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229개 시군구 전체 표를 CSV · Excel로 받는다. 표가 커서 화면에는 싣지 않고 창과 파일로만 다룬다.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머리줄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CR-01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주소로 상태 공유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· 방법 · 지표 · 지도 색 기준 · 선택 지역 · 접은 서랍까지 열 개 열쇠로 주소에 적어, 주소만 건네도 같은 화면이 열린다.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 화면</a:t>
                      </a:r>
                      <a:endParaRPr lang="en-US" sz="7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5705856"/>
            <a:ext cx="11338560" cy="905256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" y="5705856"/>
            <a:ext cx="41148" cy="90525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Text 7"/>
          <p:cNvSpPr/>
          <p:nvPr/>
        </p:nvSpPr>
        <p:spPr>
          <a:xfrm>
            <a:off x="603504" y="5760720"/>
            <a:ext cx="11018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읽는 기능(MP · CP · DR)과 꺼내는 기능(EX · DT · CR)을 갈라 두면, 화면을 바꾸는 조작과 파일을 만드는 조작이 서로 섞이지 않는다.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I.A 설계 — 전체 구조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조각 10갈래 · 기능 28건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175608" y="932688"/>
            <a:ext cx="3840480" cy="40233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4175608" y="932688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민감도 진단 대시보드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8532" y="1335024"/>
            <a:ext cx="14630" cy="201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" name="Shape 8"/>
          <p:cNvSpPr/>
          <p:nvPr/>
        </p:nvSpPr>
        <p:spPr>
          <a:xfrm>
            <a:off x="1503274" y="1536192"/>
            <a:ext cx="9173261" cy="1463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1" name="Shape 9"/>
          <p:cNvSpPr/>
          <p:nvPr/>
        </p:nvSpPr>
        <p:spPr>
          <a:xfrm>
            <a:off x="1495958" y="1536192"/>
            <a:ext cx="14630" cy="1828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" y="1719072"/>
            <a:ext cx="2165299" cy="36576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1719072"/>
            <a:ext cx="20555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A. 시작 화면 · 머리줄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" y="2157984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2157984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231136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LP  부문 카드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48640" y="2468880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있는 여섯 부문 · 준비중 네 부문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20624" y="3017520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3017520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90672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HD  창 세 짝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8640" y="3328416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설명 · 용어 방법론 · 전체 데이터표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20624" y="3877056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" y="3877056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950208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HD  부문 바꾸기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48640" y="4187952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이름을 눌러 시작 화면으로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789274" y="1536192"/>
            <a:ext cx="14630" cy="1828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7" name="Shape 25"/>
          <p:cNvSpPr/>
          <p:nvPr/>
        </p:nvSpPr>
        <p:spPr>
          <a:xfrm>
            <a:off x="2713939" y="1719072"/>
            <a:ext cx="2165299" cy="36576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28" name="Text 26"/>
          <p:cNvSpPr/>
          <p:nvPr/>
        </p:nvSpPr>
        <p:spPr>
          <a:xfrm>
            <a:off x="2768803" y="1719072"/>
            <a:ext cx="20555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B. 지표 고르기 창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13939" y="2157984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13939" y="2157984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1" name="Text 29"/>
          <p:cNvSpPr/>
          <p:nvPr/>
        </p:nvSpPr>
        <p:spPr>
          <a:xfrm>
            <a:off x="2841955" y="2231136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  부문 목록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841955" y="2468880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열 부문 세로 목록 · 현재 부문 표시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13939" y="3017520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13939" y="3017520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5" name="Text 33"/>
          <p:cNvSpPr/>
          <p:nvPr/>
        </p:nvSpPr>
        <p:spPr>
          <a:xfrm>
            <a:off x="2841955" y="3090672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  지표 카드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841955" y="3328416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 · 단위 · 산식 · 출처 · 방향 · 연도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13939" y="3877056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13939" y="3877056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39" name="Text 37"/>
          <p:cNvSpPr/>
          <p:nvPr/>
        </p:nvSpPr>
        <p:spPr>
          <a:xfrm>
            <a:off x="2841955" y="3950208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PK  담은 목록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841955" y="4187952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지표와 연도 · 낱개 빼기 · 비우기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6082589" y="1536192"/>
            <a:ext cx="14630" cy="1828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2" name="Shape 40"/>
          <p:cNvSpPr/>
          <p:nvPr/>
        </p:nvSpPr>
        <p:spPr>
          <a:xfrm>
            <a:off x="5007254" y="1719072"/>
            <a:ext cx="2165299" cy="36576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43" name="Text 41"/>
          <p:cNvSpPr/>
          <p:nvPr/>
        </p:nvSpPr>
        <p:spPr>
          <a:xfrm>
            <a:off x="5062118" y="1719072"/>
            <a:ext cx="20555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C. 조작부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07254" y="2157984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07254" y="2157984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46" name="Text 44"/>
          <p:cNvSpPr/>
          <p:nvPr/>
        </p:nvSpPr>
        <p:spPr>
          <a:xfrm>
            <a:off x="5135270" y="2231136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SB  1 지표 선택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135270" y="2468880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열기 · 담은 수와 연도 범위 요약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007254" y="3017520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07254" y="3017520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50" name="Text 48"/>
          <p:cNvSpPr/>
          <p:nvPr/>
        </p:nvSpPr>
        <p:spPr>
          <a:xfrm>
            <a:off x="5135270" y="3090672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SB  2 표준화 방법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135270" y="3328416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간격보존형 3 · 순위전용형 1 · 기본 Min-Max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007254" y="3877056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007254" y="3877056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54" name="Text 52"/>
          <p:cNvSpPr/>
          <p:nvPr/>
        </p:nvSpPr>
        <p:spPr>
          <a:xfrm>
            <a:off x="5135270" y="3950208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SB  지도 색 기준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5135270" y="4187952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종합 · 원데이터 · 민감도 · 플래그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8375904" y="1536192"/>
            <a:ext cx="14630" cy="1828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7" name="Shape 55"/>
          <p:cNvSpPr/>
          <p:nvPr/>
        </p:nvSpPr>
        <p:spPr>
          <a:xfrm>
            <a:off x="7300570" y="1719072"/>
            <a:ext cx="2165299" cy="36576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58" name="Text 56"/>
          <p:cNvSpPr/>
          <p:nvPr/>
        </p:nvSpPr>
        <p:spPr>
          <a:xfrm>
            <a:off x="7355434" y="1719072"/>
            <a:ext cx="20555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D. 통계창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00570" y="2157984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00570" y="2157984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61" name="Text 59"/>
          <p:cNvSpPr/>
          <p:nvPr/>
        </p:nvSpPr>
        <p:spPr>
          <a:xfrm>
            <a:off x="7428586" y="2231136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  부문 종합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428586" y="2468880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부문점수 · 전국 순위 · 전국 요약 세 칸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300570" y="3017520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00570" y="3017520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65" name="Text 63"/>
          <p:cNvSpPr/>
          <p:nvPr/>
        </p:nvSpPr>
        <p:spPr>
          <a:xfrm>
            <a:off x="7428586" y="3090672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  표준화 민감도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7428586" y="3328416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점수 · 순위 흐름 · 이동 큰 곳 · 산점도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300570" y="3877056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00570" y="3877056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69" name="Text 67"/>
          <p:cNvSpPr/>
          <p:nvPr/>
        </p:nvSpPr>
        <p:spPr>
          <a:xfrm>
            <a:off x="7428586" y="3950208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DR  원데이터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428586" y="4187952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하나 기준 · 전국 기준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669219" y="1536192"/>
            <a:ext cx="14630" cy="1828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2" name="Shape 70"/>
          <p:cNvSpPr/>
          <p:nvPr/>
        </p:nvSpPr>
        <p:spPr>
          <a:xfrm>
            <a:off x="9593885" y="1719072"/>
            <a:ext cx="2165299" cy="36576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73" name="Text 71"/>
          <p:cNvSpPr/>
          <p:nvPr/>
        </p:nvSpPr>
        <p:spPr>
          <a:xfrm>
            <a:off x="9648749" y="1719072"/>
            <a:ext cx="20555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E. 지도 · 내보내기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593885" y="2157984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593885" y="2157984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76" name="Text 74"/>
          <p:cNvSpPr/>
          <p:nvPr/>
        </p:nvSpPr>
        <p:spPr>
          <a:xfrm>
            <a:off x="9721901" y="2231136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MP  지도 표현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9721901" y="2468880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기준 · 범례 · 라벨 · 민감 지역만 · 되돌아가기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9593885" y="3017520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593885" y="3017520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80" name="Text 78"/>
          <p:cNvSpPr/>
          <p:nvPr/>
        </p:nvSpPr>
        <p:spPr>
          <a:xfrm>
            <a:off x="9721901" y="3090672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  내보내기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9721901" y="3328416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저장 · 지도 PNG · Shapefile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9593885" y="3877056"/>
            <a:ext cx="216529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593885" y="3877056"/>
            <a:ext cx="36576" cy="786384"/>
          </a:xfrm>
          <a:prstGeom prst="rect">
            <a:avLst/>
          </a:prstGeom>
          <a:solidFill>
            <a:srgbClr val="C4CAD1"/>
          </a:solidFill>
          <a:ln/>
        </p:spPr>
      </p:sp>
      <p:sp>
        <p:nvSpPr>
          <p:cNvPr id="84" name="Text 82"/>
          <p:cNvSpPr/>
          <p:nvPr/>
        </p:nvSpPr>
        <p:spPr>
          <a:xfrm>
            <a:off x="9721901" y="3950208"/>
            <a:ext cx="19458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  상태 공유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9721901" y="4187952"/>
            <a:ext cx="1945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 열쇠 10개 · 두 조합 나란히 비교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420624" y="4882896"/>
            <a:ext cx="11338560" cy="5120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7" name="Text 85"/>
          <p:cNvSpPr/>
          <p:nvPr/>
        </p:nvSpPr>
        <p:spPr>
          <a:xfrm>
            <a:off x="420624" y="4882896"/>
            <a:ext cx="11338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조각 10갈래   ·   LP 시작 화면   HD 머리줄   PK 지표 고르기 창   SB 조작부   MP 지도   CP 통계창 본문   DR 서랍   EX 내려받기   DT 데이터표   CR 상태 공유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20624" y="5779008"/>
            <a:ext cx="11338560" cy="83210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89" name="Shape 87"/>
          <p:cNvSpPr/>
          <p:nvPr/>
        </p:nvSpPr>
        <p:spPr>
          <a:xfrm>
            <a:off x="420624" y="5779008"/>
            <a:ext cx="41148" cy="83210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90" name="Text 88"/>
          <p:cNvSpPr/>
          <p:nvPr/>
        </p:nvSpPr>
        <p:spPr>
          <a:xfrm>
            <a:off x="603504" y="5833872"/>
            <a:ext cx="110185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화면 조각을 열 갈래로 나눈 뒤로는 새 기능을 붙일 때 어느 조각에 들어갈지가 먼저 정해지므로, 자리가 흔들리지 않는다.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고르는 조각(LP · PK · SB)과 읽는 조각(MP · CP · DR)이 갈라져 있어 조작을 되돌려도 읽던 자리가 사라지지 않는다.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I.A 설계 — 부문 체계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10개 부문 · 지표 32개 · 지표-연도 98열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1335024"/>
            <a:ext cx="2165299" cy="164592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1335024"/>
            <a:ext cx="2165299" cy="2926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350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762963" y="133502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48640" y="1719072"/>
            <a:ext cx="1909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공간구조 효율성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249424"/>
            <a:ext cx="1909267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40864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 3개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2578608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2021 ~ 2025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13939" y="1335024"/>
            <a:ext cx="2165299" cy="164592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13939" y="1335024"/>
            <a:ext cx="2165299" cy="2926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7" name="Text 15"/>
          <p:cNvSpPr/>
          <p:nvPr/>
        </p:nvSpPr>
        <p:spPr>
          <a:xfrm>
            <a:off x="2823667" y="13350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56278" y="133502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841955" y="1719072"/>
            <a:ext cx="1909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인구활력도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841955" y="2249424"/>
            <a:ext cx="1909267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21" name="Text 19"/>
          <p:cNvSpPr/>
          <p:nvPr/>
        </p:nvSpPr>
        <p:spPr>
          <a:xfrm>
            <a:off x="2841955" y="2340864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 6개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841955" y="2578608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2020 ~ 2025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07254" y="1335024"/>
            <a:ext cx="2165299" cy="1645920"/>
          </a:xfrm>
          <a:prstGeom prst="rect">
            <a:avLst/>
          </a:prstGeom>
          <a:solidFill>
            <a:srgbClr val="EDF0F3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07254" y="1335024"/>
            <a:ext cx="2165299" cy="29260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25" name="Text 23"/>
          <p:cNvSpPr/>
          <p:nvPr/>
        </p:nvSpPr>
        <p:spPr>
          <a:xfrm>
            <a:off x="5116982" y="13350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349594" y="133502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준비중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135270" y="1719072"/>
            <a:ext cx="1909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지역경제활력도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35270" y="2249424"/>
            <a:ext cx="1909267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5135270" y="2340864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 5개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35270" y="2578608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준비중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00570" y="1335024"/>
            <a:ext cx="2165299" cy="1645920"/>
          </a:xfrm>
          <a:prstGeom prst="rect">
            <a:avLst/>
          </a:prstGeom>
          <a:solidFill>
            <a:srgbClr val="EDF0F3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00570" y="1335024"/>
            <a:ext cx="2165299" cy="29260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33" name="Text 31"/>
          <p:cNvSpPr/>
          <p:nvPr/>
        </p:nvSpPr>
        <p:spPr>
          <a:xfrm>
            <a:off x="7410298" y="13350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S4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642909" y="133502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준비중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7428586" y="1719072"/>
            <a:ext cx="1909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지역산업성장성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428586" y="2249424"/>
            <a:ext cx="1909267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37" name="Text 35"/>
          <p:cNvSpPr/>
          <p:nvPr/>
        </p:nvSpPr>
        <p:spPr>
          <a:xfrm>
            <a:off x="7428586" y="2340864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 8개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28586" y="2578608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준비중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593885" y="1335024"/>
            <a:ext cx="2165299" cy="1645920"/>
          </a:xfrm>
          <a:prstGeom prst="rect">
            <a:avLst/>
          </a:prstGeom>
          <a:solidFill>
            <a:srgbClr val="EDF0F3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93885" y="1335024"/>
            <a:ext cx="2165299" cy="29260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41" name="Text 39"/>
          <p:cNvSpPr/>
          <p:nvPr/>
        </p:nvSpPr>
        <p:spPr>
          <a:xfrm>
            <a:off x="9703613" y="133502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S5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0936224" y="133502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준비중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9721901" y="1719072"/>
            <a:ext cx="1909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교통인프라 접근성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9721901" y="2249424"/>
            <a:ext cx="1909267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45" name="Text 43"/>
          <p:cNvSpPr/>
          <p:nvPr/>
        </p:nvSpPr>
        <p:spPr>
          <a:xfrm>
            <a:off x="9721901" y="2340864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 6개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721901" y="2578608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준비중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20624" y="3127248"/>
            <a:ext cx="2165299" cy="1645920"/>
          </a:xfrm>
          <a:prstGeom prst="rect">
            <a:avLst/>
          </a:prstGeom>
          <a:solidFill>
            <a:srgbClr val="EDF0F3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20624" y="3127248"/>
            <a:ext cx="2165299" cy="29260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49" name="Text 47"/>
          <p:cNvSpPr/>
          <p:nvPr/>
        </p:nvSpPr>
        <p:spPr>
          <a:xfrm>
            <a:off x="530352" y="31272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S6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762963" y="31272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준비중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548640" y="3511296"/>
            <a:ext cx="1909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생활인프라 편리성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48640" y="4041648"/>
            <a:ext cx="1909267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53" name="Text 51"/>
          <p:cNvSpPr/>
          <p:nvPr/>
        </p:nvSpPr>
        <p:spPr>
          <a:xfrm>
            <a:off x="548640" y="4133088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 5개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4370832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준비중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713939" y="3127248"/>
            <a:ext cx="2165299" cy="164592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713939" y="3127248"/>
            <a:ext cx="2165299" cy="2926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7" name="Text 55"/>
          <p:cNvSpPr/>
          <p:nvPr/>
        </p:nvSpPr>
        <p:spPr>
          <a:xfrm>
            <a:off x="2823667" y="31272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S7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056278" y="31272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841955" y="3511296"/>
            <a:ext cx="1909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친환경성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2841955" y="4041648"/>
            <a:ext cx="1909267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61" name="Text 59"/>
          <p:cNvSpPr/>
          <p:nvPr/>
        </p:nvSpPr>
        <p:spPr>
          <a:xfrm>
            <a:off x="2841955" y="4133088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 4개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2841955" y="4370832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2019 ~ 2025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5007254" y="3127248"/>
            <a:ext cx="2165299" cy="164592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07254" y="3127248"/>
            <a:ext cx="2165299" cy="2926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65" name="Text 63"/>
          <p:cNvSpPr/>
          <p:nvPr/>
        </p:nvSpPr>
        <p:spPr>
          <a:xfrm>
            <a:off x="5116982" y="31272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S8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6349594" y="31272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5135270" y="3511296"/>
            <a:ext cx="1909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지역사회건강도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5135270" y="4041648"/>
            <a:ext cx="1909267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69" name="Text 67"/>
          <p:cNvSpPr/>
          <p:nvPr/>
        </p:nvSpPr>
        <p:spPr>
          <a:xfrm>
            <a:off x="5135270" y="4133088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 7개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135270" y="4370832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2021 ~ 2023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7300570" y="3127248"/>
            <a:ext cx="2165299" cy="164592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300570" y="3127248"/>
            <a:ext cx="2165299" cy="2926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3" name="Text 71"/>
          <p:cNvSpPr/>
          <p:nvPr/>
        </p:nvSpPr>
        <p:spPr>
          <a:xfrm>
            <a:off x="7410298" y="31272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S9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8642909" y="31272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7428586" y="3511296"/>
            <a:ext cx="1909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지역사회안전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7428586" y="4041648"/>
            <a:ext cx="1909267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77" name="Text 75"/>
          <p:cNvSpPr/>
          <p:nvPr/>
        </p:nvSpPr>
        <p:spPr>
          <a:xfrm>
            <a:off x="7428586" y="4133088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 6개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428586" y="4370832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2021 ~ 2024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593885" y="3127248"/>
            <a:ext cx="2165299" cy="164592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593885" y="3127248"/>
            <a:ext cx="2165299" cy="29260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1" name="Text 79"/>
          <p:cNvSpPr/>
          <p:nvPr/>
        </p:nvSpPr>
        <p:spPr>
          <a:xfrm>
            <a:off x="9703613" y="3127248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S10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10936224" y="312724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9721901" y="3511296"/>
            <a:ext cx="19092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재정건전성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9721901" y="4041648"/>
            <a:ext cx="1909267" cy="10973"/>
          </a:xfrm>
          <a:prstGeom prst="rect">
            <a:avLst/>
          </a:prstGeom>
          <a:solidFill>
            <a:srgbClr val="E3E7EB"/>
          </a:solidFill>
          <a:ln/>
        </p:spPr>
      </p:sp>
      <p:sp>
        <p:nvSpPr>
          <p:cNvPr id="85" name="Text 83"/>
          <p:cNvSpPr/>
          <p:nvPr/>
        </p:nvSpPr>
        <p:spPr>
          <a:xfrm>
            <a:off x="9721901" y="4133088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 6개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9721901" y="4370832"/>
            <a:ext cx="190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2024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420624" y="4974336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8" name="Text 86"/>
          <p:cNvSpPr/>
          <p:nvPr/>
        </p:nvSpPr>
        <p:spPr>
          <a:xfrm>
            <a:off x="548640" y="4974336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범위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9290304" y="4974336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시군구 229개 · 시도 17개 · 지표 32개 · 지표-연도 98열 · 연도 2019 ~ 2025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420624" y="5614416"/>
            <a:ext cx="11338560" cy="996696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91" name="Shape 89"/>
          <p:cNvSpPr/>
          <p:nvPr/>
        </p:nvSpPr>
        <p:spPr>
          <a:xfrm>
            <a:off x="420624" y="5614416"/>
            <a:ext cx="41148" cy="9966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92" name="Text 90"/>
          <p:cNvSpPr/>
          <p:nvPr/>
        </p:nvSpPr>
        <p:spPr>
          <a:xfrm>
            <a:off x="603504" y="5669280"/>
            <a:ext cx="110185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자료가 들어온 여섯 부문만 고를 수 있게 하되, 준비중인 네 부문도 이름과 예정 지표 수까지 화면에 남겨 지표체계 전체가 몇 갈래인지 먼저 알린다.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부문마다 지표 수와 연도 범위가 달라 부문 사이의 점수를 직접 맞대어 볼 수 없다. 화면은 부문 안에서의 전국 순위만 다룬다.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부문별 표준화 민감도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Min-Max 순위와 백분위순위 순위의 차이 · 229개 시군구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14400"/>
          <a:ext cx="113385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94560"/>
                <a:gridCol w="640080"/>
                <a:gridCol w="1371600"/>
                <a:gridCol w="1097280"/>
                <a:gridCol w="822960"/>
                <a:gridCol w="731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이동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중앙값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10계단 이상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20계단 이상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공간구조 효율성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 ~ 2025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9.3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35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96곳  ·  41.9%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302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21곳  ·  9.2%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S2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인구활력도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2020 ~ 2025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302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147곳  ·  64.2%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302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79곳  ·  34.5%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친환경성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2019 ~ 2025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302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15.9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101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141곳  ·  61.6%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302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71곳  ·  31.0%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지역사회건강도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 ~ 2023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92곳  ·  40.2%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302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25곳  ·  10.9%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S9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지역사회안전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2021 ~ 2024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5.2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37곳  ·  16.2%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302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2곳  ·  0.9%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S10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1141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재정건전성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7A828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302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33.6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26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C444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148</a:t>
                      </a:r>
                      <a:endParaRPr lang="en-US" sz="9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0408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181곳  ·  79.0%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D9302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139곳  ·  60.7%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4261104"/>
            <a:ext cx="5577840" cy="117043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3776" y="4261104"/>
            <a:ext cx="543153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수만으로는 흔들림이 정해지지 않는다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지역사회안전과 재정건전성은 둘 다 지표 6개지만 평균 이동이 5.2계단과 33.6계단으로 갈린다. 지표 수보다 값이 지역 사이에 어떻게 퍼져 있는지가 더 크게 작용한다.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6181344" y="4261104"/>
            <a:ext cx="5577840" cy="1170432"/>
          </a:xfrm>
          <a:prstGeom prst="rect">
            <a:avLst/>
          </a:prstGeom>
          <a:solidFill>
            <a:srgbClr val="FDECEA"/>
          </a:solidFill>
          <a:ln w="9525">
            <a:solidFill>
              <a:srgbClr val="D9302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54496" y="4261104"/>
            <a:ext cx="543153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해 값만 있는 부문이 가장 크게 흔들린다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재정건전성은 2024년 한 해 값만 있고, 열 계단 이상 움직인 지역이 181곳(79.0%)에 이른다. 순위를 그대로 인용하기 전에 방법을 함께 밝혀야 하는 부문이다.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20624" y="5614416"/>
            <a:ext cx="11338560" cy="996696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" y="5614416"/>
            <a:ext cx="41148" cy="9966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603504" y="5669280"/>
            <a:ext cx="110185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같은 자료라도 표준화 방법을 바꾸면 순위가 최대 148계단까지 움직인다. 순위를 단독으로 인용하지 않고 방법을 함께 적어야 하는 이유다.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민감 판정 기준은 10계단이며, 화면에서는 이 값이 넘는 지역만 따로 볼 수 있게 스위치를 두었다.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플로우 1 — 기본 진단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고르기 → 지표 담기 → 방법 정하기 → 부문 종합 읽기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35024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고르기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" y="1576071"/>
            <a:ext cx="2601468" cy="15478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-21q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576071"/>
            <a:ext cx="2601468" cy="154787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0624" y="1576071"/>
            <a:ext cx="2601468" cy="1547873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화면에서 자료가 들어온 여섯 부문 가운데 하나를 카드로 고른다. 카드에는 지표 수와 연도 범위가 적혀 있어 무엇이 준비되어 있는지 먼저 확인한다.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058668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16" name="Shape 13"/>
          <p:cNvSpPr/>
          <p:nvPr/>
        </p:nvSpPr>
        <p:spPr>
          <a:xfrm>
            <a:off x="3332988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7" name="Text 14"/>
          <p:cNvSpPr/>
          <p:nvPr/>
        </p:nvSpPr>
        <p:spPr>
          <a:xfrm>
            <a:off x="3424428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247388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담기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332988" y="1510024"/>
            <a:ext cx="2601468" cy="1679967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1" descr="/home/claude/patch/shots-21q/05e-picker-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988" y="1510024"/>
            <a:ext cx="2601468" cy="1679967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332988" y="1510024"/>
            <a:ext cx="2601468" cy="1679967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32988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42716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고르기 창이 열린다. 카드에서 정의 · 단위 · 산식 · 출처 · 방향을 읽고, 카드 안의 연도 단추를 눌러 원하는 해를 담는다. 담은 목록은 오른쪽 칸에 쌓인다.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971032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25" name="Shape 21"/>
          <p:cNvSpPr/>
          <p:nvPr/>
        </p:nvSpPr>
        <p:spPr>
          <a:xfrm>
            <a:off x="6245352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6" name="Text 22"/>
          <p:cNvSpPr/>
          <p:nvPr/>
        </p:nvSpPr>
        <p:spPr>
          <a:xfrm>
            <a:off x="6336792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7159752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정하기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441379" y="1298448"/>
            <a:ext cx="220941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9" name="Image 2" descr="/home/claude/patch/shots-21q/11-metho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379" y="1298448"/>
            <a:ext cx="2209415" cy="210312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441379" y="1298448"/>
            <a:ext cx="2209415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245352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55080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방법을 간격보존형 셋과 순위전용형 하나 가운데 고른다. Min-Max가 이미 잡혀 있어 그대로 두어도 되고, 바꾸면 지도와 통계가 곧바로 다시 계산된다.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8883396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4" name="Shape 29"/>
          <p:cNvSpPr/>
          <p:nvPr/>
        </p:nvSpPr>
        <p:spPr>
          <a:xfrm>
            <a:off x="9157716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9249156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10072116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종합 읽기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9157716" y="1576071"/>
            <a:ext cx="2601468" cy="15478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8" name="Image 3" descr="/home/claude/patch/shots-21q/06-m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716" y="1576071"/>
            <a:ext cx="2601468" cy="1547873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9157716" y="1576071"/>
            <a:ext cx="2601468" cy="1547873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157716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267444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통계창이 열리며 부문 종합이 맨 위에 온다. 아래로 전국 요약 세 칸이 이어지고, 표준화 민감도 · 원데이터 서랍이 펴진 채로 따라 나온다.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420624" y="5084064"/>
            <a:ext cx="11338560" cy="45720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43" name="Text 37"/>
          <p:cNvSpPr/>
          <p:nvPr/>
        </p:nvSpPr>
        <p:spPr>
          <a:xfrm>
            <a:off x="420624" y="5084064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  지표 조합에 맞춰 계산된 부문점수 · 전국 순위 · 전국 분포를 한 화면에서 읽는다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420624" y="5687568"/>
            <a:ext cx="11338560" cy="92354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5" name="Shape 39"/>
          <p:cNvSpPr/>
          <p:nvPr/>
        </p:nvSpPr>
        <p:spPr>
          <a:xfrm>
            <a:off x="420624" y="5687568"/>
            <a:ext cx="41148" cy="92354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6" name="Text 40"/>
          <p:cNvSpPr/>
          <p:nvPr/>
        </p:nvSpPr>
        <p:spPr>
          <a:xfrm>
            <a:off x="603504" y="5742432"/>
            <a:ext cx="11018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고르는 단계는 셋뿐이고 그 가운데 둘은 기본값이 잡혀 있어, 처음 들어온 사람도 카드 한 번 · 지표 한 번으로 결과에 닿는다.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플로우 2 — 지역 좁혀 보기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고르기 → 진단표 → 원데이터 → 전국으로 돌아가기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35024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시군구 누르기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20624" y="1576071"/>
            <a:ext cx="2601468" cy="15478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-21q/38-sele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576071"/>
            <a:ext cx="2601468" cy="154787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0624" y="1576071"/>
            <a:ext cx="2601468" cy="1547873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시군구를 누르면 그 지역이 선택된다. 흐름 막대에 선택 지역 이름이 올라오고, 지도는 그 지역으로 배율을 맞춘다.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058668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16" name="Shape 13"/>
          <p:cNvSpPr/>
          <p:nvPr/>
        </p:nvSpPr>
        <p:spPr>
          <a:xfrm>
            <a:off x="3332988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7" name="Text 14"/>
          <p:cNvSpPr/>
          <p:nvPr/>
        </p:nvSpPr>
        <p:spPr>
          <a:xfrm>
            <a:off x="3424428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247388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지역이 맨 위로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130556" y="1298448"/>
            <a:ext cx="100633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1" descr="/home/claude/patch/shots-21q/42-re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556" y="1298448"/>
            <a:ext cx="1006332" cy="21031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130556" y="1298448"/>
            <a:ext cx="1006332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32988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42716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통계창 맨 위에 지역 진단표가 올라온다. 부문 종합 한 줄과 지표별 줄이 원값 · 표준점수(T) · 백분위 · 전국 순위로 나란히 놓인다.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971032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25" name="Shape 21"/>
          <p:cNvSpPr/>
          <p:nvPr/>
        </p:nvSpPr>
        <p:spPr>
          <a:xfrm>
            <a:off x="6245352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6" name="Text 22"/>
          <p:cNvSpPr/>
          <p:nvPr/>
        </p:nvSpPr>
        <p:spPr>
          <a:xfrm>
            <a:off x="6336792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7159752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원데이터도 함께 좁힌다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245352" y="1523270"/>
            <a:ext cx="2601468" cy="1653475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9" name="Image 2" descr="/home/claude/patch/shots-21q/46-raw-one-s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23270"/>
            <a:ext cx="2601468" cy="1653475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245352" y="1523270"/>
            <a:ext cx="2601468" cy="1653475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245352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55080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원데이터 서랍이 그 지역 기준으로 바뀐다. 지표별 원값과 전국 위치가 같은 자리에서 이어지므로 표를 따로 찾지 않는다.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8883396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4" name="Shape 29"/>
          <p:cNvSpPr/>
          <p:nvPr/>
        </p:nvSpPr>
        <p:spPr>
          <a:xfrm>
            <a:off x="9157716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9249156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10072116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전국으로 돌아가기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9157716" y="1911110"/>
            <a:ext cx="2601468" cy="87779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8" name="Image 3" descr="/home/claude/patch/shots-21q/39-mapb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7716" y="1911110"/>
            <a:ext cx="2601468" cy="877796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9157716" y="1911110"/>
            <a:ext cx="2601468" cy="877796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157716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267444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왼쪽 위 · 흐름 막대 · 선택 지역 머리줄 세 자리 어디를 눌러도 선택이 풀리고 지도가 전국 배율로 되돌아간다.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420624" y="5084064"/>
            <a:ext cx="11338560" cy="45720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43" name="Text 37"/>
          <p:cNvSpPr/>
          <p:nvPr/>
        </p:nvSpPr>
        <p:spPr>
          <a:xfrm>
            <a:off x="420624" y="5084064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  전국 → 지역 → 전국을 오가는 동안 조작부와 지도 색 기준은 그대로 남는다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420624" y="5687568"/>
            <a:ext cx="11338560" cy="92354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5" name="Shape 39"/>
          <p:cNvSpPr/>
          <p:nvPr/>
        </p:nvSpPr>
        <p:spPr>
          <a:xfrm>
            <a:off x="420624" y="5687568"/>
            <a:ext cx="41148" cy="92354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6" name="Text 40"/>
          <p:cNvSpPr/>
          <p:nvPr/>
        </p:nvSpPr>
        <p:spPr>
          <a:xfrm>
            <a:off x="603504" y="5742432"/>
            <a:ext cx="11018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되돌아가는 단추를 세 자리에 같은 이름으로 두어, 어느 화면에서 지역을 골랐든 같은 방법으로 빠져나온다.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지도 오른쪽 위 화면 맞추기는 배율만 맞추고 선택은 풀지 않아 두 단추의 역할이 겹치지 않는다.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플로우 3 — 표준화 민감도 확인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점수 → 순위 이동 → 순위 흐름 → 이동이 큰 곳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12064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35024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점수 펴기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20021" y="1298448"/>
            <a:ext cx="1802674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-21q/22-method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021" y="1298448"/>
            <a:ext cx="1802674" cy="21031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0021" y="1298448"/>
            <a:ext cx="1802674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민감도 서랍을 열면 네 방법이 만든 부문점수와 순위가 한 표에 놓인다. 같은 자료가 방법마다 다른 값을 갖는다는 사실이 먼저 보인다.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058668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16" name="Shape 13"/>
          <p:cNvSpPr/>
          <p:nvPr/>
        </p:nvSpPr>
        <p:spPr>
          <a:xfrm>
            <a:off x="3332988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7" name="Text 14"/>
          <p:cNvSpPr/>
          <p:nvPr/>
        </p:nvSpPr>
        <p:spPr>
          <a:xfrm>
            <a:off x="3424428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2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247388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 재기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848910" y="1298448"/>
            <a:ext cx="1569624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1" descr="/home/claude/patch/shots-21q/43-method-c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910" y="1298448"/>
            <a:ext cx="1569624" cy="2103120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3848910" y="1298448"/>
            <a:ext cx="1569624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32988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442716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간격보존형 대표 Min-Max와 순위전용형 대표 백분위순위의 순위 차를 계단 수로 적는다. 열 계단 이상이면 민감으로 본다.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5971032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25" name="Shape 21"/>
          <p:cNvSpPr/>
          <p:nvPr/>
        </p:nvSpPr>
        <p:spPr>
          <a:xfrm>
            <a:off x="6245352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6" name="Text 22"/>
          <p:cNvSpPr/>
          <p:nvPr/>
        </p:nvSpPr>
        <p:spPr>
          <a:xfrm>
            <a:off x="6336792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3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7159752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흐름 보기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880161" y="1298448"/>
            <a:ext cx="1331851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9" name="Image 2" descr="/home/claude/patch/shots-21q/24-rankflo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161" y="1298448"/>
            <a:ext cx="1331851" cy="210312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880161" y="1298448"/>
            <a:ext cx="1331851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245352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6355080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방법을 가로축에 두고 지역별 순위를 선으로 잇는다. 이동 큰 곳 · 선택 지역 시도 · 상위권 세 갈피로 볼 대상을 바꾼다.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8883396" y="2157984"/>
            <a:ext cx="237744" cy="274320"/>
          </a:xfrm>
          <a:prstGeom prst="rightArrow">
            <a:avLst/>
          </a:prstGeom>
          <a:solidFill>
            <a:srgbClr val="111418"/>
          </a:solidFill>
          <a:ln/>
        </p:spPr>
      </p:sp>
      <p:sp>
        <p:nvSpPr>
          <p:cNvPr id="34" name="Shape 29"/>
          <p:cNvSpPr/>
          <p:nvPr/>
        </p:nvSpPr>
        <p:spPr>
          <a:xfrm>
            <a:off x="9157716" y="932688"/>
            <a:ext cx="2601468" cy="3108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9249156" y="932688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4</a:t>
            </a:r>
            <a:endParaRPr lang="en-US" sz="750" dirty="0"/>
          </a:p>
        </p:txBody>
      </p:sp>
      <p:sp>
        <p:nvSpPr>
          <p:cNvPr id="36" name="Text 31"/>
          <p:cNvSpPr/>
          <p:nvPr/>
        </p:nvSpPr>
        <p:spPr>
          <a:xfrm>
            <a:off x="10072116" y="932688"/>
            <a:ext cx="15956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이동이 큰 곳 추리기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10027603" y="1298448"/>
            <a:ext cx="861695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8" name="Image 3" descr="/home/claude/patch/shots-21q/26-sens-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7603" y="1298448"/>
            <a:ext cx="861695" cy="210312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10027603" y="1298448"/>
            <a:ext cx="861695" cy="21031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157716" y="3493008"/>
            <a:ext cx="2601468" cy="148132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9267444" y="3566160"/>
            <a:ext cx="238201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이동이 큰 지역을 표로 세운다. 어느 등수에서 어느 등수로 몇 계단 움직였는지 그대로 적고, 표 전체를 파일로 받는다.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420624" y="5084064"/>
            <a:ext cx="11338560" cy="457200"/>
          </a:xfrm>
          <a:prstGeom prst="rect">
            <a:avLst/>
          </a:prstGeom>
          <a:solidFill>
            <a:srgbClr val="2E343B"/>
          </a:solidFill>
          <a:ln/>
        </p:spPr>
      </p:sp>
      <p:sp>
        <p:nvSpPr>
          <p:cNvPr id="43" name="Text 37"/>
          <p:cNvSpPr/>
          <p:nvPr/>
        </p:nvSpPr>
        <p:spPr>
          <a:xfrm>
            <a:off x="420624" y="5084064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  방법을 바꿨을 때 흔들리는 지역과 흔들리지 않는 지역을 갈라 낸다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420624" y="5687568"/>
            <a:ext cx="11338560" cy="92354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5" name="Shape 39"/>
          <p:cNvSpPr/>
          <p:nvPr/>
        </p:nvSpPr>
        <p:spPr>
          <a:xfrm>
            <a:off x="420624" y="5687568"/>
            <a:ext cx="41148" cy="92354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6" name="Text 40"/>
          <p:cNvSpPr/>
          <p:nvPr/>
        </p:nvSpPr>
        <p:spPr>
          <a:xfrm>
            <a:off x="603504" y="5742432"/>
            <a:ext cx="110185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민감도는 결과를 부정하기 위한 것이 아니라, 순위를 인용할 때 방법을 함께 밝혀야 할 지역을 골라내기 위한 것이다.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서비스 플로우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  ·  화면에서 파일로 꺼내는 길 네 갈래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24912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카드 저장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20700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보는 칸에서 바로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46024" y="1389888"/>
            <a:ext cx="2674112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-21q/47-dlmen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024" y="1389888"/>
            <a:ext cx="2674112" cy="171907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46024" y="1389888"/>
            <a:ext cx="2674112" cy="171907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" y="3163824"/>
            <a:ext cx="2724912" cy="131673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3236976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카드마다 붙은 저장 단추를 누르면 그 칸에 쓰인 값만 CSV · Excel · PNG로 나온다. 표 전체를 받아 다시 자르지 않는다.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91840" y="932688"/>
            <a:ext cx="2724912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6" name="Text 13"/>
          <p:cNvSpPr/>
          <p:nvPr/>
        </p:nvSpPr>
        <p:spPr>
          <a:xfrm>
            <a:off x="3419856" y="932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내보내기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10128" y="120700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PNG · Shapefile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762202" y="1389888"/>
            <a:ext cx="1784188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9" name="Image 1" descr="/home/claude/patch/shots-21q/35-expo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202" y="1389888"/>
            <a:ext cx="1784188" cy="171907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762202" y="1389888"/>
            <a:ext cx="1784188" cy="171907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91840" y="3163824"/>
            <a:ext cx="2724912" cy="131673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01568" y="3236976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칠해진 지도를 그림으로 받거나, 지금 지도가 쓰고 있는 지표값을 속성에 담은 Shapefile로 받는다. 항목 이름은 화면에 쓰인 말과 같게 맞췄다.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163056" y="932688"/>
            <a:ext cx="2724912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4" name="Text 20"/>
          <p:cNvSpPr/>
          <p:nvPr/>
        </p:nvSpPr>
        <p:spPr>
          <a:xfrm>
            <a:off x="6291072" y="932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데이터표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181344" y="120700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× 선택 지표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6216989" y="1389888"/>
            <a:ext cx="2617046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7" name="Image 2" descr="/home/claude/patch/shots-21q/59b-table-mod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6989" y="1389888"/>
            <a:ext cx="2617046" cy="1719072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216989" y="1389888"/>
            <a:ext cx="2617046" cy="171907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163056" y="3163824"/>
            <a:ext cx="2724912" cy="131673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72784" y="3236976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머리줄에서 열리는 표 창이다. 정렬과 검색을 붙여 값을 직접 확인하고, 같은 표를 CSV · Excel로 받는다.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9034272" y="932688"/>
            <a:ext cx="2724912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2" name="Text 27"/>
          <p:cNvSpPr/>
          <p:nvPr/>
        </p:nvSpPr>
        <p:spPr>
          <a:xfrm>
            <a:off x="9162288" y="932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원데이터 전국 기준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9052560" y="120700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표는 파일로만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9034272" y="1637473"/>
            <a:ext cx="2724912" cy="1223901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5" name="Image 3" descr="/home/claude/patch/shots-21q/29-raw-al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4272" y="1637473"/>
            <a:ext cx="2724912" cy="1223901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9034272" y="1637473"/>
            <a:ext cx="2724912" cy="1223901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034272" y="3163824"/>
            <a:ext cx="2724912" cy="131673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9144000" y="3236976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원값 표는 화면에 싣기에 너무 커서 내려받기로만 다룬다. 대신 무엇이 파일에 담기는지 안내를 그 자리에 적어 둔다.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420624" y="4572000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40" name="Text 34"/>
          <p:cNvSpPr/>
          <p:nvPr/>
        </p:nvSpPr>
        <p:spPr>
          <a:xfrm>
            <a:off x="548640" y="457200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내보내기 형식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9290304" y="45720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보는 자리에서 바로 · 화면에 쓰인 이름을 파일에서도 그대로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420624" y="4919472"/>
            <a:ext cx="2743200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20624" y="4919472"/>
            <a:ext cx="45720" cy="4572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4" name="Text 38"/>
          <p:cNvSpPr/>
          <p:nvPr/>
        </p:nvSpPr>
        <p:spPr>
          <a:xfrm>
            <a:off x="548640" y="4937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CSV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548640" y="5120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 그대로 · 쉼표 구분</a:t>
            </a:r>
            <a:endParaRPr lang="en-US" sz="700" dirty="0"/>
          </a:p>
        </p:txBody>
      </p:sp>
      <p:sp>
        <p:nvSpPr>
          <p:cNvPr id="46" name="Shape 40"/>
          <p:cNvSpPr/>
          <p:nvPr/>
        </p:nvSpPr>
        <p:spPr>
          <a:xfrm>
            <a:off x="3282696" y="4919472"/>
            <a:ext cx="2743200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3282696" y="4919472"/>
            <a:ext cx="45720" cy="4572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48" name="Text 42"/>
          <p:cNvSpPr/>
          <p:nvPr/>
        </p:nvSpPr>
        <p:spPr>
          <a:xfrm>
            <a:off x="3410712" y="4937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Excel</a:t>
            </a:r>
            <a:endParaRPr lang="en-US" sz="900" dirty="0"/>
          </a:p>
        </p:txBody>
      </p:sp>
      <p:sp>
        <p:nvSpPr>
          <p:cNvPr id="49" name="Text 43"/>
          <p:cNvSpPr/>
          <p:nvPr/>
        </p:nvSpPr>
        <p:spPr>
          <a:xfrm>
            <a:off x="3410712" y="5120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서식 유지 · 머리줄 고정</a:t>
            </a:r>
            <a:endParaRPr lang="en-US" sz="700" dirty="0"/>
          </a:p>
        </p:txBody>
      </p:sp>
      <p:sp>
        <p:nvSpPr>
          <p:cNvPr id="50" name="Shape 44"/>
          <p:cNvSpPr/>
          <p:nvPr/>
        </p:nvSpPr>
        <p:spPr>
          <a:xfrm>
            <a:off x="6144768" y="4919472"/>
            <a:ext cx="2743200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6144768" y="4919472"/>
            <a:ext cx="45720" cy="4572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2" name="Text 46"/>
          <p:cNvSpPr/>
          <p:nvPr/>
        </p:nvSpPr>
        <p:spPr>
          <a:xfrm>
            <a:off x="6272784" y="4937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PNG</a:t>
            </a:r>
            <a:endParaRPr lang="en-US" sz="900" dirty="0"/>
          </a:p>
        </p:txBody>
      </p:sp>
      <p:sp>
        <p:nvSpPr>
          <p:cNvPr id="53" name="Text 47"/>
          <p:cNvSpPr/>
          <p:nvPr/>
        </p:nvSpPr>
        <p:spPr>
          <a:xfrm>
            <a:off x="6272784" y="5120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차트와 지도를 그림으로</a:t>
            </a:r>
            <a:endParaRPr lang="en-US" sz="700" dirty="0"/>
          </a:p>
        </p:txBody>
      </p:sp>
      <p:sp>
        <p:nvSpPr>
          <p:cNvPr id="54" name="Shape 48"/>
          <p:cNvSpPr/>
          <p:nvPr/>
        </p:nvSpPr>
        <p:spPr>
          <a:xfrm>
            <a:off x="9006840" y="4919472"/>
            <a:ext cx="2743200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9006840" y="4919472"/>
            <a:ext cx="45720" cy="457200"/>
          </a:xfrm>
          <a:prstGeom prst="rect">
            <a:avLst/>
          </a:prstGeom>
          <a:solidFill>
            <a:srgbClr val="1A73E8"/>
          </a:solidFill>
          <a:ln/>
        </p:spPr>
      </p:sp>
      <p:sp>
        <p:nvSpPr>
          <p:cNvPr id="56" name="Text 50"/>
          <p:cNvSpPr/>
          <p:nvPr/>
        </p:nvSpPr>
        <p:spPr>
          <a:xfrm>
            <a:off x="9134856" y="493776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Shapefile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9134856" y="51206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지표값을 속성으로</a:t>
            </a:r>
            <a:endParaRPr lang="en-US" sz="700" dirty="0"/>
          </a:p>
        </p:txBody>
      </p:sp>
      <p:sp>
        <p:nvSpPr>
          <p:cNvPr id="58" name="Shape 52"/>
          <p:cNvSpPr/>
          <p:nvPr/>
        </p:nvSpPr>
        <p:spPr>
          <a:xfrm>
            <a:off x="420624" y="5559552"/>
            <a:ext cx="11338560" cy="105156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59" name="Shape 53"/>
          <p:cNvSpPr/>
          <p:nvPr/>
        </p:nvSpPr>
        <p:spPr>
          <a:xfrm>
            <a:off x="420624" y="5559552"/>
            <a:ext cx="41148" cy="105156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60" name="Text 54"/>
          <p:cNvSpPr/>
          <p:nvPr/>
        </p:nvSpPr>
        <p:spPr>
          <a:xfrm>
            <a:off x="603504" y="5614416"/>
            <a:ext cx="11018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내려받기를 한자리에 모으지 않고 값이 보이는 칸마다 붙였다. 어느 파일이 어느 화면에서 나온 것인지 파일 이름만으로도 되짚을 수 있다.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서비스 플로우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  ·  지금 화면을 그대로 넘기는 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24912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" y="120700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· 창 세 짝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2202590"/>
            <a:ext cx="2724912" cy="9366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-21q/04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2202590"/>
            <a:ext cx="2724912" cy="9366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0624" y="2202590"/>
            <a:ext cx="2724912" cy="93669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" y="3163824"/>
            <a:ext cx="2724912" cy="131673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3236976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부문 이름은 시작 화면으로 돌아가는 길이고, 오른쪽 세 단추는 데이터 설명 · 용어 방법론 · 전체 데이터표를 연다.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291840" y="932688"/>
            <a:ext cx="2724912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6" name="Text 13"/>
          <p:cNvSpPr/>
          <p:nvPr/>
        </p:nvSpPr>
        <p:spPr>
          <a:xfrm>
            <a:off x="3419856" y="932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막대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10128" y="120700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어디까지 왔는지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291840" y="1724543"/>
            <a:ext cx="2724912" cy="1049761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9" name="Image 1" descr="/home/claude/patch/shots-21q/40-flow-s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24543"/>
            <a:ext cx="2724912" cy="1049761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291840" y="1724543"/>
            <a:ext cx="2724912" cy="1049761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291840" y="3163824"/>
            <a:ext cx="2724912" cy="131673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01568" y="3236976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부문 · 지표 수 · 방법 · 선택 지역이 한 줄에 적힌다. 선택 지역 칸에는 전국으로 돌아가는 단추가 함께 붙는다.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163056" y="932688"/>
            <a:ext cx="2724912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4" name="Text 20"/>
          <p:cNvSpPr/>
          <p:nvPr/>
        </p:nvSpPr>
        <p:spPr>
          <a:xfrm>
            <a:off x="6291072" y="932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조합 나란히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181344" y="120700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좌우를 각각 지정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6163056" y="2174489"/>
            <a:ext cx="2724912" cy="14987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7" name="Image 2" descr="/home/claude/patch/shots-21q/53-compare-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3056" y="2174489"/>
            <a:ext cx="2724912" cy="14987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6163056" y="2174489"/>
            <a:ext cx="2724912" cy="14987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163056" y="3163824"/>
            <a:ext cx="2724912" cy="131673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272784" y="3236976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왼쪽과 오른쪽에 지표 · 방법 조합을 따로 지정해 지도 두 장을 동시에 놓는다. 기준을 정해 두지 않고 자유 조합만 남겼다.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9034272" y="932688"/>
            <a:ext cx="2724912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2" name="Text 27"/>
          <p:cNvSpPr/>
          <p:nvPr/>
        </p:nvSpPr>
        <p:spPr>
          <a:xfrm>
            <a:off x="9162288" y="9326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화면 다시 열기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9052560" y="1207008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 열쇠 10개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9557132" y="1389888"/>
            <a:ext cx="1679191" cy="171907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5" name="Image 3" descr="/home/claude/patch/shots-21q/52-compare-map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7132" y="1389888"/>
            <a:ext cx="1679191" cy="1719072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9557132" y="1389888"/>
            <a:ext cx="1679191" cy="171907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9034272" y="3163824"/>
            <a:ext cx="2724912" cy="1316736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9144000" y="3236976"/>
            <a:ext cx="25054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상태가 주소에 적히므로, 주소를 건네받은 사람은 부문부터 접은 서랍까지 똑같은 화면을 연다.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420624" y="4572000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40" name="Text 34"/>
          <p:cNvSpPr/>
          <p:nvPr/>
        </p:nvSpPr>
        <p:spPr>
          <a:xfrm>
            <a:off x="548640" y="457200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 열쇠</a:t>
            </a:r>
            <a:endParaRPr lang="en-US" sz="950" dirty="0"/>
          </a:p>
        </p:txBody>
      </p:sp>
      <p:sp>
        <p:nvSpPr>
          <p:cNvPr id="41" name="Text 35"/>
          <p:cNvSpPr/>
          <p:nvPr/>
        </p:nvSpPr>
        <p:spPr>
          <a:xfrm>
            <a:off x="9290304" y="457200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상태를 열 개 열쇠로 적는다 · 기본값과 같으면 적지 않아 주소가 짧게 유지된다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420624" y="4919472"/>
            <a:ext cx="1060704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420624" y="4919472"/>
            <a:ext cx="1060704" cy="201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4" name="Text 38"/>
          <p:cNvSpPr/>
          <p:nvPr/>
        </p:nvSpPr>
        <p:spPr>
          <a:xfrm>
            <a:off x="420624" y="491947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420624" y="51206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</a:t>
            </a:r>
            <a:endParaRPr lang="en-US" sz="700" dirty="0"/>
          </a:p>
        </p:txBody>
      </p:sp>
      <p:sp>
        <p:nvSpPr>
          <p:cNvPr id="46" name="Shape 40"/>
          <p:cNvSpPr/>
          <p:nvPr/>
        </p:nvSpPr>
        <p:spPr>
          <a:xfrm>
            <a:off x="1559052" y="4919472"/>
            <a:ext cx="1060704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1559052" y="4919472"/>
            <a:ext cx="1060704" cy="201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8" name="Text 42"/>
          <p:cNvSpPr/>
          <p:nvPr/>
        </p:nvSpPr>
        <p:spPr>
          <a:xfrm>
            <a:off x="1559052" y="491947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en-US" sz="850" dirty="0"/>
          </a:p>
        </p:txBody>
      </p:sp>
      <p:sp>
        <p:nvSpPr>
          <p:cNvPr id="49" name="Text 43"/>
          <p:cNvSpPr/>
          <p:nvPr/>
        </p:nvSpPr>
        <p:spPr>
          <a:xfrm>
            <a:off x="1559052" y="51206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</a:t>
            </a:r>
            <a:endParaRPr lang="en-US" sz="700" dirty="0"/>
          </a:p>
        </p:txBody>
      </p:sp>
      <p:sp>
        <p:nvSpPr>
          <p:cNvPr id="50" name="Shape 44"/>
          <p:cNvSpPr/>
          <p:nvPr/>
        </p:nvSpPr>
        <p:spPr>
          <a:xfrm>
            <a:off x="2697480" y="4919472"/>
            <a:ext cx="1060704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2697480" y="4919472"/>
            <a:ext cx="1060704" cy="201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2" name="Text 46"/>
          <p:cNvSpPr/>
          <p:nvPr/>
        </p:nvSpPr>
        <p:spPr>
          <a:xfrm>
            <a:off x="2697480" y="491947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en-US" sz="850" dirty="0"/>
          </a:p>
        </p:txBody>
      </p:sp>
      <p:sp>
        <p:nvSpPr>
          <p:cNvPr id="53" name="Text 47"/>
          <p:cNvSpPr/>
          <p:nvPr/>
        </p:nvSpPr>
        <p:spPr>
          <a:xfrm>
            <a:off x="2697480" y="51206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</a:t>
            </a:r>
            <a:endParaRPr lang="en-US" sz="700" dirty="0"/>
          </a:p>
        </p:txBody>
      </p:sp>
      <p:sp>
        <p:nvSpPr>
          <p:cNvPr id="54" name="Shape 48"/>
          <p:cNvSpPr/>
          <p:nvPr/>
        </p:nvSpPr>
        <p:spPr>
          <a:xfrm>
            <a:off x="3835908" y="4919472"/>
            <a:ext cx="1060704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3835908" y="4919472"/>
            <a:ext cx="1060704" cy="201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6" name="Text 50"/>
          <p:cNvSpPr/>
          <p:nvPr/>
        </p:nvSpPr>
        <p:spPr>
          <a:xfrm>
            <a:off x="3835908" y="491947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en-US" sz="850" dirty="0"/>
          </a:p>
        </p:txBody>
      </p:sp>
      <p:sp>
        <p:nvSpPr>
          <p:cNvPr id="57" name="Text 51"/>
          <p:cNvSpPr/>
          <p:nvPr/>
        </p:nvSpPr>
        <p:spPr>
          <a:xfrm>
            <a:off x="3835908" y="51206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지역</a:t>
            </a:r>
            <a:endParaRPr lang="en-US" sz="700" dirty="0"/>
          </a:p>
        </p:txBody>
      </p:sp>
      <p:sp>
        <p:nvSpPr>
          <p:cNvPr id="58" name="Shape 52"/>
          <p:cNvSpPr/>
          <p:nvPr/>
        </p:nvSpPr>
        <p:spPr>
          <a:xfrm>
            <a:off x="4974336" y="4919472"/>
            <a:ext cx="1060704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4974336" y="4919472"/>
            <a:ext cx="1060704" cy="201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60" name="Text 54"/>
          <p:cNvSpPr/>
          <p:nvPr/>
        </p:nvSpPr>
        <p:spPr>
          <a:xfrm>
            <a:off x="4974336" y="491947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en-US" sz="850" dirty="0"/>
          </a:p>
        </p:txBody>
      </p:sp>
      <p:sp>
        <p:nvSpPr>
          <p:cNvPr id="61" name="Text 55"/>
          <p:cNvSpPr/>
          <p:nvPr/>
        </p:nvSpPr>
        <p:spPr>
          <a:xfrm>
            <a:off x="4974336" y="51206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조합</a:t>
            </a:r>
            <a:endParaRPr lang="en-US" sz="700" dirty="0"/>
          </a:p>
        </p:txBody>
      </p:sp>
      <p:sp>
        <p:nvSpPr>
          <p:cNvPr id="62" name="Shape 56"/>
          <p:cNvSpPr/>
          <p:nvPr/>
        </p:nvSpPr>
        <p:spPr>
          <a:xfrm>
            <a:off x="6112764" y="4919472"/>
            <a:ext cx="1060704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63" name="Shape 57"/>
          <p:cNvSpPr/>
          <p:nvPr/>
        </p:nvSpPr>
        <p:spPr>
          <a:xfrm>
            <a:off x="6112764" y="4919472"/>
            <a:ext cx="1060704" cy="201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64" name="Text 58"/>
          <p:cNvSpPr/>
          <p:nvPr/>
        </p:nvSpPr>
        <p:spPr>
          <a:xfrm>
            <a:off x="6112764" y="491947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en-US" sz="850" dirty="0"/>
          </a:p>
        </p:txBody>
      </p:sp>
      <p:sp>
        <p:nvSpPr>
          <p:cNvPr id="65" name="Text 59"/>
          <p:cNvSpPr/>
          <p:nvPr/>
        </p:nvSpPr>
        <p:spPr>
          <a:xfrm>
            <a:off x="6112764" y="51206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지표</a:t>
            </a:r>
            <a:endParaRPr lang="en-US" sz="700" dirty="0"/>
          </a:p>
        </p:txBody>
      </p:sp>
      <p:sp>
        <p:nvSpPr>
          <p:cNvPr id="66" name="Shape 60"/>
          <p:cNvSpPr/>
          <p:nvPr/>
        </p:nvSpPr>
        <p:spPr>
          <a:xfrm>
            <a:off x="7251192" y="4919472"/>
            <a:ext cx="1060704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67" name="Shape 61"/>
          <p:cNvSpPr/>
          <p:nvPr/>
        </p:nvSpPr>
        <p:spPr>
          <a:xfrm>
            <a:off x="7251192" y="4919472"/>
            <a:ext cx="1060704" cy="201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68" name="Text 62"/>
          <p:cNvSpPr/>
          <p:nvPr/>
        </p:nvSpPr>
        <p:spPr>
          <a:xfrm>
            <a:off x="7251192" y="491947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en-US" sz="850" dirty="0"/>
          </a:p>
        </p:txBody>
      </p:sp>
      <p:sp>
        <p:nvSpPr>
          <p:cNvPr id="69" name="Text 63"/>
          <p:cNvSpPr/>
          <p:nvPr/>
        </p:nvSpPr>
        <p:spPr>
          <a:xfrm>
            <a:off x="7251192" y="51206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연도</a:t>
            </a:r>
            <a:endParaRPr lang="en-US" sz="700" dirty="0"/>
          </a:p>
        </p:txBody>
      </p:sp>
      <p:sp>
        <p:nvSpPr>
          <p:cNvPr id="70" name="Shape 64"/>
          <p:cNvSpPr/>
          <p:nvPr/>
        </p:nvSpPr>
        <p:spPr>
          <a:xfrm>
            <a:off x="8389620" y="4919472"/>
            <a:ext cx="1060704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8389620" y="4919472"/>
            <a:ext cx="1060704" cy="201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2" name="Text 66"/>
          <p:cNvSpPr/>
          <p:nvPr/>
        </p:nvSpPr>
        <p:spPr>
          <a:xfrm>
            <a:off x="8389620" y="491947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850" dirty="0"/>
          </a:p>
        </p:txBody>
      </p:sp>
      <p:sp>
        <p:nvSpPr>
          <p:cNvPr id="73" name="Text 67"/>
          <p:cNvSpPr/>
          <p:nvPr/>
        </p:nvSpPr>
        <p:spPr>
          <a:xfrm>
            <a:off x="8389620" y="51206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산점도 가로축</a:t>
            </a:r>
            <a:endParaRPr lang="en-US" sz="700" dirty="0"/>
          </a:p>
        </p:txBody>
      </p:sp>
      <p:sp>
        <p:nvSpPr>
          <p:cNvPr id="74" name="Shape 68"/>
          <p:cNvSpPr/>
          <p:nvPr/>
        </p:nvSpPr>
        <p:spPr>
          <a:xfrm>
            <a:off x="9528048" y="4919472"/>
            <a:ext cx="1060704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9528048" y="4919472"/>
            <a:ext cx="1060704" cy="201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6" name="Text 70"/>
          <p:cNvSpPr/>
          <p:nvPr/>
        </p:nvSpPr>
        <p:spPr>
          <a:xfrm>
            <a:off x="9528048" y="491947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en-US" sz="850" dirty="0"/>
          </a:p>
        </p:txBody>
      </p:sp>
      <p:sp>
        <p:nvSpPr>
          <p:cNvPr id="77" name="Text 71"/>
          <p:cNvSpPr/>
          <p:nvPr/>
        </p:nvSpPr>
        <p:spPr>
          <a:xfrm>
            <a:off x="9528048" y="51206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산점도 세로축</a:t>
            </a:r>
            <a:endParaRPr lang="en-US" sz="700" dirty="0"/>
          </a:p>
        </p:txBody>
      </p:sp>
      <p:sp>
        <p:nvSpPr>
          <p:cNvPr id="78" name="Shape 72"/>
          <p:cNvSpPr/>
          <p:nvPr/>
        </p:nvSpPr>
        <p:spPr>
          <a:xfrm>
            <a:off x="10666476" y="4919472"/>
            <a:ext cx="1060704" cy="4572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10666476" y="4919472"/>
            <a:ext cx="1060704" cy="201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0" name="Text 74"/>
          <p:cNvSpPr/>
          <p:nvPr/>
        </p:nvSpPr>
        <p:spPr>
          <a:xfrm>
            <a:off x="10666476" y="4919472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C54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en-US" sz="850" dirty="0"/>
          </a:p>
        </p:txBody>
      </p:sp>
      <p:sp>
        <p:nvSpPr>
          <p:cNvPr id="81" name="Text 75"/>
          <p:cNvSpPr/>
          <p:nvPr/>
        </p:nvSpPr>
        <p:spPr>
          <a:xfrm>
            <a:off x="10666476" y="512064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접은 서랍</a:t>
            </a:r>
            <a:endParaRPr lang="en-US" sz="700" dirty="0"/>
          </a:p>
        </p:txBody>
      </p:sp>
      <p:sp>
        <p:nvSpPr>
          <p:cNvPr id="82" name="Shape 76"/>
          <p:cNvSpPr/>
          <p:nvPr/>
        </p:nvSpPr>
        <p:spPr>
          <a:xfrm>
            <a:off x="420624" y="5559552"/>
            <a:ext cx="11338560" cy="105156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83" name="Shape 77"/>
          <p:cNvSpPr/>
          <p:nvPr/>
        </p:nvSpPr>
        <p:spPr>
          <a:xfrm>
            <a:off x="420624" y="5559552"/>
            <a:ext cx="41148" cy="105156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4" name="Text 78"/>
          <p:cNvSpPr/>
          <p:nvPr/>
        </p:nvSpPr>
        <p:spPr>
          <a:xfrm>
            <a:off x="603504" y="5614416"/>
            <a:ext cx="110185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주소만으로 화면이 되살아나므로 발표 자료에 화면을 캡쳐해 붙이는 대신 주소를 적어 두면 언제든 같은 조합을 다시 연다.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기본값과 같은 항목은 주소에 적지 않아, 아무것도 바꾸지 않은 화면의 주소는 부문 하나만 남는다.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-21q/pen-dark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766560" y="-502920"/>
            <a:ext cx="6035040" cy="5641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  ·  SPATIAL ANALYSIS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760720" y="347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O5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Look &amp; Feel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94360" y="4315968"/>
            <a:ext cx="1097280" cy="21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498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· 글자 · 조각의 생김새를 정하고, 그 규칙이 실제 화면에서 어떻게 지켜졌는지 조각별로 확인한다.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색채 계획 · 지도 색 띠 4종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글자 크기 8단 눈금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화면 조각별 시각화 15건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최종 화면 4종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작업_1   색채 계획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띠 4종 · 화면 기본 색 8종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9875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· 점수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0624" y="122529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rank · blue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26080" y="969264"/>
            <a:ext cx="1188720" cy="420624"/>
          </a:xfrm>
          <a:prstGeom prst="rect">
            <a:avLst/>
          </a:prstGeom>
          <a:solidFill>
            <a:srgbClr val="EAF6FF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4081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#EAF6FF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4114800" y="969264"/>
            <a:ext cx="1188720" cy="420624"/>
          </a:xfrm>
          <a:prstGeom prst="rect">
            <a:avLst/>
          </a:prstGeom>
          <a:solidFill>
            <a:srgbClr val="CBE8FC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14081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#CBE8FC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5303520" y="969264"/>
            <a:ext cx="1188720" cy="420624"/>
          </a:xfrm>
          <a:prstGeom prst="rect">
            <a:avLst/>
          </a:prstGeom>
          <a:solidFill>
            <a:srgbClr val="9AD3FF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14081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#9AD3FF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6492240" y="969264"/>
            <a:ext cx="1188720" cy="420624"/>
          </a:xfrm>
          <a:prstGeom prst="rect">
            <a:avLst/>
          </a:prstGeom>
          <a:solidFill>
            <a:srgbClr val="5FB6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4081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#5FB6F5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7680960" y="969264"/>
            <a:ext cx="1188720" cy="420624"/>
          </a:xfrm>
          <a:prstGeom prst="rect">
            <a:avLst/>
          </a:prstGeom>
          <a:solidFill>
            <a:srgbClr val="0B93EE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0" y="14081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#0B93EE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8869680" y="969264"/>
            <a:ext cx="1188720" cy="420624"/>
          </a:xfrm>
          <a:prstGeom prst="rect">
            <a:avLst/>
          </a:prstGeom>
          <a:solidFill>
            <a:srgbClr val="0A6FB3"/>
          </a:solidFill>
          <a:ln/>
        </p:spPr>
      </p:sp>
      <p:sp>
        <p:nvSpPr>
          <p:cNvPr id="20" name="Text 18"/>
          <p:cNvSpPr/>
          <p:nvPr/>
        </p:nvSpPr>
        <p:spPr>
          <a:xfrm>
            <a:off x="8869680" y="14081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#0A6FB3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10058400" y="969264"/>
            <a:ext cx="1188720" cy="420624"/>
          </a:xfrm>
          <a:prstGeom prst="rect">
            <a:avLst/>
          </a:prstGeom>
          <a:solidFill>
            <a:srgbClr val="08507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0" y="14081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#08507F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926080" y="157276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부문점수 · 전국 순위 · 표준점수 · 백분위처럼 한 방향으로 높고 낮음이 있는 값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20624" y="177393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민감도 · 이동 폭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0624" y="20116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heat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926080" y="1755648"/>
            <a:ext cx="1188720" cy="420624"/>
          </a:xfrm>
          <a:prstGeom prst="rect">
            <a:avLst/>
          </a:prstGeom>
          <a:solidFill>
            <a:srgbClr val="FFF3E6"/>
          </a:solidFill>
          <a:ln/>
        </p:spPr>
      </p:sp>
      <p:sp>
        <p:nvSpPr>
          <p:cNvPr id="27" name="Text 25"/>
          <p:cNvSpPr/>
          <p:nvPr/>
        </p:nvSpPr>
        <p:spPr>
          <a:xfrm>
            <a:off x="2926080" y="2194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#FFF3E6</a:t>
            </a:r>
            <a:endParaRPr lang="en-US" sz="650" dirty="0"/>
          </a:p>
        </p:txBody>
      </p:sp>
      <p:sp>
        <p:nvSpPr>
          <p:cNvPr id="28" name="Shape 26"/>
          <p:cNvSpPr/>
          <p:nvPr/>
        </p:nvSpPr>
        <p:spPr>
          <a:xfrm>
            <a:off x="4114800" y="1755648"/>
            <a:ext cx="1188720" cy="420624"/>
          </a:xfrm>
          <a:prstGeom prst="rect">
            <a:avLst/>
          </a:prstGeom>
          <a:solidFill>
            <a:srgbClr val="FFDDBC"/>
          </a:solidFill>
          <a:ln/>
        </p:spPr>
      </p:sp>
      <p:sp>
        <p:nvSpPr>
          <p:cNvPr id="29" name="Text 27"/>
          <p:cNvSpPr/>
          <p:nvPr/>
        </p:nvSpPr>
        <p:spPr>
          <a:xfrm>
            <a:off x="4114800" y="2194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#FFDDBC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5303520" y="1755648"/>
            <a:ext cx="1188720" cy="420624"/>
          </a:xfrm>
          <a:prstGeom prst="rect">
            <a:avLst/>
          </a:prstGeom>
          <a:solidFill>
            <a:srgbClr val="FFC38C"/>
          </a:solidFill>
          <a:ln/>
        </p:spPr>
      </p:sp>
      <p:sp>
        <p:nvSpPr>
          <p:cNvPr id="31" name="Text 29"/>
          <p:cNvSpPr/>
          <p:nvPr/>
        </p:nvSpPr>
        <p:spPr>
          <a:xfrm>
            <a:off x="5303520" y="2194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#FFC38C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492240" y="1755648"/>
            <a:ext cx="1188720" cy="420624"/>
          </a:xfrm>
          <a:prstGeom prst="rect">
            <a:avLst/>
          </a:prstGeom>
          <a:solidFill>
            <a:srgbClr val="FDA35A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2194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#FDA35A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7680960" y="1755648"/>
            <a:ext cx="1188720" cy="420624"/>
          </a:xfrm>
          <a:prstGeom prst="rect">
            <a:avLst/>
          </a:prstGeom>
          <a:solidFill>
            <a:srgbClr val="F5760D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0" y="2194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#F5760D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8869680" y="1755648"/>
            <a:ext cx="1188720" cy="420624"/>
          </a:xfrm>
          <a:prstGeom prst="rect">
            <a:avLst/>
          </a:prstGeom>
          <a:solidFill>
            <a:srgbClr val="C85B06"/>
          </a:solidFill>
          <a:ln/>
        </p:spPr>
      </p:sp>
      <p:sp>
        <p:nvSpPr>
          <p:cNvPr id="37" name="Text 35"/>
          <p:cNvSpPr/>
          <p:nvPr/>
        </p:nvSpPr>
        <p:spPr>
          <a:xfrm>
            <a:off x="8869680" y="2194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#C85B06</a:t>
            </a:r>
            <a:endParaRPr lang="en-US" sz="650" dirty="0"/>
          </a:p>
        </p:txBody>
      </p:sp>
      <p:sp>
        <p:nvSpPr>
          <p:cNvPr id="38" name="Shape 36"/>
          <p:cNvSpPr/>
          <p:nvPr/>
        </p:nvSpPr>
        <p:spPr>
          <a:xfrm>
            <a:off x="10058400" y="1755648"/>
            <a:ext cx="1188720" cy="420624"/>
          </a:xfrm>
          <a:prstGeom prst="rect">
            <a:avLst/>
          </a:prstGeom>
          <a:solidFill>
            <a:srgbClr val="8F3F03"/>
          </a:solidFill>
          <a:ln/>
        </p:spPr>
      </p:sp>
      <p:sp>
        <p:nvSpPr>
          <p:cNvPr id="39" name="Text 37"/>
          <p:cNvSpPr/>
          <p:nvPr/>
        </p:nvSpPr>
        <p:spPr>
          <a:xfrm>
            <a:off x="10058400" y="21945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#8F3F03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926080" y="2359152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 사이의 순위 이동 폭처럼 클수록 눈에 띄어야 하는 값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20624" y="25603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원데이터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20624" y="279806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green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926080" y="2542032"/>
            <a:ext cx="1188720" cy="420624"/>
          </a:xfrm>
          <a:prstGeom prst="rect">
            <a:avLst/>
          </a:prstGeom>
          <a:solidFill>
            <a:srgbClr val="EDFAF0"/>
          </a:solidFill>
          <a:ln/>
        </p:spPr>
      </p:sp>
      <p:sp>
        <p:nvSpPr>
          <p:cNvPr id="44" name="Text 42"/>
          <p:cNvSpPr/>
          <p:nvPr/>
        </p:nvSpPr>
        <p:spPr>
          <a:xfrm>
            <a:off x="2926080" y="29809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#EDFAF0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114800" y="2542032"/>
            <a:ext cx="1188720" cy="420624"/>
          </a:xfrm>
          <a:prstGeom prst="rect">
            <a:avLst/>
          </a:prstGeom>
          <a:solidFill>
            <a:srgbClr val="CDF0D6"/>
          </a:solidFill>
          <a:ln/>
        </p:spPr>
      </p:sp>
      <p:sp>
        <p:nvSpPr>
          <p:cNvPr id="46" name="Text 44"/>
          <p:cNvSpPr/>
          <p:nvPr/>
        </p:nvSpPr>
        <p:spPr>
          <a:xfrm>
            <a:off x="4114800" y="29809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#CDF0D6</a:t>
            </a:r>
            <a:endParaRPr lang="en-US" sz="650" dirty="0"/>
          </a:p>
        </p:txBody>
      </p:sp>
      <p:sp>
        <p:nvSpPr>
          <p:cNvPr id="47" name="Shape 45"/>
          <p:cNvSpPr/>
          <p:nvPr/>
        </p:nvSpPr>
        <p:spPr>
          <a:xfrm>
            <a:off x="5303520" y="2542032"/>
            <a:ext cx="1188720" cy="420624"/>
          </a:xfrm>
          <a:prstGeom prst="rect">
            <a:avLst/>
          </a:prstGeom>
          <a:solidFill>
            <a:srgbClr val="A2E3B4"/>
          </a:solidFill>
          <a:ln/>
        </p:spPr>
      </p:sp>
      <p:sp>
        <p:nvSpPr>
          <p:cNvPr id="48" name="Text 46"/>
          <p:cNvSpPr/>
          <p:nvPr/>
        </p:nvSpPr>
        <p:spPr>
          <a:xfrm>
            <a:off x="5303520" y="29809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#A2E3B4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492240" y="2542032"/>
            <a:ext cx="1188720" cy="420624"/>
          </a:xfrm>
          <a:prstGeom prst="rect">
            <a:avLst/>
          </a:prstGeom>
          <a:solidFill>
            <a:srgbClr val="6FD08D"/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29809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#6FD08D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7680960" y="2542032"/>
            <a:ext cx="1188720" cy="420624"/>
          </a:xfrm>
          <a:prstGeom prst="rect">
            <a:avLst/>
          </a:prstGeom>
          <a:solidFill>
            <a:srgbClr val="2FB86A"/>
          </a:solidFill>
          <a:ln/>
        </p:spPr>
      </p:sp>
      <p:sp>
        <p:nvSpPr>
          <p:cNvPr id="52" name="Text 50"/>
          <p:cNvSpPr/>
          <p:nvPr/>
        </p:nvSpPr>
        <p:spPr>
          <a:xfrm>
            <a:off x="7680960" y="29809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#2FB86A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8869680" y="2542032"/>
            <a:ext cx="1188720" cy="420624"/>
          </a:xfrm>
          <a:prstGeom prst="rect">
            <a:avLst/>
          </a:prstGeom>
          <a:solidFill>
            <a:srgbClr val="1D8A4E"/>
          </a:solidFill>
          <a:ln/>
        </p:spPr>
      </p:sp>
      <p:sp>
        <p:nvSpPr>
          <p:cNvPr id="54" name="Text 52"/>
          <p:cNvSpPr/>
          <p:nvPr/>
        </p:nvSpPr>
        <p:spPr>
          <a:xfrm>
            <a:off x="8869680" y="29809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#1D8A4E</a:t>
            </a:r>
            <a:endParaRPr lang="en-US" sz="650" dirty="0"/>
          </a:p>
        </p:txBody>
      </p:sp>
      <p:sp>
        <p:nvSpPr>
          <p:cNvPr id="55" name="Shape 53"/>
          <p:cNvSpPr/>
          <p:nvPr/>
        </p:nvSpPr>
        <p:spPr>
          <a:xfrm>
            <a:off x="10058400" y="2542032"/>
            <a:ext cx="1188720" cy="420624"/>
          </a:xfrm>
          <a:prstGeom prst="rect">
            <a:avLst/>
          </a:prstGeom>
          <a:solidFill>
            <a:srgbClr val="136135"/>
          </a:solidFill>
          <a:ln/>
        </p:spPr>
      </p:sp>
      <p:sp>
        <p:nvSpPr>
          <p:cNvPr id="56" name="Text 54"/>
          <p:cNvSpPr/>
          <p:nvPr/>
        </p:nvSpPr>
        <p:spPr>
          <a:xfrm>
            <a:off x="10058400" y="298094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#136135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2926080" y="3145536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원값을 그대로 칠할 때. 종합 점수와 색 계열을 갈라 혼동을 막는다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20624" y="334670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위아래로 갈리는 값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20624" y="35844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div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926080" y="3328416"/>
            <a:ext cx="1188720" cy="420624"/>
          </a:xfrm>
          <a:prstGeom prst="rect">
            <a:avLst/>
          </a:prstGeom>
          <a:solidFill>
            <a:srgbClr val="08507F"/>
          </a:solidFill>
          <a:ln/>
        </p:spPr>
      </p:sp>
      <p:sp>
        <p:nvSpPr>
          <p:cNvPr id="61" name="Text 59"/>
          <p:cNvSpPr/>
          <p:nvPr/>
        </p:nvSpPr>
        <p:spPr>
          <a:xfrm>
            <a:off x="2926080" y="37673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#08507F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4114800" y="3328416"/>
            <a:ext cx="1188720" cy="420624"/>
          </a:xfrm>
          <a:prstGeom prst="rect">
            <a:avLst/>
          </a:prstGeom>
          <a:solidFill>
            <a:srgbClr val="0B93EE"/>
          </a:solidFill>
          <a:ln/>
        </p:spPr>
      </p:sp>
      <p:sp>
        <p:nvSpPr>
          <p:cNvPr id="63" name="Text 61"/>
          <p:cNvSpPr/>
          <p:nvPr/>
        </p:nvSpPr>
        <p:spPr>
          <a:xfrm>
            <a:off x="4114800" y="37673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#0B93EE</a:t>
            </a:r>
            <a:endParaRPr lang="en-US" sz="650" dirty="0"/>
          </a:p>
        </p:txBody>
      </p:sp>
      <p:sp>
        <p:nvSpPr>
          <p:cNvPr id="64" name="Shape 62"/>
          <p:cNvSpPr/>
          <p:nvPr/>
        </p:nvSpPr>
        <p:spPr>
          <a:xfrm>
            <a:off x="5303520" y="3328416"/>
            <a:ext cx="1188720" cy="420624"/>
          </a:xfrm>
          <a:prstGeom prst="rect">
            <a:avLst/>
          </a:prstGeom>
          <a:solidFill>
            <a:srgbClr val="9AD3FF"/>
          </a:solidFill>
          <a:ln/>
        </p:spPr>
      </p:sp>
      <p:sp>
        <p:nvSpPr>
          <p:cNvPr id="65" name="Text 63"/>
          <p:cNvSpPr/>
          <p:nvPr/>
        </p:nvSpPr>
        <p:spPr>
          <a:xfrm>
            <a:off x="5303520" y="37673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#9AD3FF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6492240" y="3328416"/>
            <a:ext cx="1188720" cy="420624"/>
          </a:xfrm>
          <a:prstGeom prst="rect">
            <a:avLst/>
          </a:prstGeom>
          <a:solidFill>
            <a:srgbClr val="EEF1F5"/>
          </a:solidFill>
          <a:ln/>
        </p:spPr>
      </p:sp>
      <p:sp>
        <p:nvSpPr>
          <p:cNvPr id="67" name="Text 65"/>
          <p:cNvSpPr/>
          <p:nvPr/>
        </p:nvSpPr>
        <p:spPr>
          <a:xfrm>
            <a:off x="6492240" y="37673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#EEF1F5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7680960" y="3328416"/>
            <a:ext cx="1188720" cy="420624"/>
          </a:xfrm>
          <a:prstGeom prst="rect">
            <a:avLst/>
          </a:prstGeom>
          <a:solidFill>
            <a:srgbClr val="FFC38C"/>
          </a:solidFill>
          <a:ln/>
        </p:spPr>
      </p:sp>
      <p:sp>
        <p:nvSpPr>
          <p:cNvPr id="69" name="Text 67"/>
          <p:cNvSpPr/>
          <p:nvPr/>
        </p:nvSpPr>
        <p:spPr>
          <a:xfrm>
            <a:off x="7680960" y="37673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#FFC38C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8869680" y="3328416"/>
            <a:ext cx="1188720" cy="420624"/>
          </a:xfrm>
          <a:prstGeom prst="rect">
            <a:avLst/>
          </a:prstGeom>
          <a:solidFill>
            <a:srgbClr val="F5760D"/>
          </a:solidFill>
          <a:ln/>
        </p:spPr>
      </p:sp>
      <p:sp>
        <p:nvSpPr>
          <p:cNvPr id="71" name="Text 69"/>
          <p:cNvSpPr/>
          <p:nvPr/>
        </p:nvSpPr>
        <p:spPr>
          <a:xfrm>
            <a:off x="8869680" y="37673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#F5760D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10058400" y="3328416"/>
            <a:ext cx="1188720" cy="420624"/>
          </a:xfrm>
          <a:prstGeom prst="rect">
            <a:avLst/>
          </a:prstGeom>
          <a:solidFill>
            <a:srgbClr val="8F3F03"/>
          </a:solidFill>
          <a:ln/>
        </p:spPr>
      </p:sp>
      <p:sp>
        <p:nvSpPr>
          <p:cNvPr id="73" name="Text 71"/>
          <p:cNvSpPr/>
          <p:nvPr/>
        </p:nvSpPr>
        <p:spPr>
          <a:xfrm>
            <a:off x="10058400" y="376732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#8F3F03</a:t>
            </a:r>
            <a:endParaRPr lang="en-US" sz="650" dirty="0"/>
          </a:p>
        </p:txBody>
      </p:sp>
      <p:sp>
        <p:nvSpPr>
          <p:cNvPr id="74" name="Text 72"/>
          <p:cNvSpPr/>
          <p:nvPr/>
        </p:nvSpPr>
        <p:spPr>
          <a:xfrm>
            <a:off x="2926080" y="3931920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순위가 오른 곳과 내린 곳처럼 가운데를 기준으로 방향이 갈리는 값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420624" y="4224528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76" name="Text 74"/>
          <p:cNvSpPr/>
          <p:nvPr/>
        </p:nvSpPr>
        <p:spPr>
          <a:xfrm>
            <a:off x="548640" y="422452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기본 색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9290304" y="42245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색은 값에만 쓰고 조각의 생김새에는 쓰지 않는다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20624" y="4572000"/>
            <a:ext cx="1316736" cy="402336"/>
          </a:xfrm>
          <a:prstGeom prst="rect">
            <a:avLst/>
          </a:prstGeom>
          <a:solidFill>
            <a:srgbClr val="33A8FF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0624" y="49926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강조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20624" y="516636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#33A8FF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1847088" y="4572000"/>
            <a:ext cx="1316736" cy="402336"/>
          </a:xfrm>
          <a:prstGeom prst="rect">
            <a:avLst/>
          </a:prstGeom>
          <a:solidFill>
            <a:srgbClr val="008AE0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1847088" y="49926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강조 진하게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1847088" y="516636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#008AE0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3273552" y="4572000"/>
            <a:ext cx="1316736" cy="402336"/>
          </a:xfrm>
          <a:prstGeom prst="rect">
            <a:avLst/>
          </a:prstGeom>
          <a:solidFill>
            <a:srgbClr val="E6F3FF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73552" y="49926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강조 옅게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273552" y="516636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#E6F3FF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4700016" y="4572000"/>
            <a:ext cx="1316736" cy="402336"/>
          </a:xfrm>
          <a:prstGeom prst="rect">
            <a:avLst/>
          </a:prstGeom>
          <a:solidFill>
            <a:srgbClr val="0F172A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700016" y="49926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글자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700016" y="516636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#0F172A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6126480" y="4572000"/>
            <a:ext cx="1316736" cy="402336"/>
          </a:xfrm>
          <a:prstGeom prst="rect">
            <a:avLst/>
          </a:prstGeom>
          <a:solidFill>
            <a:srgbClr val="475569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126480" y="49926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보조 글자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6126480" y="516636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#475569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7552944" y="4572000"/>
            <a:ext cx="1316736" cy="402336"/>
          </a:xfrm>
          <a:prstGeom prst="rect">
            <a:avLst/>
          </a:prstGeom>
          <a:solidFill>
            <a:srgbClr val="94A3B8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552944" y="49926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흐린 글자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7552944" y="516636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#94A3B8</a:t>
            </a:r>
            <a:endParaRPr lang="en-US" sz="650" dirty="0"/>
          </a:p>
        </p:txBody>
      </p:sp>
      <p:sp>
        <p:nvSpPr>
          <p:cNvPr id="96" name="Shape 94"/>
          <p:cNvSpPr/>
          <p:nvPr/>
        </p:nvSpPr>
        <p:spPr>
          <a:xfrm>
            <a:off x="8979408" y="4572000"/>
            <a:ext cx="1316736" cy="402336"/>
          </a:xfrm>
          <a:prstGeom prst="rect">
            <a:avLst/>
          </a:prstGeom>
          <a:solidFill>
            <a:srgbClr val="E2E8F0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979408" y="49926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경계선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8979408" y="516636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#E2E8F0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10405872" y="4572000"/>
            <a:ext cx="1316736" cy="402336"/>
          </a:xfrm>
          <a:prstGeom prst="rect">
            <a:avLst/>
          </a:prstGeom>
          <a:solidFill>
            <a:srgbClr val="F8FA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0405872" y="4992624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바탕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10405872" y="5166360"/>
            <a:ext cx="1316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#F8FAFC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420624" y="5486400"/>
            <a:ext cx="11338560" cy="1124712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20624" y="5486400"/>
            <a:ext cx="41148" cy="112471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04" name="Text 102"/>
          <p:cNvSpPr/>
          <p:nvPr/>
        </p:nvSpPr>
        <p:spPr>
          <a:xfrm>
            <a:off x="603504" y="5541264"/>
            <a:ext cx="110185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값의 성격마다 색 띠를 갈라 두어, 지도 색 기준을 바꾸면 색 계열이 먼저 바뀐다. 같은 파랑이 종합 점수와 원값을 동시에 뜻하는 일이 없다.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조각의 테두리와 바탕에는 색을 쓰지 않고 회색 눈금만 써서, 화면에서 색이 보이면 그것은 언제나 값이다.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작업_2   타이포그래피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크기 8단 눈금 · Pretendard Variable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11338560" cy="40233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93268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Pretendard Variable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0" y="93268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 값은 :root 한 곳에서만 정하고 화면 조각은 눈금 이름만 부른다. 조각마다 크기를 따로 적지 않으므로 화면 사이에서 글자 크기가 어긋나지 않는다.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20624" y="1463040"/>
            <a:ext cx="11338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" y="1463040"/>
            <a:ext cx="1188720" cy="4572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" y="14630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--fs-8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00784" y="1463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30px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0" y="14630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59536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화면 표제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20624" y="1965960"/>
            <a:ext cx="1133856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0624" y="1965960"/>
            <a:ext cx="1188720" cy="4572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420624" y="1965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--fs-7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00784" y="1965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19px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19659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민감도 진단 대시보드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95360" y="1965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제목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0624" y="2468880"/>
            <a:ext cx="11338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0624" y="2468880"/>
            <a:ext cx="1188720" cy="4572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420624" y="24688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--fs-6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00784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16px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0" y="24688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종합   전국 229개 시군구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95360" y="2468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제목 · 큰 수치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0624" y="2971800"/>
            <a:ext cx="1133856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" y="2971800"/>
            <a:ext cx="1188720" cy="4572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420624" y="29718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--fs-5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700784" y="2971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14px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60320" y="29718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평균 56.5   중앙값 58.1   표준편차 23.4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595360" y="2971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카드 제목 · 강조 수치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20624" y="3474720"/>
            <a:ext cx="11338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" y="3474720"/>
            <a:ext cx="1188720" cy="4572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6" name="Text 34"/>
          <p:cNvSpPr/>
          <p:nvPr/>
        </p:nvSpPr>
        <p:spPr>
          <a:xfrm>
            <a:off x="420624" y="3474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--fs-4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700784" y="34747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12.5px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560320" y="3474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방법을 바꾸면 지도와 통계가 곧바로 다시 계산됩니다.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95360" y="3474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본문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20624" y="3977640"/>
            <a:ext cx="1133856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0624" y="3977640"/>
            <a:ext cx="1188720" cy="4572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2" name="Text 40"/>
          <p:cNvSpPr/>
          <p:nvPr/>
        </p:nvSpPr>
        <p:spPr>
          <a:xfrm>
            <a:off x="420624" y="3977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--fs-3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700784" y="3977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11.5px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560320" y="397764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거점화율   거점부 인구집중도   평균 출근거리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59536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본문 · 목록 항목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20624" y="4480560"/>
            <a:ext cx="113385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0624" y="4480560"/>
            <a:ext cx="1188720" cy="4572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8" name="Text 46"/>
          <p:cNvSpPr/>
          <p:nvPr/>
        </p:nvSpPr>
        <p:spPr>
          <a:xfrm>
            <a:off x="420624" y="4480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--fs-2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700784" y="44805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10.5px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560320" y="448056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등수를 그대로 0~100점으로 바꾸는 방법입니다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595360" y="4480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안 작은 글씨 · 설명 꼬리말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20624" y="4983480"/>
            <a:ext cx="11338560" cy="457200"/>
          </a:xfrm>
          <a:prstGeom prst="rect">
            <a:avLst/>
          </a:prstGeom>
          <a:solidFill>
            <a:srgbClr val="FAFBFC"/>
          </a:solidFill>
          <a:ln w="6350">
            <a:solidFill>
              <a:srgbClr val="E3E7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0624" y="4983480"/>
            <a:ext cx="1188720" cy="4572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54" name="Text 52"/>
          <p:cNvSpPr/>
          <p:nvPr/>
        </p:nvSpPr>
        <p:spPr>
          <a:xfrm>
            <a:off x="420624" y="49834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--fs-1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1700784" y="4983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73E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9px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2560320" y="498348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%   ·   2025년   ·   출처 국토모니터링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595360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· 각주 · 보조 표식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20624" y="5742432"/>
            <a:ext cx="11338560" cy="86868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59" name="Shape 57"/>
          <p:cNvSpPr/>
          <p:nvPr/>
        </p:nvSpPr>
        <p:spPr>
          <a:xfrm>
            <a:off x="420624" y="5742432"/>
            <a:ext cx="41148" cy="8686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60" name="Text 58"/>
          <p:cNvSpPr/>
          <p:nvPr/>
        </p:nvSpPr>
        <p:spPr>
          <a:xfrm>
            <a:off x="603504" y="5797296"/>
            <a:ext cx="11018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여덟 단으로 묶어 두면 새 칸을 만들 때 고를 수 있는 크기가 여덟 가지뿐이라, 비슷비슷한 크기가 늘어나 화면이 흐려지는 일이 없다.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작업_3   머리줄 · 흐름 막대 · 손잡이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위쪽 두 줄이 맡는 일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11338560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8961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머리줄 전체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290304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부문 이름 · 가운데 화면 이름 · 오른쪽 창 세 짝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0624" y="1332167"/>
            <a:ext cx="11338560" cy="38976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-21q/04-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332167"/>
            <a:ext cx="11338560" cy="38976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0624" y="1332167"/>
            <a:ext cx="11338560" cy="389763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" y="2011680"/>
            <a:ext cx="2724912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0116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이름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76656" y="20116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눌러서 시작 화면으로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20624" y="2793973"/>
            <a:ext cx="2724912" cy="501957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7" name="Image 1" descr="/home/claude/patch/shots-21q/04c-hd-sec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2793973"/>
            <a:ext cx="2724912" cy="501957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20624" y="2793973"/>
            <a:ext cx="2724912" cy="501957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38912" y="3840480"/>
            <a:ext cx="26883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보고 있는 부문의 이름이 머리줄 맨 왼쪽에 온다. 눌러 시작 화면으로 돌아가 다른 부문을 고른다. 부문을 갈아타는 길을 화면 밖에 두지 않았다.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3291840" y="2011680"/>
            <a:ext cx="2724912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1" name="Text 17"/>
          <p:cNvSpPr/>
          <p:nvPr/>
        </p:nvSpPr>
        <p:spPr>
          <a:xfrm>
            <a:off x="3419856" y="20116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세 짝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3547872" y="20116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설명 · 용어 · 데이터표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3291840" y="2904381"/>
            <a:ext cx="2724912" cy="28114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4" name="Image 2" descr="/home/claude/patch/shots-21q/04b-hd-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904381"/>
            <a:ext cx="2724912" cy="28114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3291840" y="2904381"/>
            <a:ext cx="2724912" cy="28114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310128" y="3840480"/>
            <a:ext cx="26883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설명은 본문에 붙이지 않고 세 창으로 나눠 뺐다. 데이터 설명은 지금 고른 지표만, 용어 창은 화면에 쓰인 말 전체를 다룬다.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6163056" y="2011680"/>
            <a:ext cx="2724912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8" name="Text 23"/>
          <p:cNvSpPr/>
          <p:nvPr/>
        </p:nvSpPr>
        <p:spPr>
          <a:xfrm>
            <a:off x="6291072" y="20116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흐름 막대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419088" y="20116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고른 것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6163056" y="2624303"/>
            <a:ext cx="2724912" cy="84129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1" name="Image 3" descr="/home/claude/patch/shots-21q/08-flo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624303"/>
            <a:ext cx="2724912" cy="84129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6163056" y="2624303"/>
            <a:ext cx="2724912" cy="84129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181344" y="3840480"/>
            <a:ext cx="26883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· 지표 수 · 표준화 방법 · 선택 지역이 한 줄로 이어진다. 조작을 바꾸면 이 줄이 먼저 바뀌어 무엇이 달라졌는지 알린다.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9034272" y="2011680"/>
            <a:ext cx="2724912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5" name="Text 29"/>
          <p:cNvSpPr/>
          <p:nvPr/>
        </p:nvSpPr>
        <p:spPr>
          <a:xfrm>
            <a:off x="9162288" y="20116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단계 손잡이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9290304" y="201168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고르면 아래로 내려간다</a:t>
            </a:r>
            <a:endParaRPr lang="en-US" sz="800" dirty="0"/>
          </a:p>
        </p:txBody>
      </p:sp>
      <p:sp>
        <p:nvSpPr>
          <p:cNvPr id="37" name="Shape 31"/>
          <p:cNvSpPr/>
          <p:nvPr/>
        </p:nvSpPr>
        <p:spPr>
          <a:xfrm>
            <a:off x="9034272" y="2831326"/>
            <a:ext cx="2724912" cy="427251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8" name="Image 4" descr="/home/claude/patch/shots-21q/03c-n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272" y="2831326"/>
            <a:ext cx="2724912" cy="427251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9034272" y="2831326"/>
            <a:ext cx="2724912" cy="427251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9052560" y="3840480"/>
            <a:ext cx="26883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단계를 마치면 다음 단계로 내려가는 손잡이가 나타난다. 눌러도 되고 그대로 두어도 되므로 진행을 막지 않는다.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420624" y="5742432"/>
            <a:ext cx="11338560" cy="86868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2" name="Shape 35"/>
          <p:cNvSpPr/>
          <p:nvPr/>
        </p:nvSpPr>
        <p:spPr>
          <a:xfrm>
            <a:off x="420624" y="5742432"/>
            <a:ext cx="41148" cy="86868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3" name="Text 36"/>
          <p:cNvSpPr/>
          <p:nvPr/>
        </p:nvSpPr>
        <p:spPr>
          <a:xfrm>
            <a:off x="603504" y="5797296"/>
            <a:ext cx="11018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머리줄은 자리를 옮기는 일만, 흐름 막대는 고른 것을 알리는 일만 맡는다. 두 줄이 겹치는 기능을 갖지 않게 해 위쪽 영역을 얇게 유지했다.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작업_4   시작 화면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카드 · 준비중 띠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배치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" y="1846162"/>
            <a:ext cx="2738628" cy="162948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01-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846162"/>
            <a:ext cx="2738628" cy="162948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1846162"/>
            <a:ext cx="2738628" cy="162948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전체가 부문 고르기 하나로 채워진다. 다른 조작이 없으므로 처음 들어온 사람도 무엇을 먼저 해야 하는지 묻지 않는다.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87268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3415284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표제와 안내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87268" y="2387041"/>
            <a:ext cx="2738628" cy="54772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01d-lp-he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2387041"/>
            <a:ext cx="2738628" cy="54772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87268" y="2387041"/>
            <a:ext cx="2738628" cy="547726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5556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재는 화면인지 한 줄로 적고, 아래에 고르는 방법을 덧붙였다. 문장은 두 줄을 넘지 않게 잘랐다.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53912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6281928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카드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153912" y="1928480"/>
            <a:ext cx="2738628" cy="146484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01b-lp-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1928480"/>
            <a:ext cx="2738628" cy="146484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153912" y="1928480"/>
            <a:ext cx="2738628" cy="146484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이름과 함께 지표 수 · 연도 범위를 카드 안에 적는다. 무엇이 준비되어 있는지 들어가기 전에 확인한다.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9020556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9148572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준비중 띠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020556" y="2576178"/>
            <a:ext cx="2738628" cy="16945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-21q/01c-lp-so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556" y="2576178"/>
            <a:ext cx="2738628" cy="169453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020556" y="2576178"/>
            <a:ext cx="2738628" cy="169453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038844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자료가 없는 네 부문을 아래 띠에 흐리게 둔다. 고를 수는 없지만 지표체계가 열 부문이라는 사실은 처음부터 보인다.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2" name="Shape 2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들어가는 화면을 따로 둔 뒤로 조작부에서 부문을 고르는 단계가 사라져, 왼쪽에 남은 단계는 지표와 방법 둘뿐이 되었다.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작업_5   지표 고르기 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목록 · 지표 카드 · 담은 목록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목록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92854" y="1243584"/>
            <a:ext cx="1194167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05b-picker-s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854" y="1243584"/>
            <a:ext cx="1194167" cy="2834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192854" y="1243584"/>
            <a:ext cx="1194167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왼쪽에 열 부문을 세로로 두고 지금 부문을 표시한다. 다른 부문으로 옮겨도 담은 지표는 그대로 남는다.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87268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3415284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카드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87268" y="1776633"/>
            <a:ext cx="2738628" cy="176854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05e-picker-pl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1776633"/>
            <a:ext cx="2738628" cy="176854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87268" y="1776633"/>
            <a:ext cx="2738628" cy="176854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5556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정의 · 단위 · 산식 · 출처 · 방향을 카드 안에 적고, 카드 안의 연도 단추로 원하는 해를 담는다.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53912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6281928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담은 목록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751239" y="1243584"/>
            <a:ext cx="154397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05d-picker-b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1239" y="1243584"/>
            <a:ext cx="1543974" cy="2834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751239" y="1243584"/>
            <a:ext cx="1543974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지표와 연도를 오른쪽 칸에 쌓는다. 낱개로 빼거나 한꺼번에 비울 수 있어 다시 고르기 쉽다.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9020556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9148572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아래 줄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020556" y="2580457"/>
            <a:ext cx="2738628" cy="16089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-21q/05g-picker-fo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556" y="2580457"/>
            <a:ext cx="2738628" cy="16089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020556" y="2580457"/>
            <a:ext cx="2738628" cy="16089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038844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담은 수와 연도 범위를 아래 줄에 요약하고, 확인 단추 하나로 창을 닫으며 계산으로 넘어간다.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2" name="Shape 2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지표를 고르는 일에 필요한 정보를 모두 카드 안으로 넣어, 정의를 확인하러 다른 창을 열었다가 돌아오는 왕복을 없앴다.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작업_6   조작부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· 표준화 방법 · 지도 색 기준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178308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1단계만 열린 상태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45940" y="1243584"/>
            <a:ext cx="932447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02b-side-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940" y="1243584"/>
            <a:ext cx="932447" cy="2834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45940" y="1243584"/>
            <a:ext cx="932447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아직 지표를 고르지 않았을 때는 1단계만 밝고 아래는 흐리다. 순서를 글로 설명하지 않고 밝기로 알린다.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331720" y="932688"/>
            <a:ext cx="178308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2459736" y="93268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 머리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331720" y="2163878"/>
            <a:ext cx="1783080" cy="9940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03-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2163878"/>
            <a:ext cx="1783080" cy="99405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331720" y="2163878"/>
            <a:ext cx="1783080" cy="99405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350008" y="4169664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단계마다 번호와 이름을 달고, 지금 고른 것을 그 아래 한 줄로 적는다.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242816" y="932688"/>
            <a:ext cx="178308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4370832" y="93268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담은 지표 요약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242816" y="2132082"/>
            <a:ext cx="1783080" cy="10576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03b-ps-b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2132082"/>
            <a:ext cx="1783080" cy="105764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242816" y="2132082"/>
            <a:ext cx="1783080" cy="105764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261104" y="4169664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지표 수와 연도 범위를 단계 안에 접어 두어, 창을 다시 열지 않아도 무엇을 담았는지 읽힌다.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6153912" y="932688"/>
            <a:ext cx="178308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6281928" y="93268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수식이 있는 자리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6153912" y="2480732"/>
            <a:ext cx="1783080" cy="36034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-21q/11b-method-wher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912" y="2480732"/>
            <a:ext cx="1783080" cy="36034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153912" y="2480732"/>
            <a:ext cx="1783080" cy="36034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172200" y="4169664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방법의 수식과 범위는 조작부에 적지 않고 통계창 민감도 칸에 있다는 사실만 한 줄로 알린다.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8065008" y="932688"/>
            <a:ext cx="178308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2" name="Text 26"/>
          <p:cNvSpPr/>
          <p:nvPr/>
        </p:nvSpPr>
        <p:spPr>
          <a:xfrm>
            <a:off x="8193024" y="93268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접힘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8065008" y="1570554"/>
            <a:ext cx="1783080" cy="2180701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4" name="Image 4" descr="/home/claude/patch/shots-21q/12-metric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08" y="1570554"/>
            <a:ext cx="1783080" cy="2180701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8065008" y="1570554"/>
            <a:ext cx="1783080" cy="2180701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083296" y="4169664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묶음으로 접어 두고 지금 고른 것만 위에 적는다. 번호가 붙은 단계와 섞이지 않도록 아래에 따로 두었다.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9976104" y="932688"/>
            <a:ext cx="178308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8" name="Text 31"/>
          <p:cNvSpPr/>
          <p:nvPr/>
        </p:nvSpPr>
        <p:spPr>
          <a:xfrm>
            <a:off x="10104120" y="93268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원데이터 소묶음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9976104" y="2106528"/>
            <a:ext cx="1783080" cy="110875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0" name="Image 5" descr="/home/claude/patch/shots-21q/12c-metrics-su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6104" y="2106528"/>
            <a:ext cx="1783080" cy="1108752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9976104" y="2106528"/>
            <a:ext cx="1783080" cy="110875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9994392" y="4169664"/>
            <a:ext cx="1746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원데이터 묶음 안에 지표별 소묶음을 한 겹 더 두어, 지표가 늘어도 목록이 길어지지 않는다.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4" name="Shape 3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5" name="Text 3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번호가 붙은 것은 계산을 바꾸는 둘뿐이고 지도 색 기준은 번호 밖에 있다. 반드시 거쳐야 할 것과 그렇지 않은 것이 번호만으로 갈린다.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작업_7   지도 표현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라벨 · 범례 · 색 기준 전환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라벨 끈 상태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" y="1448083"/>
            <a:ext cx="2738628" cy="242564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34-labels-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448083"/>
            <a:ext cx="2738628" cy="242564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1448083"/>
            <a:ext cx="2738628" cy="242564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색만 남겨 분포를 크게 본다. 라벨은 켜고 끌 수 있어 발표용과 확인용을 같은 화면으로 쓴다.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87268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3415284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띠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87268" y="2519738"/>
            <a:ext cx="2738628" cy="28233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13-legend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2519738"/>
            <a:ext cx="2738628" cy="282333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87268" y="2519738"/>
            <a:ext cx="2738628" cy="282333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5556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조작부 아래에도 같은 색 띠를 두어, 지도를 보지 않고 값을 고르는 동안에도 어느 방향이 높은 쪽인지 알 수 있다.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53912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6281928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스위치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153912" y="2341784"/>
            <a:ext cx="2738628" cy="638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36-maps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2341784"/>
            <a:ext cx="2738628" cy="6382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153912" y="2341784"/>
            <a:ext cx="2738628" cy="6382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지역만 보기와 이름 라벨을 지도 오른쪽 아래에 붙였다. 지도를 보면서 켜고 끄는 것이라 조작부로 올리지 않았다.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9020556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9148572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방법을 바꾼 지도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020556" y="1259069"/>
            <a:ext cx="2738628" cy="280367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-21q/49-map-pctra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556" y="1259069"/>
            <a:ext cx="2738628" cy="280367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020556" y="1259069"/>
            <a:ext cx="2738628" cy="280367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038844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백분위순위로 바꾼 지도다. 같은 지표인데도 색이 달라지는 자리가 곧 표준화 방법에 민감한 지역이다.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2" name="Shape 2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지도를 보면서 켜고 끄는 조작은 지도 위에, 계산을 바꾸는 조작은 조작부에 두어 손이 오가는 거리를 줄였다.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작업_8   전국 요약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분포 · 상위와 하위 · 시도별 평균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 머리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" y="2523973"/>
            <a:ext cx="2738628" cy="27386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15-nsum-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2523973"/>
            <a:ext cx="2738628" cy="273863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2523973"/>
            <a:ext cx="2738628" cy="273863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지역을 고르기 전에는 전국 이야기를 먼저 보인다. 무엇을 고르지 않아도 화면이 비어 있지 않다.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87268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3415284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칸 구성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87268" y="2447900"/>
            <a:ext cx="2738628" cy="42600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19b-nsum-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2447900"/>
            <a:ext cx="2738628" cy="426009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87268" y="2447900"/>
            <a:ext cx="2738628" cy="426009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5556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분포 요약 · 상위와 하위 열 곳 · 시도별 평균 세 칸으로 나눈다. 각 칸의 부제는 그 칸이 담은 값의 이름으로 적었다.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53912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6281928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· 하위 열 곳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891729" y="1243584"/>
            <a:ext cx="1262994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17-t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729" y="1243584"/>
            <a:ext cx="1262994" cy="2834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891729" y="1243584"/>
            <a:ext cx="1262994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위에서 열 곳과 아래에서 열 곳을 함께 세운다. 줄을 누르면 그 지역이 지도에서 선택된다.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9020556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9148572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시도별 평균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528836" y="1243584"/>
            <a:ext cx="172206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-21q/18-sid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8836" y="1243584"/>
            <a:ext cx="1722068" cy="28346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528836" y="1243584"/>
            <a:ext cx="1722068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038844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17개 시도의 평균을 가로 막대로 비교한다. 시군구 값이 시도 단위로 어떻게 모이는지 한눈에 잡는다.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2" name="Shape 2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지역을 고르기 전에도 읽을 것이 있어야 화면이 비어 보이지 않는다. 전국 요약을 먼저 두고, 지역을 고르면 그 위에 지역 칸이 얹히도록 했다.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작업_9   표준화 민감도 서랍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점수 · 순위 흐름 · 이동 큰 곳 · 산점도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점수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5092" y="1243584"/>
            <a:ext cx="2429691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22-method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5092" y="1243584"/>
            <a:ext cx="2429691" cy="2834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75092" y="1243584"/>
            <a:ext cx="2429691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방법이 만든 부문점수와 순위를 한 표에 놓는다. 같은 자료가 방법마다 다른 값을 갖는다는 사실을 표로 먼저 보인다.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87268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3415284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분포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56268" y="1243584"/>
            <a:ext cx="240062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23-dist-cm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268" y="1243584"/>
            <a:ext cx="2400628" cy="2834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456268" y="1243584"/>
            <a:ext cx="2400628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5556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방법마다 값이 어떻게 퍼지는지 나란히 그린다. 간격보존형과 순위전용형의 모양 차이가 여기서 갈린다.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53912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6281928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민감도 산점도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503447" y="1243584"/>
            <a:ext cx="203955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25-sens-scat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447" y="1243584"/>
            <a:ext cx="2039558" cy="2834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503447" y="1243584"/>
            <a:ext cx="2039558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부문점수와 순위 이동을 두 축에 놓아, 점수가 높으면서도 방법에 흔들리는 지역을 따로 찾아낸다.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9020556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9148572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큰 곳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809163" y="1243584"/>
            <a:ext cx="1161415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-21q/26-sens-li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9163" y="1243584"/>
            <a:ext cx="1161415" cy="28346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809163" y="1243584"/>
            <a:ext cx="1161415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038844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등수에서 어느 등수로 몇 계단 움직였는지 그대로 적는다. 표 전체를 파일로 받아 보고서에 그대로 옮긴다.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2" name="Shape 2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민감도는 결과를 뒤집기 위한 칸이 아니라, 순위를 인용할 때 방법을 함께 밝혀야 할 지역을 골라내기 위한 칸이다.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작업_10   지역 진단표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원값 · 표준점수 · 백분위 · 계산 과정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진단표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11758" y="1243584"/>
            <a:ext cx="13563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42-repo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758" y="1243584"/>
            <a:ext cx="1356360" cy="28346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111758" y="1243584"/>
            <a:ext cx="1356360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시군구의 부문 종합 한 줄과 지표별 줄을 원값 · 표준점수(T) · 백분위 · 전국 순위로 나란히 놓는다.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87268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3415284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 부분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571966" y="1243584"/>
            <a:ext cx="2169232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42b-report-tb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966" y="1243584"/>
            <a:ext cx="2169232" cy="2834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571966" y="1243584"/>
            <a:ext cx="2169232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5556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방향이 낮을수록 좋음인 지표에는 표식을 달아, 원값이 작은데 점수가 높은 까닭을 표 안에서 설명한다.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53912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6281928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방법별 점수와 순위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465436" y="1243584"/>
            <a:ext cx="21155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43-method-cm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436" y="1243584"/>
            <a:ext cx="2115580" cy="2834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465436" y="1243584"/>
            <a:ext cx="2115580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방법의 점수와 순위를 한 표에 두고, 대표 두 방법의 순위 차를 계단 수로 적는다.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9020556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9148572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과정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504667" y="1243584"/>
            <a:ext cx="1770407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-21q/44-transfor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4667" y="1243584"/>
            <a:ext cx="1770407" cy="28346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504667" y="1243584"/>
            <a:ext cx="1770407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038844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원값에서 표준화값으로, 다시 부문점수와 순위로 이어지는 중간값을 그대로 편다. 결과만 두지 않고 셈을 보인다.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2" name="Shape 2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표준점수는 평균 50 · 표준편차 10 눈금이며 0~100 점수가 아니다. 화면에서는 원값 · 표준점수 · 백분위를 한 줄에 두어 서로 다른 눈금임을 자리로 구분했다.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작업_11   원데이터 서랍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하나 기준 · 전국 기준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하나 기준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" y="2034269"/>
            <a:ext cx="2738628" cy="125327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28-raw-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2034269"/>
            <a:ext cx="2738628" cy="125327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2034269"/>
            <a:ext cx="2738628" cy="125327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지역의 지표 원값을 그대로 적는다. 표준화하기 전의 값이 무엇이었는지 같은 화면에서 확인한다.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87268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3415284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지역을 고른 뒤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287268" y="1790577"/>
            <a:ext cx="2738628" cy="174065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46-raw-one-s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268" y="1790577"/>
            <a:ext cx="2738628" cy="1740653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287268" y="1790577"/>
            <a:ext cx="2738628" cy="1740653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05556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시군구를 고르면 원데이터도 그 지역 기준으로 바뀐다. 표를 따로 찾아가지 않는다.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53912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6281928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기준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153912" y="2045873"/>
            <a:ext cx="2738628" cy="123006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29-raw-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912" y="2045873"/>
            <a:ext cx="2738628" cy="1230062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153912" y="2045873"/>
            <a:ext cx="2738628" cy="123006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72200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전체 표는 화면에 싣지 않고 파일로만 다룬다. 무엇이 파일에 담기는지 안내를 그 자리에 적어 둔다.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9020556" y="932688"/>
            <a:ext cx="273862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9148572" y="932688"/>
            <a:ext cx="24825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칸 전체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9847909" y="1243584"/>
            <a:ext cx="1083922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-21q/45-sel-sec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47909" y="1243584"/>
            <a:ext cx="1083922" cy="28346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847909" y="1243584"/>
            <a:ext cx="1083922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038844" y="4169664"/>
            <a:ext cx="27020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지역 칸은 진단표 · 방법 비교 · 계산 과정 · 원데이터로 이어진다. 위에서 아래로 읽으면 셈의 순서와 같다.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2" name="Shape 2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원데이터를 본문에 펼치지 않고 서랍으로 접어 둔 것은, 부문 종합을 읽는 사람과 원값을 확인하는 사람이 같은 화면에서 서로를 밀어내지 않게 하기 위해서다.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작업_12   두 조합 나란히 비교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 조합 · 지도 두 장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5596128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 화면 전체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43138" y="1225296"/>
            <a:ext cx="2551099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51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38" y="1225296"/>
            <a:ext cx="2551099" cy="15179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43138" y="1225296"/>
            <a:ext cx="2551099" cy="151790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2779776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두 장을 같은 크기로 두고 좌우에 각각 조합을 지정한다. 어느 쪽이 기준인지 정해 두지 않았다.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932688"/>
            <a:ext cx="5596128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6254496" y="932688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두 장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183199" y="1225296"/>
            <a:ext cx="1482690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52-compare-ma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199" y="1225296"/>
            <a:ext cx="1482690" cy="151790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183199" y="1225296"/>
            <a:ext cx="1482690" cy="151790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44768" y="2779776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경계 위에 서로 다른 조합을 칠한다. 두 지도의 배율과 위치는 함께 움직여 같은 자리를 본다.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20624" y="3328416"/>
            <a:ext cx="5596128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3328416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 조합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943138" y="3621024"/>
            <a:ext cx="2551099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54-compare-fre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38" y="3621024"/>
            <a:ext cx="2551099" cy="151790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943138" y="3621024"/>
            <a:ext cx="2551099" cy="151790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38912" y="5175504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· 지표 · 연도 · 방법을 좌우 따로 고른다. 같은 지표를 방법만 바꿔 볼 수도, 아예 다른 지표를 놓을 수도 있다.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6126480" y="3328416"/>
            <a:ext cx="5596128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6" name="Text 21"/>
          <p:cNvSpPr/>
          <p:nvPr/>
        </p:nvSpPr>
        <p:spPr>
          <a:xfrm>
            <a:off x="6254496" y="3328416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 고르는 줄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6126480" y="4226082"/>
            <a:ext cx="5596128" cy="307787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-21q/53-compare-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4226082"/>
            <a:ext cx="5596128" cy="307787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6126480" y="4226082"/>
            <a:ext cx="5596128" cy="307787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144768" y="5175504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한 줄에 선택 상자를 모아 두어, 조합을 바꾸는 동안에도 지도가 화면에서 밀려나지 않는다.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2" name="Shape 2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기준을 정해 두는 방식은 무엇을 기준으로 삼을지가 이미 정해져 있을 때만 쓸모가 있다. 이 화면에서는 자유 조합만 남겨 두 조합을 사용자가 정하도록 했다.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작업_13   창 세 짝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설명 · 용어 방법론 · 전체 데이터표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165299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19092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설명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20624" y="1734852"/>
            <a:ext cx="2165299" cy="18521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55-datadef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734852"/>
            <a:ext cx="2165299" cy="18521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20624" y="1734852"/>
            <a:ext cx="2165299" cy="185210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4169664"/>
            <a:ext cx="212872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고른 지표만 정의 · 단위 · 산식 · 출처 · 방향으로 편다. 지표를 바꾸면 이 목록도 함께 바뀐다.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713939" y="932688"/>
            <a:ext cx="2165299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2841955" y="932688"/>
            <a:ext cx="19092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 아래 안내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13939" y="2553018"/>
            <a:ext cx="2165299" cy="215773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55b-dd-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939" y="2553018"/>
            <a:ext cx="2165299" cy="215773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713939" y="2553018"/>
            <a:ext cx="2165299" cy="215773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732227" y="4169664"/>
            <a:ext cx="212872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32개 지표 사전은 용어 창에 있다는 사실을 아래 줄에 적어, 두 창의 역할이 겹치지 않게 했다.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5007254" y="932688"/>
            <a:ext cx="2165299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5135270" y="932688"/>
            <a:ext cx="19092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5035154" y="1243584"/>
            <a:ext cx="21095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56-glossa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154" y="1243584"/>
            <a:ext cx="2109500" cy="28346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5035154" y="1243584"/>
            <a:ext cx="2109500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025542" y="4169664"/>
            <a:ext cx="212872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CI · SSI · 진영 · 민감 구분 · 표준점수 · 백분위 · 방향을 한자리에 모은다. 화면에 쓰인 말은 모두 여기에 정의가 있다.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7300570" y="932688"/>
            <a:ext cx="2165299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7428586" y="932688"/>
            <a:ext cx="19092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7300570" y="1449690"/>
            <a:ext cx="2165299" cy="24224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-21q/57-gloss-metho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0570" y="1449690"/>
            <a:ext cx="2165299" cy="242242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300570" y="1449690"/>
            <a:ext cx="2165299" cy="242242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318858" y="4169664"/>
            <a:ext cx="212872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방법의 수식과 범위를 나란히 두고, 단조변환이 순위를 바꾸지 않는다는 원리를 함께 적는다.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9593885" y="932688"/>
            <a:ext cx="2165299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2" name="Text 26"/>
          <p:cNvSpPr/>
          <p:nvPr/>
        </p:nvSpPr>
        <p:spPr>
          <a:xfrm>
            <a:off x="9721901" y="932688"/>
            <a:ext cx="19092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사전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9621785" y="1243584"/>
            <a:ext cx="210950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4" name="Image 4" descr="/home/claude/patch/shots-21q/58-gloss-co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1785" y="1243584"/>
            <a:ext cx="2109500" cy="283464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9621785" y="1243584"/>
            <a:ext cx="2109500" cy="28346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9612173" y="4169664"/>
            <a:ext cx="2128723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32개 지표를 부문 · 단위 · 방향 · 연도 · 출처로 표에 세운다. 화면에서 고르지 않은 지표도 여기서는 모두 볼 수 있다.</a:t>
            </a:r>
            <a:endParaRPr lang="en-US" sz="800" dirty="0"/>
          </a:p>
        </p:txBody>
      </p:sp>
      <p:sp>
        <p:nvSpPr>
          <p:cNvPr id="37" name="Shape 30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8" name="Shape 31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9" name="Text 32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설명을 본문에서 빼내 창으로 모으면 화면이 짧아지고, 정의가 한곳에만 있으므로 같은 말이 두 자리에서 다르게 쓰이는 일이 없다.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작업_14   커서 되먹임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누를 수 있는 것과 없는 것을 손끝에서 가른다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커서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47872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시군구 경계 안에서만 손가락 모양으로 바뀐다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673352" y="1243584"/>
            <a:ext cx="3090672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-21q/62-cur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1243584"/>
            <a:ext cx="3090672" cy="23774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673352" y="1243584"/>
            <a:ext cx="3090672" cy="23774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63056" y="932688"/>
            <a:ext cx="5596128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6291072" y="93268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 위 커서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290304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 · 갈피 · 선택 상자에서 같은 모양을 쓴다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6163056" y="1378915"/>
            <a:ext cx="5596128" cy="210677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7" name="Image 1" descr="/home/claude/patch/shots-21q/63-cur-bt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1378915"/>
            <a:ext cx="5596128" cy="210677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163056" y="1378915"/>
            <a:ext cx="5596128" cy="210677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0624" y="3785616"/>
            <a:ext cx="2743200" cy="146304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20624" y="3785616"/>
            <a:ext cx="2743200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1" name="Text 17"/>
          <p:cNvSpPr/>
          <p:nvPr/>
        </p:nvSpPr>
        <p:spPr>
          <a:xfrm>
            <a:off x="530352" y="37856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누를 수 있는 것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530352" y="413308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단추 · 갈피 · 표 줄 · 시군구 경계 · 산점도 점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3282696" y="3785616"/>
            <a:ext cx="2743200" cy="146304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282696" y="3785616"/>
            <a:ext cx="2743200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5" name="Text 21"/>
          <p:cNvSpPr/>
          <p:nvPr/>
        </p:nvSpPr>
        <p:spPr>
          <a:xfrm>
            <a:off x="3392424" y="37856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누를 수 없는 것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3392424" y="413308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글 · 각주 · 범례 색 띠 · 준비중 부문 카드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6144768" y="3785616"/>
            <a:ext cx="2743200" cy="146304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144768" y="3785616"/>
            <a:ext cx="2743200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9" name="Text 25"/>
          <p:cNvSpPr/>
          <p:nvPr/>
        </p:nvSpPr>
        <p:spPr>
          <a:xfrm>
            <a:off x="6254496" y="37856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끌 수 있는 것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6254496" y="413308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바탕 · 크게 보기 창 안의 차트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9006840" y="3785616"/>
            <a:ext cx="2743200" cy="146304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9006840" y="3785616"/>
            <a:ext cx="2743200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9"/>
          <p:cNvSpPr/>
          <p:nvPr/>
        </p:nvSpPr>
        <p:spPr>
          <a:xfrm>
            <a:off x="9116568" y="378561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멈춤 반응</a:t>
            </a:r>
            <a:endParaRPr lang="en-US" sz="850" dirty="0"/>
          </a:p>
        </p:txBody>
      </p:sp>
      <p:sp>
        <p:nvSpPr>
          <p:cNvPr id="34" name="Text 30"/>
          <p:cNvSpPr/>
          <p:nvPr/>
        </p:nvSpPr>
        <p:spPr>
          <a:xfrm>
            <a:off x="9116568" y="413308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지날 때 옅은 바탕색과 테두리를 함께 바꿔 누를 수 있음을 알린다</a:t>
            </a:r>
            <a:endParaRPr lang="en-US" sz="800" dirty="0"/>
          </a:p>
        </p:txBody>
      </p:sp>
      <p:sp>
        <p:nvSpPr>
          <p:cNvPr id="35" name="Shape 31"/>
          <p:cNvSpPr/>
          <p:nvPr/>
        </p:nvSpPr>
        <p:spPr>
          <a:xfrm>
            <a:off x="420624" y="5541264"/>
            <a:ext cx="11338560" cy="106984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6" name="Shape 32"/>
          <p:cNvSpPr/>
          <p:nvPr/>
        </p:nvSpPr>
        <p:spPr>
          <a:xfrm>
            <a:off x="420624" y="5541264"/>
            <a:ext cx="41148" cy="10698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7" name="Text 33"/>
          <p:cNvSpPr/>
          <p:nvPr/>
        </p:nvSpPr>
        <p:spPr>
          <a:xfrm>
            <a:off x="603504" y="5596128"/>
            <a:ext cx="11018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커서 모양과 옅은 바탕색을 함께 바꾸어, 누를 수 있는 자리를 눌러 보기 전에 알 수 있게 했다. 크게 보기 창 안에서도 커서가 사라지지 않도록 했다.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시각화 작업_15   최종 화면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자리 · 다른 조합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5596128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조합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43138" y="1225296"/>
            <a:ext cx="2551099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06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38" y="1225296"/>
            <a:ext cx="2551099" cy="15179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1943138" y="1225296"/>
            <a:ext cx="2551099" cy="151790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2779776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공간구조 효율성 · 지표 3개 · Min-Max. 조작부 · 통계창 · 지도가 모두 펴진 기본 상태다.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126480" y="932688"/>
            <a:ext cx="5596128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6254496" y="932688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방법을 바꾼 조합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648994" y="1225296"/>
            <a:ext cx="2551099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48-pctra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994" y="1225296"/>
            <a:ext cx="2551099" cy="151790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648994" y="1225296"/>
            <a:ext cx="2551099" cy="151790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144768" y="2779776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지표를 백분위순위로 다시 계산했다. 지도 색과 순위가 함께 바뀌고 조각의 자리는 그대로다.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20624" y="3328416"/>
            <a:ext cx="5596128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3328416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부문을 바꾼 조합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1943138" y="3621024"/>
            <a:ext cx="2551099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61-sector-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38" y="3621024"/>
            <a:ext cx="2551099" cy="151790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943138" y="3621024"/>
            <a:ext cx="2551099" cy="151790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38912" y="5175504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부문으로 옮겨도 화면 구조는 같다. 바뀌는 것은 지표 목록과 숫자뿐이다.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6126480" y="3328416"/>
            <a:ext cx="5596128" cy="2560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26" name="Text 21"/>
          <p:cNvSpPr/>
          <p:nvPr/>
        </p:nvSpPr>
        <p:spPr>
          <a:xfrm>
            <a:off x="6254496" y="3328416"/>
            <a:ext cx="5340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되돌아온 시작 화면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648994" y="3621024"/>
            <a:ext cx="2551099" cy="151790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-21q/60-home-ag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994" y="3621024"/>
            <a:ext cx="2551099" cy="151790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648994" y="3621024"/>
            <a:ext cx="2551099" cy="151790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144768" y="5175504"/>
            <a:ext cx="5559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머리줄의 부문 이름을 눌러 시작 화면으로 돌아왔다. 들어간 길과 나오는 길이 같다.</a:t>
            </a:r>
            <a:endParaRPr lang="en-US" sz="800" dirty="0"/>
          </a:p>
        </p:txBody>
      </p:sp>
      <p:sp>
        <p:nvSpPr>
          <p:cNvPr id="31" name="Shape 25"/>
          <p:cNvSpPr/>
          <p:nvPr/>
        </p:nvSpPr>
        <p:spPr>
          <a:xfrm>
            <a:off x="420624" y="5870448"/>
            <a:ext cx="11338560" cy="74066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2" name="Shape 26"/>
          <p:cNvSpPr/>
          <p:nvPr/>
        </p:nvSpPr>
        <p:spPr>
          <a:xfrm>
            <a:off x="420624" y="5870448"/>
            <a:ext cx="41148" cy="74066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3" name="Text 27"/>
          <p:cNvSpPr/>
          <p:nvPr/>
        </p:nvSpPr>
        <p:spPr>
          <a:xfrm>
            <a:off x="603504" y="5925312"/>
            <a:ext cx="110185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조합을 무엇으로 바꾸든 조작부는 왼쪽, 통계창은 가운데, 지도는 바닥에 그대로 있다. 자리가 고정되어 있으므로 화면을 다시 익힐 일이 없다.</a:t>
            </a:r>
            <a:endParaRPr lang="en-US" sz="9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-21q/pen-dark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6766560" y="-502920"/>
            <a:ext cx="6035040" cy="56418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3291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SAL  ·  SPATIAL ANALYSIS LAB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760720" y="3474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O6</a:t>
            </a:r>
            <a:endParaRPr lang="en-US" sz="7400" dirty="0"/>
          </a:p>
        </p:txBody>
      </p:sp>
      <p:sp>
        <p:nvSpPr>
          <p:cNvPr id="6" name="Text 3"/>
          <p:cNvSpPr/>
          <p:nvPr/>
        </p:nvSpPr>
        <p:spPr>
          <a:xfrm>
            <a:off x="566928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값의 정의와 산출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94360" y="4315968"/>
            <a:ext cx="1097280" cy="219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566928" y="4498848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 칠할 수 있는 값 하나하나가 무엇을 재는 값이며 어떤 식으로 계산되는지, 그리고 그 값을 몇 단계로 어떻게 끊어 색을 입히는지 적는다.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66928" y="49834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네 묶음 얼개와 값 목록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계산 순서 · 표준화 네 방법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묶음별 값의 정의와 산출식</a:t>
            </a:r>
            <a:endParaRPr lang="en-US" sz="1000" dirty="0"/>
          </a:p>
          <a:p>
            <a:pPr indent="0" marL="0">
              <a:lnSpc>
                <a:spcPts val="17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–  색 구간 나누기 다섯 갈래와 자동 선택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값의 정의와 산출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11  ·  네 묶음 얼개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7066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부문 종합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8877" y="1225296"/>
            <a:ext cx="2170117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0" descr="/home/claude/patch/shots-21q/77-grp-tot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877" y="1225296"/>
            <a:ext cx="2170117" cy="15727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88877" y="1225296"/>
            <a:ext cx="2170117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38912" y="283464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지표를 합친 결과. 다섯 값 모두 표준화 방법을 바꾸면 함께 바뀐다.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73552" y="932688"/>
            <a:ext cx="27066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1"/>
          <p:cNvSpPr/>
          <p:nvPr/>
        </p:nvSpPr>
        <p:spPr>
          <a:xfrm>
            <a:off x="3401568" y="9326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원데이터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797113" y="1225296"/>
            <a:ext cx="1659502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78-grp-ra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113" y="1225296"/>
            <a:ext cx="1659502" cy="15727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3797113" y="1225296"/>
            <a:ext cx="1659502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91840" y="283464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이름으로 한 층 더 접힌다. 지표마다 네 값이 들어간다.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6126480" y="932688"/>
            <a:ext cx="27066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6254496" y="9326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표준화 민감도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6126480" y="1323236"/>
            <a:ext cx="2706624" cy="1376889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79-grp-se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3236"/>
            <a:ext cx="2706624" cy="1376889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6126480" y="1323236"/>
            <a:ext cx="2706624" cy="1376889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44768" y="283464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방법을 모두 써서 계산하므로 지금 고른 방법과 무관하다.</a:t>
            </a:r>
            <a:endParaRPr lang="en-US" sz="800" dirty="0"/>
          </a:p>
        </p:txBody>
      </p:sp>
      <p:sp>
        <p:nvSpPr>
          <p:cNvPr id="25" name="Shape 20"/>
          <p:cNvSpPr/>
          <p:nvPr/>
        </p:nvSpPr>
        <p:spPr>
          <a:xfrm>
            <a:off x="8979408" y="932688"/>
            <a:ext cx="27066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6" name="Text 21"/>
          <p:cNvSpPr/>
          <p:nvPr/>
        </p:nvSpPr>
        <p:spPr>
          <a:xfrm>
            <a:off x="9107424" y="93268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참고 플래그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8979408" y="1469412"/>
            <a:ext cx="2706624" cy="1084536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8" name="Image 3" descr="/home/claude/patch/shots-21q/80-grp-fl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08" y="1469412"/>
            <a:ext cx="2706624" cy="1084536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979408" y="1469412"/>
            <a:ext cx="2706624" cy="1084536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997696" y="283464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지표가 둘 이상일 때만 나타난다. 백분위 순위로만 계산한다.</a:t>
            </a:r>
            <a:endParaRPr lang="en-US" sz="8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3346704"/>
          <a:ext cx="11338560" cy="914400"/>
        </p:xfrm>
        <a:graphic>
          <a:graphicData uri="http://schemas.openxmlformats.org/drawingml/2006/table">
            <a:tbl>
              <a:tblPr/>
              <a:tblGrid>
                <a:gridCol w="1298448"/>
                <a:gridCol w="786384"/>
                <a:gridCol w="4224528"/>
                <a:gridCol w="2103120"/>
                <a:gridCol w="2926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묶음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재는 값인가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 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 방법을 바꾸면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부문 종합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지표를 하나로 합친 결과 — 점수 · 등수 · T · 백분위 · 순위 변화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파랑 · 순위 · 초록 · 발산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다섯 값 모두 다시 계산된다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원데이터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수 × 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하나하나의 원값과, 그 지표만 놓고 매긴 표준화 값 · T · 순위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 또는 주황 · 파랑 · 순위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원값과 순위는 그대로, 표준화 값과 T가 바뀐다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표준화 민감도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방법을 바꿨을 때 그 지역의 등수가 얼마나 흔들리는가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바뀌지 않는다 — 네 방법을 모두 써서 만든 값이다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참고 플래그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지표들이 서로 다른 이야기를 하는 지역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바뀌지 않는다 — 백분위 순위로만 계산한다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2" name="Shape 25"/>
          <p:cNvSpPr/>
          <p:nvPr/>
        </p:nvSpPr>
        <p:spPr>
          <a:xfrm>
            <a:off x="420624" y="5614416"/>
            <a:ext cx="11338560" cy="996696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3" name="Shape 26"/>
          <p:cNvSpPr/>
          <p:nvPr/>
        </p:nvSpPr>
        <p:spPr>
          <a:xfrm>
            <a:off x="420624" y="5614416"/>
            <a:ext cx="41148" cy="9966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4" name="Text 27"/>
          <p:cNvSpPr/>
          <p:nvPr/>
        </p:nvSpPr>
        <p:spPr>
          <a:xfrm>
            <a:off x="603504" y="5669280"/>
            <a:ext cx="110185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지도에 칠할 수 있는 값은 지표를 세 개 고른 부문에서 5 + 12 + 3 + 2 = 스물두 가지다. 묶음이 넷으로 고정되어 있어 지표를 늘려도 첫 층은 늘 네 칸이다.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값을 고르지 않아도 화면은 나온다 — 처음에는 부문 점수가 칠해져 있고, 색 기준을 바꾸는 것은 계산이 아니라 보기 방식의 변경이다.</a:t>
            </a:r>
            <a:endParaRPr lang="en-US" sz="9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값의 정의와 산출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11  ·  계산 순서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2157984" cy="17007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042416"/>
            <a:ext cx="219456" cy="219456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042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" y="1033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1335024"/>
            <a:ext cx="1938528" cy="31089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33502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8640" y="1700784"/>
            <a:ext cx="1901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시군구 × 고른 지표. 빈칸은 0이나 전국 평균으로 메우지 않고 계산에서 뺀다.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42032" y="932688"/>
            <a:ext cx="1828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706624" y="932688"/>
            <a:ext cx="2157984" cy="17007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16352" y="1042416"/>
            <a:ext cx="219456" cy="219456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7" name="Text 15"/>
          <p:cNvSpPr/>
          <p:nvPr/>
        </p:nvSpPr>
        <p:spPr>
          <a:xfrm>
            <a:off x="2816352" y="1042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90672" y="1033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정렬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16352" y="1335024"/>
            <a:ext cx="1938528" cy="31089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8"/>
          <p:cNvSpPr/>
          <p:nvPr/>
        </p:nvSpPr>
        <p:spPr>
          <a:xfrm>
            <a:off x="2816352" y="133502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x′ = 최대 + 최소 − x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34640" y="1700784"/>
            <a:ext cx="1901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낮을수록 좋은 지표(▼)만 뒤집는다. 순서만 뒤집고 값 사이 간격은 그대로 둔다.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28032" y="932688"/>
            <a:ext cx="1828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92624" y="932688"/>
            <a:ext cx="2157984" cy="17007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02352" y="1042416"/>
            <a:ext cx="219456" cy="219456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5" name="Text 23"/>
          <p:cNvSpPr/>
          <p:nvPr/>
        </p:nvSpPr>
        <p:spPr>
          <a:xfrm>
            <a:off x="5102352" y="1042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76672" y="1033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02352" y="1335024"/>
            <a:ext cx="1938528" cy="31089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8" name="Text 26"/>
          <p:cNvSpPr/>
          <p:nvPr/>
        </p:nvSpPr>
        <p:spPr>
          <a:xfrm>
            <a:off x="5102352" y="133502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방법 중 하나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20640" y="1700784"/>
            <a:ext cx="1901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지표마다 단위가 다르므로 같은 눈금으로 옮긴다. 방법마다 눈금 간격이 다르다.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14032" y="932688"/>
            <a:ext cx="1828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278624" y="932688"/>
            <a:ext cx="2157984" cy="17007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88352" y="1042416"/>
            <a:ext cx="219456" cy="219456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33" name="Text 31"/>
          <p:cNvSpPr/>
          <p:nvPr/>
        </p:nvSpPr>
        <p:spPr>
          <a:xfrm>
            <a:off x="7388352" y="1042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662672" y="1033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점수 CI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88352" y="1335024"/>
            <a:ext cx="1938528" cy="31089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6" name="Text 34"/>
          <p:cNvSpPr/>
          <p:nvPr/>
        </p:nvSpPr>
        <p:spPr>
          <a:xfrm>
            <a:off x="7388352" y="133502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Σ(표준화 값) / 지표 수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406640" y="1700784"/>
            <a:ext cx="1901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비중으로 평균한다. 값이 없는 지표는 빼고 있는 것만으로 평균한다.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400032" y="932688"/>
            <a:ext cx="18288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564624" y="932688"/>
            <a:ext cx="2157984" cy="17007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74352" y="1042416"/>
            <a:ext cx="219456" cy="219456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41" name="Text 39"/>
          <p:cNvSpPr/>
          <p:nvPr/>
        </p:nvSpPr>
        <p:spPr>
          <a:xfrm>
            <a:off x="9674352" y="10424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9948672" y="1033272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전국 순위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674352" y="1335024"/>
            <a:ext cx="1938528" cy="310896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44" name="Text 42"/>
          <p:cNvSpPr/>
          <p:nvPr/>
        </p:nvSpPr>
        <p:spPr>
          <a:xfrm>
            <a:off x="9674352" y="1335024"/>
            <a:ext cx="1938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내림차순 등수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9692640" y="1700784"/>
            <a:ext cx="1901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점수가 높은 쪽이 1위. 동점은 평균 등수를 나눠 갖는다.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20624" y="2834640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47" name="Text 45"/>
          <p:cNvSpPr/>
          <p:nvPr/>
        </p:nvSpPr>
        <p:spPr>
          <a:xfrm>
            <a:off x="548640" y="2834640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네 방법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9290304" y="2834640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 파일에 담긴 정의 그대로</a:t>
            </a:r>
            <a:endParaRPr lang="en-US" sz="8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3145536"/>
          <a:ext cx="113385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280160"/>
                <a:gridCol w="3566160"/>
                <a:gridCol w="2011680"/>
                <a:gridCol w="31089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진영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값의 범위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Min-Max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간격보존형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(x − 최소) / (최대 − 최소) × 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~ 100 (양끝 고정)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최솟값 0, 최댓값 100으로 고정. 값 간격을 선형으로 보존한다.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거리기반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간격보존형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x / 전국평균 × 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상한 없음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100이 전국평균. LQ(입지지수) × 100과 같은 셈이다.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백분위순위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순위전용형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평균순위(1기준) / 전체 × 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~ 100 (고르게 퍼짐)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등수만 반영하고 값 간격은 버린다.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로지스틱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간격보존형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 / (1 + exp(−z)),  z = (x − 평균) / 표준편차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~ 100 (양끝에 닿지 않음)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근처를 벌리고 극단값을 눌러 준다.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0" name="Shape 47"/>
          <p:cNvSpPr/>
          <p:nvPr/>
        </p:nvSpPr>
        <p:spPr>
          <a:xfrm>
            <a:off x="420624" y="5614416"/>
            <a:ext cx="11338560" cy="996696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51" name="Shape 48"/>
          <p:cNvSpPr/>
          <p:nvPr/>
        </p:nvSpPr>
        <p:spPr>
          <a:xfrm>
            <a:off x="420624" y="5614416"/>
            <a:ext cx="41148" cy="996696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52" name="Text 49"/>
          <p:cNvSpPr/>
          <p:nvPr/>
        </p:nvSpPr>
        <p:spPr>
          <a:xfrm>
            <a:off x="603504" y="5669280"/>
            <a:ext cx="110185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지표를 하나만 고르면 어떤 방법을 써도 순위는 같다. 방법의 차이는 지표를 둘 이상 합쳐 평균 낼 때 비로소 등수를 흔든다.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표준화 민감도는 이 성질을 그대로 이용한다 — 간격보존형 대표(Min-Max)와 순위전용형 대표(백분위순위)의 등수를 대비해 흔들림의 크기를 잰다.</a:t>
            </a:r>
            <a:endParaRPr lang="en-US" sz="9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값의 정의와 산출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11  ·  ① 부문 종합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32688"/>
          <a:ext cx="11338560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3200400"/>
                <a:gridCol w="2834640"/>
                <a:gridCol w="2816352"/>
                <a:gridCol w="10058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무엇인가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표기와 범위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 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점수 (CI)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지표를 표준화해 같은 비중으로 평균한 부문 총점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Σ(표준화 값) / 값이 있는 지표 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방법의 범위를 따른다 (Min-Max는 0 ~ 100)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 순위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점수 기준 229개 시군구 중 등수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 점수 내림차순 · 동점은 평균 등수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1위 ~ 229위 (1위가 진한 쪽)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순위(파랑)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표준점수 (T)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 평균을 50, 표준편차를 10으로 맞춘 점수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 + 10 × (CI − 전국평균) / 표준편차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50이 한가운데. 60이면 평균보다 1 표준편차 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백분위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나보다 점수가 낮은 지역의 비율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(229 − 순위) / 229 × 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~ 100 % · 100에 가까울수록 상위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 변화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 방법의 등수에서 맞은편 진영 방법의 등수로 갈 때의 변동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(맞은편 방법 순위) − (지금 방법 순위)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▲n계단 하락 / ▼n계단 상승 / 변동 없음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발산(파랑 ↔ 주황)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3419856"/>
            <a:ext cx="27066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4198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점수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80278" y="3712464"/>
            <a:ext cx="1587315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-21q/81-ci-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278" y="3712464"/>
            <a:ext cx="1587315" cy="173736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80278" y="3712464"/>
            <a:ext cx="1587315" cy="173736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73552" y="3419856"/>
            <a:ext cx="27066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0"/>
          <p:cNvSpPr/>
          <p:nvPr/>
        </p:nvSpPr>
        <p:spPr>
          <a:xfrm>
            <a:off x="3401568" y="34198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백분위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868743" y="3712464"/>
            <a:ext cx="1516241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84-pct-l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743" y="3712464"/>
            <a:ext cx="1516241" cy="17373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868743" y="3712464"/>
            <a:ext cx="1516241" cy="173736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26480" y="3419856"/>
            <a:ext cx="27066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9" name="Text 14"/>
          <p:cNvSpPr/>
          <p:nvPr/>
        </p:nvSpPr>
        <p:spPr>
          <a:xfrm>
            <a:off x="6254496" y="34198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변화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548538" y="3712464"/>
            <a:ext cx="1862509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1" name="Image 2" descr="/home/claude/patch/shots-21q/85-shift-l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538" y="3712464"/>
            <a:ext cx="1862509" cy="173736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548538" y="3712464"/>
            <a:ext cx="1862509" cy="173736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979408" y="3419856"/>
            <a:ext cx="27066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4" name="Text 18"/>
          <p:cNvSpPr/>
          <p:nvPr/>
        </p:nvSpPr>
        <p:spPr>
          <a:xfrm>
            <a:off x="9107424" y="341985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변화 지도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484193" y="3712464"/>
            <a:ext cx="1697055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6" name="Image 3" descr="/home/claude/patch/shots-21q/85-shift-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4193" y="3712464"/>
            <a:ext cx="1697055" cy="17373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484193" y="3712464"/>
            <a:ext cx="1697055" cy="173736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20624" y="5577840"/>
            <a:ext cx="11338560" cy="1033272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29" name="Shape 22"/>
          <p:cNvSpPr/>
          <p:nvPr/>
        </p:nvSpPr>
        <p:spPr>
          <a:xfrm>
            <a:off x="420624" y="5577840"/>
            <a:ext cx="41148" cy="103327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0" name="Text 23"/>
          <p:cNvSpPr/>
          <p:nvPr/>
        </p:nvSpPr>
        <p:spPr>
          <a:xfrm>
            <a:off x="603504" y="5632704"/>
            <a:ext cx="1101852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다섯 값은 모두 같은 부문 점수에서 나온다. 점수 · 등수 · T · 백분위는 같은 순서를 다른 눈금으로 옮겨 적은 것이고, 순위 변화만 두 방법의 등수를 대비해 만든 값이다.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순위 변화만 색 띠가 발산형이다. 0을 가운데 두고 오른 쪽은 파랑, 내린 쪽은 주황으로 갈라야 방향이 읽히기 때문이다.</a:t>
            </a:r>
            <a:endParaRPr lang="en-US" sz="9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값의 정의와 산출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11  ·  ② 원데이터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32688"/>
          <a:ext cx="11338560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3931920"/>
                <a:gridCol w="3017520"/>
                <a:gridCol w="1536192"/>
                <a:gridCol w="13716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무엇인가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방법을 바꾸면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 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지표의 원자료 그대로. 단위 · 방향(▲/▼) · 자료 연도를 함께 적는다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가공하지 않는다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그대로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▲ 초록 / ▼ 주황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 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원값을 지금 고른 방법으로 옮긴 값. 방향 반전도 함께 반영한다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방향 정렬 후 그 방법의 식을 적용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바뀐다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표준점수 (T)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지표 하나의 표준화 값을 평균 50 · 표준편차 10 눈금으로 옮긴 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 + 10 × (표준화 값 − 평균) / 표준편차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바뀐다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파랑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전국 순위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지표 하나만 놓고 매긴 229개 시군구 등수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표준화 값 내림차순 · 동점은 평균 등수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바뀌지 않는다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순위(파랑)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3182112"/>
            <a:ext cx="26517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1821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이름으로 한 층 더 접힌다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9767" y="3474720"/>
            <a:ext cx="2373473" cy="2249424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-21q/78-grp-ra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767" y="3474720"/>
            <a:ext cx="2373473" cy="224942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59767" y="3474720"/>
            <a:ext cx="2373473" cy="2249424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73552" y="3182112"/>
            <a:ext cx="26517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0"/>
          <p:cNvSpPr/>
          <p:nvPr/>
        </p:nvSpPr>
        <p:spPr>
          <a:xfrm>
            <a:off x="3401568" y="31821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원값 — 거점화율(%)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264669" y="3474720"/>
            <a:ext cx="669527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97-raw-l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669" y="3474720"/>
            <a:ext cx="669527" cy="82296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264669" y="3474720"/>
            <a:ext cx="669527" cy="82296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273552" y="4334256"/>
            <a:ext cx="26517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9" name="Text 14"/>
          <p:cNvSpPr/>
          <p:nvPr/>
        </p:nvSpPr>
        <p:spPr>
          <a:xfrm>
            <a:off x="3401568" y="433425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원값 지도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063520" y="4626864"/>
            <a:ext cx="107182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1" name="Image 2" descr="/home/claude/patch/shots-21q/97-raw-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520" y="4626864"/>
            <a:ext cx="1071824" cy="10972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4063520" y="4626864"/>
            <a:ext cx="1071824" cy="109728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126480" y="3182112"/>
            <a:ext cx="26517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4" name="Text 18"/>
          <p:cNvSpPr/>
          <p:nvPr/>
        </p:nvSpPr>
        <p:spPr>
          <a:xfrm>
            <a:off x="6254496" y="318211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값 — Min-Max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046111" y="3474720"/>
            <a:ext cx="812499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6" name="Image 3" descr="/home/claude/patch/shots-21q/98-std-l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6111" y="3474720"/>
            <a:ext cx="812499" cy="8229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046111" y="3474720"/>
            <a:ext cx="812499" cy="82296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126480" y="4334256"/>
            <a:ext cx="26517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9" name="Text 22"/>
          <p:cNvSpPr/>
          <p:nvPr/>
        </p:nvSpPr>
        <p:spPr>
          <a:xfrm>
            <a:off x="6254496" y="4334256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값 지도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916448" y="4626864"/>
            <a:ext cx="1071824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1" name="Image 4" descr="/home/claude/patch/shots-21q/98-std-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6448" y="4626864"/>
            <a:ext cx="1071824" cy="109728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6916448" y="4626864"/>
            <a:ext cx="1071824" cy="109728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979408" y="3474720"/>
            <a:ext cx="2779776" cy="1956816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9052560" y="3474720"/>
            <a:ext cx="263347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지표의 원값 지도와 표준화 값 지도는 색만 다르고 모양이 같다.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표준화는 값의 순서를 바꾸지 않는 변환이므로, 지표 하나만 놓고 보면 어떤 방법을 써도 등수가 그대로이기 때문이다.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방법의 차이는 지표를 합쳐 평균 낼 때 드러난다.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420624" y="5815584"/>
            <a:ext cx="11338560" cy="79552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6" name="Shape 28"/>
          <p:cNvSpPr/>
          <p:nvPr/>
        </p:nvSpPr>
        <p:spPr>
          <a:xfrm>
            <a:off x="420624" y="5815584"/>
            <a:ext cx="41148" cy="79552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7" name="Text 29"/>
          <p:cNvSpPr/>
          <p:nvPr/>
        </p:nvSpPr>
        <p:spPr>
          <a:xfrm>
            <a:off x="603504" y="5870448"/>
            <a:ext cx="11018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계산된 값과 계산 전 값을 한 묶음 안에 함께 두되, 원데이터만 한 층 더 접어 두어 첫 층에서는 지표 이름만 보이게 했다.</a:t>
            </a:r>
            <a:endParaRPr lang="en-US" sz="9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값의 정의와 산출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11  ·  ③ 표준화 민감도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32688"/>
          <a:ext cx="113385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3017520"/>
                <a:gridCol w="1005840"/>
                <a:gridCol w="219456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무엇인가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쓰임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 이동 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(Min-Max ↔ 백분위순위)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두 진영 대표 방법이 매긴 등수의 차이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 Min-Max 순위 − 백분위순위 순위 |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n계단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지침서 9장에서 확정한 최종 민감도 지표 (SSI_camp)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 최대-최소 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(4개 방법)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 방법이 매긴 등수의 최댓값 − 최솟값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max(순위) − min(순위)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n계단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참고용 (SSI_range)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 표준편차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(4개 방법)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네 방법이 매긴 등수가 흩어진 정도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표본표준편차 (n − 1로 나눈다)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두 자리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참고용 (SSI_std)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2944368"/>
            <a:ext cx="566928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944368"/>
            <a:ext cx="5413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구분 — 지도 오른쪽 아래 「민감 지역만 보기」가 쓰는 기준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0624" y="3291840"/>
            <a:ext cx="5669280" cy="3291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0624" y="3291840"/>
            <a:ext cx="64008" cy="329184"/>
          </a:xfrm>
          <a:prstGeom prst="rect">
            <a:avLst/>
          </a:prstGeom>
          <a:solidFill>
            <a:srgbClr val="D93025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" y="32918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높음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737360" y="3291840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10계단 이상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20624" y="3694176"/>
            <a:ext cx="5669280" cy="3291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0624" y="3694176"/>
            <a:ext cx="64008" cy="329184"/>
          </a:xfrm>
          <a:prstGeom prst="rect">
            <a:avLst/>
          </a:prstGeom>
          <a:solidFill>
            <a:srgbClr val="F4C542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" y="369417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737360" y="369417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5계단 이상 10계단 미만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0624" y="4096512"/>
            <a:ext cx="5669280" cy="329184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0624" y="4096512"/>
            <a:ext cx="64008" cy="329184"/>
          </a:xfrm>
          <a:prstGeom prst="rect">
            <a:avLst/>
          </a:prstGeom>
          <a:solidFill>
            <a:srgbClr val="2FA95C"/>
          </a:solidFill>
          <a:ln/>
        </p:spPr>
      </p:sp>
      <p:sp>
        <p:nvSpPr>
          <p:cNvPr id="20" name="Text 17"/>
          <p:cNvSpPr/>
          <p:nvPr/>
        </p:nvSpPr>
        <p:spPr>
          <a:xfrm>
            <a:off x="603504" y="4096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낮음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37360" y="409651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5계단 미만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20624" y="457200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85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민감 구분은 순위 이동 폭 하나만으로 정한다. 나머지 두 값은 지도에 칠할 수는 있으나 판정에는 쓰지 않는다.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72784" y="2944368"/>
            <a:ext cx="26517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0" y="294436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 폭 범례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597473" y="3236976"/>
            <a:ext cx="2002381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6" name="Image 0" descr="/home/claude/patch/shots-21q/86-camp-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7473" y="3236976"/>
            <a:ext cx="2002381" cy="173736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597473" y="3236976"/>
            <a:ext cx="2002381" cy="173736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107424" y="2944368"/>
            <a:ext cx="26517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9" name="Text 25"/>
          <p:cNvSpPr/>
          <p:nvPr/>
        </p:nvSpPr>
        <p:spPr>
          <a:xfrm>
            <a:off x="9235440" y="2944368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 폭 지도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9495458" y="3236976"/>
            <a:ext cx="1875692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1" name="Image 1" descr="/home/claude/patch/shots-21q/86-camp-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5458" y="3236976"/>
            <a:ext cx="1875692" cy="192024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9495458" y="3236976"/>
            <a:ext cx="1875692" cy="19202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20624" y="5266944"/>
            <a:ext cx="11338560" cy="134416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4" name="Shape 29"/>
          <p:cNvSpPr/>
          <p:nvPr/>
        </p:nvSpPr>
        <p:spPr>
          <a:xfrm>
            <a:off x="420624" y="5266944"/>
            <a:ext cx="41148" cy="134416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5" name="Text 30"/>
          <p:cNvSpPr/>
          <p:nvPr/>
        </p:nvSpPr>
        <p:spPr>
          <a:xfrm>
            <a:off x="603504" y="5321808"/>
            <a:ext cx="11018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세 값은 모두 네 방법을 실제로 다 계산한 뒤 그 등수들을 견주어 만든다. 그래서 조작부에서 방법을 바꿔도 이 세 지도는 움직이지 않는다.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순위 이동 폭만 최종 지표로 쓰고 나머지 둘은 참고로 남겨 두었다. 셋을 나란히 두면 어느 것이 결론인지 흐려지기 때문이다.</a:t>
            </a:r>
            <a:endParaRPr lang="en-US" sz="9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값의 정의와 산출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11  ·  ④ 참고 플래그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7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32688"/>
          <a:ext cx="11338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480560"/>
                <a:gridCol w="3931920"/>
                <a:gridCol w="118872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무엇인가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산출식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표기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간 순위 격차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고른 지표 각각의 백분위 순위 가운데 가장 높은 값과 가장 낮은 값의 차이. 클수록 어느 지표로 보느냐에 따라 그 지역의 평가가 갈린다.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지표별 백분위 순위 = (229 − 그 지표 순위) / 229 × 100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격차 = max(백분위 순위) − min(백분위 순위)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 ~ 100 %p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트레이드오프 지역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격차가 전국에서 유난히 큰 지역. 한 지표에서는 앞줄이고 다른 지표에서는 뒷줄인 곳을 가려낸다.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격차 분포의 상위 10 % 지점(90번째 백분위수)을 기준으로 삼되, 30 %p 를 바닥으로 둔다.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해당 / 해당 없음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20624" y="3255264"/>
            <a:ext cx="26517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2552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간 순위 격차 범례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169967" y="3547872"/>
            <a:ext cx="1153074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-21q/89-spread-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967" y="3547872"/>
            <a:ext cx="1153074" cy="1417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169967" y="3547872"/>
            <a:ext cx="1153074" cy="141732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73552" y="3255264"/>
            <a:ext cx="26517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4" name="Text 10"/>
          <p:cNvSpPr/>
          <p:nvPr/>
        </p:nvSpPr>
        <p:spPr>
          <a:xfrm>
            <a:off x="3401568" y="32552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격차 지도 — 값 그대로 칠한다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706245" y="3547872"/>
            <a:ext cx="178637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6" name="Image 1" descr="/home/claude/patch/shots-21q/89-spread-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6245" y="3547872"/>
            <a:ext cx="1786374" cy="18288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706245" y="3547872"/>
            <a:ext cx="1786374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126480" y="3255264"/>
            <a:ext cx="26517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9" name="Text 14"/>
          <p:cNvSpPr/>
          <p:nvPr/>
        </p:nvSpPr>
        <p:spPr>
          <a:xfrm>
            <a:off x="6254496" y="325526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트레이드오프 지역 범례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126480" y="3584698"/>
            <a:ext cx="2651760" cy="102362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1" name="Image 2" descr="/home/claude/patch/shots-21q/90-tradeoff-l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584698"/>
            <a:ext cx="2651760" cy="102362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126480" y="3584698"/>
            <a:ext cx="2651760" cy="102362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8979408" y="3255264"/>
            <a:ext cx="2779776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4" name="Text 18"/>
          <p:cNvSpPr/>
          <p:nvPr/>
        </p:nvSpPr>
        <p:spPr>
          <a:xfrm>
            <a:off x="9107424" y="325526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트레이드오프 지도 — 두 색만 쓴다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9476109" y="3547872"/>
            <a:ext cx="1786374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6" name="Image 3" descr="/home/claude/patch/shots-21q/90-tradeoff-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6109" y="3547872"/>
            <a:ext cx="1786374" cy="18288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9476109" y="3547872"/>
            <a:ext cx="1786374" cy="182880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126480" y="4736592"/>
            <a:ext cx="2651760" cy="640080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199632" y="4736592"/>
            <a:ext cx="25054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표시만 있고 값이 없으면 왜 걸렸는지 확인할 길이 없다. 21차에서 격차 자체도 지도에 칠할 수 있게 함께 내놓았다.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420624" y="5468112"/>
            <a:ext cx="11338560" cy="11430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1" name="Shape 24"/>
          <p:cNvSpPr/>
          <p:nvPr/>
        </p:nvSpPr>
        <p:spPr>
          <a:xfrm>
            <a:off x="420624" y="5468112"/>
            <a:ext cx="41148" cy="114300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2" name="Text 25"/>
          <p:cNvSpPr/>
          <p:nvPr/>
        </p:nvSpPr>
        <p:spPr>
          <a:xfrm>
            <a:off x="603504" y="5522976"/>
            <a:ext cx="11018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이 묶음은 고른 지표가 둘 이상일 때만 나타난다. 지표가 하나면 격차를 잴 상대가 없다.</a:t>
            </a:r>
            <a:endParaRPr lang="en-US" sz="9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값의 정의와 산출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11  ·  트레이드오프 기준 (21차 수정)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5577840" cy="1243584"/>
          </a:xfrm>
          <a:prstGeom prst="rect">
            <a:avLst/>
          </a:prstGeom>
          <a:solidFill>
            <a:srgbClr val="FDECEA"/>
          </a:solidFill>
          <a:ln w="9525">
            <a:solidFill>
              <a:srgbClr val="D930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932688"/>
            <a:ext cx="54315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20차까지 · 고정 기준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격차가 30 %p 를 넘으면 「해당」. 지표가 둘셋일 때를 염두에 둔 기준이었다.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최댓값과 최솟값의 차이는 지표 수가 늘수록 저절로 커지므로, 지표를 여섯 개 고르면 대부분의 지역에 표시가 붙었다.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181344" y="932688"/>
            <a:ext cx="5577840" cy="1243584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54496" y="932688"/>
            <a:ext cx="54315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21차부터 · 분포 기준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격차가 전국 상위 10 % 에 들면 「해당」. 지표를 몇 개 고르든 눈에 띄는 곳만 남는다.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지표들이 거의 같은 등수를 매기는 조합에서는 상위 10 % 라도 격차가 작을 수 있어, 옛 기준 30 %p 를 바닥으로 둔다.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0624" y="2395728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395728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부문별 기본 조합으로 계산한 결과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290304" y="2395728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229개 시군구 · 각 부문의 지표 전체를 고른 상태</a:t>
            </a:r>
            <a:endParaRPr lang="en-US" sz="800" dirty="0"/>
          </a:p>
        </p:txBody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2706624"/>
          <a:ext cx="11338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737360"/>
                <a:gridCol w="2651760"/>
                <a:gridCol w="173736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부문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격차 중앙값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 기준(30 %p 초과) 해당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기준 경계값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새 기준 해당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공간구조 효율성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17.0 %p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55곳 · 24.0 %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48.5 %p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23곳 · 10.0 %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인구활력도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64.0 %p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222곳 · 96.9 %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87.3 %p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24곳 · 10.5 %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친환경성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48.9 %p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181곳 · 79.0 %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83.8 %p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24곳 · 10.5 %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지역사회건강도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67.0 %p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220곳 · 96.1 %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88.6 %p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23곳 · 10.0 %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지역사회안전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71.8 %p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205곳 · 89.5 %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89.7 %p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23곳 · 10.0 %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재정건전성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66.6 %p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220곳 · 96.1 %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84.3 %p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23곳 · 10.0 %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420624" y="5468112"/>
            <a:ext cx="11338560" cy="1143000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16" name="Shape 13"/>
          <p:cNvSpPr/>
          <p:nvPr/>
        </p:nvSpPr>
        <p:spPr>
          <a:xfrm>
            <a:off x="420624" y="5468112"/>
            <a:ext cx="41148" cy="114300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" y="5522976"/>
            <a:ext cx="1101852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옛 기준으로는 여섯 부문 가운데 다섯에서 열에 여덟 곳 넘게 「해당」이 되었다. 거의 모든 지역에 붙는 표시는 아무것도 가리키지 못한다.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새 기준은 부문마다 23~24곳(10.0~10.5 %)을 남긴다. 경계값 자체가 부문의 지표 수와 지표 간 일치도를 반영해 저절로 움직인다.</a:t>
            </a:r>
            <a:endParaRPr lang="en-US" sz="9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값의 정의와 산출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11  ·  색 구간 나누기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859536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값이 정해져도 지도의 인상은 아직 정해지지 않는다. 같은 값이라도 어디서 끊어 색을 갈아 끼우느냐에 따라 지도가 전혀 다르게 보인다. 기본 단계 수는 일곱이다.</a:t>
            </a:r>
            <a:endParaRPr lang="en-US" sz="900" dirty="0"/>
          </a:p>
        </p:txBody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1188720"/>
          <a:ext cx="113385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480560"/>
                <a:gridCol w="3108960"/>
                <a:gridCol w="25603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경계를 잡는 자리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 쓰나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자동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분포 모양을 보고 아래 네 가지 가운데 하나를 고른다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기본값. 고른 이유를 범례에 한 줄로 적는다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사용자가 언제든 바꿀 수 있다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등간격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최솟값 ~ 최댓값을 같은 폭으로 일곱 등분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 자체의 눈금이 의미를 가질 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한쪽에 몰린 값은 한 색으로 뭉친다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분위수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각 구간에 같은 수의 지역이 들어가도록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값이 한쪽에 몰려 있을 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경계 간격이 들쭉날쭉해진다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자연분류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값이 실제로 끊기는 지점 (Jenks · 동적계획법)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값이 덩어리로 나뉘어 있을 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229개 · 7단계는 즉시 계산된다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표준편차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전국 평균을 가운데 두고 −2σ · −1σ · −0.5σ · +0.5σ · +1σ · +2σ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대비 위치를 볼 때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발산형 색 띠와 짝이 맞는다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20624" y="3602736"/>
            <a:ext cx="27066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등간격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104177" y="3895344"/>
            <a:ext cx="133951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2" name="Image 0" descr="/home/claude/patch/shots-21q/92-cls-equ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177" y="3895344"/>
            <a:ext cx="1339519" cy="15727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1104177" y="3895344"/>
            <a:ext cx="1339519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73552" y="3602736"/>
            <a:ext cx="27066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5" name="Text 11"/>
          <p:cNvSpPr/>
          <p:nvPr/>
        </p:nvSpPr>
        <p:spPr>
          <a:xfrm>
            <a:off x="3401568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분위수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957105" y="3895344"/>
            <a:ext cx="133951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7" name="Image 1" descr="/home/claude/patch/shots-21q/93-cls-quant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105" y="3895344"/>
            <a:ext cx="1339519" cy="15727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957105" y="3895344"/>
            <a:ext cx="1339519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126480" y="3602736"/>
            <a:ext cx="27066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5"/>
          <p:cNvSpPr/>
          <p:nvPr/>
        </p:nvSpPr>
        <p:spPr>
          <a:xfrm>
            <a:off x="6254496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자연분류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6810033" y="3895344"/>
            <a:ext cx="133951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94-cls-jen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0033" y="3895344"/>
            <a:ext cx="1339519" cy="157276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810033" y="3895344"/>
            <a:ext cx="1339519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979408" y="3602736"/>
            <a:ext cx="2706624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5" name="Text 19"/>
          <p:cNvSpPr/>
          <p:nvPr/>
        </p:nvSpPr>
        <p:spPr>
          <a:xfrm>
            <a:off x="9107424" y="3602736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표준편차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9662961" y="3895344"/>
            <a:ext cx="1339519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7" name="Image 3" descr="/home/claude/patch/shots-21q/95-cls-stddev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2961" y="3895344"/>
            <a:ext cx="1339519" cy="1572768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9662961" y="3895344"/>
            <a:ext cx="1339519" cy="1572768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420624" y="5541264"/>
            <a:ext cx="11338560" cy="106984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0" name="Shape 23"/>
          <p:cNvSpPr/>
          <p:nvPr/>
        </p:nvSpPr>
        <p:spPr>
          <a:xfrm>
            <a:off x="420624" y="5541264"/>
            <a:ext cx="41148" cy="106984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1" name="Text 24"/>
          <p:cNvSpPr/>
          <p:nvPr/>
        </p:nvSpPr>
        <p:spPr>
          <a:xfrm>
            <a:off x="603504" y="5596128"/>
            <a:ext cx="11018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넷 모두 같은 값(공간구조 효율성 부문 점수 · Min-Max)을 칠한 범례다. 방식만 바꿨을 뿐인데 표시되는 경계 숫자가 달라진다.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어느 방식으로 끊었는지 범례에 늘 적어 둔다. 지도를 그림으로 내보내도 그 문장이 함께 따라 나간다.</a:t>
            </a:r>
            <a:endParaRPr lang="en-US" sz="9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값의 정의와 산출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11  ·  자동 선택 규칙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0624" y="932688"/>
          <a:ext cx="576072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286000"/>
                <a:gridCol w="1005840"/>
                <a:gridCol w="19202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순서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조건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고르는 방식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이유</a:t>
                      </a:r>
                      <a:endParaRPr lang="en-US" sz="8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41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 띠가 발산형이다 (순위 변화)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표준편차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0을 가운데 두어야 오른 쪽과 내린 쪽이 대칭으로 읽힌다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색 띠가 순위형이다 (전국 순위 · 지표 순위)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등간격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순위는 이미 고르게 퍼져 있어 등간격이 곧 분위수다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값이 12개 미만이다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등간격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분포 모양을 판정할 만큼 값이 많지 않다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가장 큰 틈 ÷ 평균 간격 ≥ 18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자연분류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값이 덩어리로 뚜렷하게 끊겨 있다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 왜도 | ≥ 1.0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분위수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한쪽으로 심하게 몰려 있다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| 왜도 | ≥ 0.55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자연분류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치우침이 있으나 덩어리로 보는 편이 낫다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밖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등간격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2E343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값이 고르게 퍼져 있다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64224" y="932688"/>
            <a:ext cx="53949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9" name="Text 6"/>
          <p:cNvSpPr/>
          <p:nvPr/>
        </p:nvSpPr>
        <p:spPr>
          <a:xfrm>
            <a:off x="6492240" y="932688"/>
            <a:ext cx="5138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범례에 그대로 뜨는 이유 문장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64224" y="1280160"/>
            <a:ext cx="5394960" cy="47548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128016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부문 점수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101584" y="1280160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등간격 · 값이 고르게 퍼져 있어 같은 폭으로 끊었습니다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364224" y="1828800"/>
            <a:ext cx="5394960" cy="47548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18288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최대-최소 차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101584" y="1828800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분위수 · 값이 낮은 쪽에 몰려 있어 각 단계에 같은 수가 들어가게 끊었습니다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6364224" y="2377440"/>
            <a:ext cx="5394960" cy="47548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92240" y="23774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이동 폭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8101584" y="2377440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자연분류 · 값이 덩어리로 끊겨 있어 실제 틈이 벌어지는 지점에서 끊었습니다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6364224" y="2926080"/>
            <a:ext cx="5394960" cy="475488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92608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변화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101584" y="2926080"/>
            <a:ext cx="35295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표준편차 · 순위가 오른 쪽과 내린 쪽이 대칭이 되도록 평균 ±σ로 끊었습니다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364224" y="3621024"/>
            <a:ext cx="129844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3" name="Text 20"/>
          <p:cNvSpPr/>
          <p:nvPr/>
        </p:nvSpPr>
        <p:spPr>
          <a:xfrm>
            <a:off x="6492240" y="362102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등간격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364224" y="3961991"/>
            <a:ext cx="1298448" cy="1421187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Image 0" descr="/home/claude/patch/shots-21q/81-ci-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4" y="3961991"/>
            <a:ext cx="1298448" cy="1421187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6364224" y="3961991"/>
            <a:ext cx="1298448" cy="1421187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735824" y="3621024"/>
            <a:ext cx="129844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8" name="Text 24"/>
          <p:cNvSpPr/>
          <p:nvPr/>
        </p:nvSpPr>
        <p:spPr>
          <a:xfrm>
            <a:off x="7863840" y="362102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분위수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7735824" y="3949863"/>
            <a:ext cx="1298448" cy="1445442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0" name="Image 1" descr="/home/claude/patch/shots-21q/87-range-l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5824" y="3949863"/>
            <a:ext cx="1298448" cy="1445442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7735824" y="3949863"/>
            <a:ext cx="1298448" cy="1445442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9107424" y="3621024"/>
            <a:ext cx="129844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3" name="Text 28"/>
          <p:cNvSpPr/>
          <p:nvPr/>
        </p:nvSpPr>
        <p:spPr>
          <a:xfrm>
            <a:off x="9235440" y="362102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자연분류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9107424" y="4109287"/>
            <a:ext cx="1298448" cy="1126595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5" name="Image 2" descr="/home/claude/patch/shots-21q/86-camp-l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4" y="4109287"/>
            <a:ext cx="1298448" cy="1126595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9107424" y="4109287"/>
            <a:ext cx="1298448" cy="1126595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10479024" y="3621024"/>
            <a:ext cx="1298448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8" name="Text 32"/>
          <p:cNvSpPr/>
          <p:nvPr/>
        </p:nvSpPr>
        <p:spPr>
          <a:xfrm>
            <a:off x="10607040" y="3621024"/>
            <a:ext cx="1042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표준편차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10479024" y="4066984"/>
            <a:ext cx="1298448" cy="1211201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0" name="Image 3" descr="/home/claude/patch/shots-21q/85-shift-l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9024" y="4066984"/>
            <a:ext cx="1298448" cy="1211201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10479024" y="4066984"/>
            <a:ext cx="1298448" cy="1211201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420624" y="5358384"/>
            <a:ext cx="11338560" cy="1252728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3" name="Shape 36"/>
          <p:cNvSpPr/>
          <p:nvPr/>
        </p:nvSpPr>
        <p:spPr>
          <a:xfrm>
            <a:off x="420624" y="5358384"/>
            <a:ext cx="41148" cy="125272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4" name="Text 37"/>
          <p:cNvSpPr/>
          <p:nvPr/>
        </p:nvSpPr>
        <p:spPr>
          <a:xfrm>
            <a:off x="603504" y="5413248"/>
            <a:ext cx="11018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자동으로 고른 이유를 범례에 문장으로 적는다. 지도를 보는 사람이 색 구간을 의심할 때 확인할 곳을 화면 안에 두기 위해서다.</a:t>
            </a:r>
            <a:endParaRPr lang="en-US" sz="9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값의 정의와 산출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11  ·  값이 몇 가지뿐일 때 (21차 수정)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5577840" cy="1371600"/>
          </a:xfrm>
          <a:prstGeom prst="rect">
            <a:avLst/>
          </a:prstGeom>
          <a:solidFill>
            <a:srgbClr val="FDECEA"/>
          </a:solidFill>
          <a:ln w="9525">
            <a:solidFill>
              <a:srgbClr val="D930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932688"/>
            <a:ext cx="5431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20차까지 · 화면이 멈췄다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값이 단계 수보다 적으면 자연분류가 나눌 자리를 찾지 못한다. 되짚어 가는 자리가 음수로 빠지면서 지도가 통째로 그려지지 않았다.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9B23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트레이드오프 지역처럼 「해당 / 해당 없음」 두 가지뿐인 값을 고르면 아무것도 나오지 않던 것이 이 때문이다.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181344" y="932688"/>
            <a:ext cx="5577840" cy="1371600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54496" y="932688"/>
            <a:ext cx="543153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21차부터 · 값 그대로 칠한다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값의 가짓수가 단계 수보다 적으면 구간을 억지로 만들지 않는다. 값과 값 사이 한가운데를 경계로 잡고 그 경계를 색 띠 위에 고르게 벌려 놓는다.</a:t>
            </a:r>
            <a:endParaRPr lang="en-US" sz="8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값이 둘이면 양 끝 색, 셋이면 양 끝과 가운데 색이 된다. 범례에도 그렇게 칠했다고 적는다.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0624" y="2542032"/>
            <a:ext cx="113385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542032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되짚어 가는 자리가 없을 때의 처리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9290304" y="2542032"/>
            <a:ext cx="2340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자연분류 안쪽에도 같은 안전장치를 함께 넣었다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0624" y="2889504"/>
            <a:ext cx="3621024" cy="13716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99232"/>
            <a:ext cx="219456" cy="219456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990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값의 가짓수 확인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66928" y="3291840"/>
            <a:ext cx="33284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구간을 나누기 전에 서로 다른 값이 몇 가지인지 먼저 센다. 단계 수 이하이면 곧바로 값 그대로 칠하는 쪽으로 보낸다.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224528" y="2889504"/>
            <a:ext cx="3621024" cy="13716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52544" y="2999232"/>
            <a:ext cx="219456" cy="219456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1" name="Text 19"/>
          <p:cNvSpPr/>
          <p:nvPr/>
        </p:nvSpPr>
        <p:spPr>
          <a:xfrm>
            <a:off x="4352544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26864" y="2990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자연분류 안쪽 방어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370832" y="3291840"/>
            <a:ext cx="33284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되짚어 가다 자리가 음수가 되면 그 자리에서 멈추고, 만들어진 경계까지만 쓴다. 하나도 못 만들면 등간격으로 물러선다.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028432" y="2889504"/>
            <a:ext cx="3621024" cy="1371600"/>
          </a:xfrm>
          <a:prstGeom prst="rect">
            <a:avLst/>
          </a:prstGeom>
          <a:solidFill>
            <a:srgbClr val="FAFBFC"/>
          </a:solidFill>
          <a:ln w="9525">
            <a:solidFill>
              <a:srgbClr val="E3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56448" y="2999232"/>
            <a:ext cx="219456" cy="219456"/>
          </a:xfrm>
          <a:prstGeom prst="ellipse">
            <a:avLst/>
          </a:prstGeom>
          <a:solidFill>
            <a:srgbClr val="111418"/>
          </a:solidFill>
          <a:ln/>
        </p:spPr>
      </p:sp>
      <p:sp>
        <p:nvSpPr>
          <p:cNvPr id="26" name="Text 24"/>
          <p:cNvSpPr/>
          <p:nvPr/>
        </p:nvSpPr>
        <p:spPr>
          <a:xfrm>
            <a:off x="8156448" y="2999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30768" y="299008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범례 문장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74736" y="3291840"/>
            <a:ext cx="33284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800" dirty="0">
                <a:solidFill>
                  <a:srgbClr val="3C444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「값이 n가지뿐이라 구간을 나누지 않고 값 그대로 칠했습니다」를 범례에 적고, 구간 고르는 단추는 감춘다.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20624" y="4443984"/>
            <a:ext cx="402336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43984"/>
            <a:ext cx="3767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값의 범례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129464" y="4736592"/>
            <a:ext cx="2605680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2" name="Image 0" descr="/home/claude/patch/shots-21q/90-tradeoff-l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464" y="4736592"/>
            <a:ext cx="2605680" cy="1005840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1129464" y="4736592"/>
            <a:ext cx="2605680" cy="10058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26864" y="4443984"/>
            <a:ext cx="320040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35" name="Text 32"/>
          <p:cNvSpPr/>
          <p:nvPr/>
        </p:nvSpPr>
        <p:spPr>
          <a:xfrm>
            <a:off x="4754880" y="4443984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색만 쓴 지도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735811" y="4736592"/>
            <a:ext cx="982505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37" name="Image 1" descr="/home/claude/patch/shots-21q/90-tradeoff-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811" y="4736592"/>
            <a:ext cx="982505" cy="1005840"/>
          </a:xfrm>
          <a:prstGeom prst="rect">
            <a:avLst/>
          </a:prstGeom>
        </p:spPr>
      </p:pic>
      <p:sp>
        <p:nvSpPr>
          <p:cNvPr id="38" name="Shape 34"/>
          <p:cNvSpPr/>
          <p:nvPr/>
        </p:nvSpPr>
        <p:spPr>
          <a:xfrm>
            <a:off x="5735811" y="4736592"/>
            <a:ext cx="982505" cy="10058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8010144" y="4736592"/>
            <a:ext cx="3749040" cy="713232"/>
          </a:xfrm>
          <a:prstGeom prst="rect">
            <a:avLst/>
          </a:prstGeom>
          <a:solidFill>
            <a:srgbClr val="E8F1FD"/>
          </a:solidFill>
          <a:ln w="9525">
            <a:solidFill>
              <a:srgbClr val="1A73E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083296" y="4736592"/>
            <a:ext cx="3602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800" dirty="0">
                <a:solidFill>
                  <a:srgbClr val="10408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구간을 나눌 수 없는 값도 지도 색 기준 목록에 그대로 남겨 두었다. 고를 수 있는데 그려지지 않는 항목은 없다.</a:t>
            </a:r>
            <a:endParaRPr lang="en-US" sz="800" dirty="0"/>
          </a:p>
        </p:txBody>
      </p:sp>
      <p:sp>
        <p:nvSpPr>
          <p:cNvPr id="41" name="Shape 37"/>
          <p:cNvSpPr/>
          <p:nvPr/>
        </p:nvSpPr>
        <p:spPr>
          <a:xfrm>
            <a:off x="420624" y="5669280"/>
            <a:ext cx="11338560" cy="941832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42" name="Shape 38"/>
          <p:cNvSpPr/>
          <p:nvPr/>
        </p:nvSpPr>
        <p:spPr>
          <a:xfrm>
            <a:off x="420624" y="5669280"/>
            <a:ext cx="41148" cy="941832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43" name="Text 39"/>
          <p:cNvSpPr/>
          <p:nvPr/>
        </p:nvSpPr>
        <p:spPr>
          <a:xfrm>
            <a:off x="603504" y="5724144"/>
            <a:ext cx="1101852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「고를 수 있으면 반드시 그려진다」를 지도 색 기준 전체의 원칙으로 삼았다.</a:t>
            </a:r>
            <a:endParaRPr lang="en-US" sz="9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0624" y="1828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1133856" y="201168"/>
            <a:ext cx="6766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색 기준 — 값의 정의와 산출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589520" y="182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11  ·  백지도에서 주제도로 (21차 수정)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589520" y="39319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2026년도 국토종합진단지수 표준화 민감도 진단 대시보드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20624" y="722376"/>
            <a:ext cx="11338560" cy="18288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7" name="Shape 5"/>
          <p:cNvSpPr/>
          <p:nvPr/>
        </p:nvSpPr>
        <p:spPr>
          <a:xfrm>
            <a:off x="420624" y="932688"/>
            <a:ext cx="5577840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932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· 아직 고르지 않았을 때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9584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백지도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914423" y="1280160"/>
            <a:ext cx="259024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1" name="Image 0" descr="/home/claude/patch/shots-21q/71-blank-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4423" y="1280160"/>
            <a:ext cx="2590242" cy="26517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914423" y="1280160"/>
            <a:ext cx="2590242" cy="265176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81344" y="932688"/>
            <a:ext cx="5577840" cy="274320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14" name="Text 11"/>
          <p:cNvSpPr/>
          <p:nvPr/>
        </p:nvSpPr>
        <p:spPr>
          <a:xfrm>
            <a:off x="6309360" y="9326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· 표준화 점수가 산출된 뒤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9290304" y="932688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4CAD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주제도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675143" y="1280160"/>
            <a:ext cx="259024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17" name="Image 1" descr="/home/claude/patch/shots-21q/74-theme-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143" y="1280160"/>
            <a:ext cx="2590242" cy="265176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675143" y="1280160"/>
            <a:ext cx="2590242" cy="265176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20624" y="4059936"/>
            <a:ext cx="557784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0" name="Text 16"/>
          <p:cNvSpPr/>
          <p:nvPr/>
        </p:nvSpPr>
        <p:spPr>
          <a:xfrm>
            <a:off x="548640" y="4059936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백지도 범례 — 왜 비어 있는지 적는다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2101415" y="4352544"/>
            <a:ext cx="2216258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2" name="Image 2" descr="/home/claude/patch/shots-21q/72-blank-leg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1415" y="4352544"/>
            <a:ext cx="2216258" cy="10058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2101415" y="4352544"/>
            <a:ext cx="2216258" cy="10058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181344" y="4059936"/>
            <a:ext cx="5577840" cy="256032"/>
          </a:xfrm>
          <a:prstGeom prst="rect">
            <a:avLst/>
          </a:prstGeom>
          <a:solidFill>
            <a:srgbClr val="EDF0F3"/>
          </a:solidFill>
          <a:ln/>
        </p:spPr>
      </p:sp>
      <p:sp>
        <p:nvSpPr>
          <p:cNvPr id="25" name="Text 20"/>
          <p:cNvSpPr/>
          <p:nvPr/>
        </p:nvSpPr>
        <p:spPr>
          <a:xfrm>
            <a:off x="6309360" y="4059936"/>
            <a:ext cx="5321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1141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주제도 범례 — 값 이름과 경계와 끊은 이유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8561109" y="4352544"/>
            <a:ext cx="818311" cy="10058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7E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27" name="Image 3" descr="/home/claude/patch/shots-21q/75-theme-legen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1109" y="4352544"/>
            <a:ext cx="818311" cy="100584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561109" y="4352544"/>
            <a:ext cx="818311" cy="1005840"/>
          </a:xfrm>
          <a:prstGeom prst="rect">
            <a:avLst/>
          </a:prstGeom>
          <a:ln w="9525">
            <a:solidFill>
              <a:srgbClr val="E3E7EB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20624" y="5230368"/>
            <a:ext cx="11338560" cy="1380744"/>
          </a:xfrm>
          <a:prstGeom prst="rect">
            <a:avLst/>
          </a:prstGeom>
          <a:solidFill>
            <a:srgbClr val="F3F5F7"/>
          </a:solidFill>
          <a:ln/>
        </p:spPr>
      </p:sp>
      <p:sp>
        <p:nvSpPr>
          <p:cNvPr id="30" name="Shape 24"/>
          <p:cNvSpPr/>
          <p:nvPr/>
        </p:nvSpPr>
        <p:spPr>
          <a:xfrm>
            <a:off x="420624" y="5230368"/>
            <a:ext cx="41148" cy="1380744"/>
          </a:xfrm>
          <a:prstGeom prst="rect">
            <a:avLst/>
          </a:prstGeom>
          <a:solidFill>
            <a:srgbClr val="111418"/>
          </a:solidFill>
          <a:ln/>
        </p:spPr>
      </p:sp>
      <p:sp>
        <p:nvSpPr>
          <p:cNvPr id="31" name="Text 25"/>
          <p:cNvSpPr/>
          <p:nvPr/>
        </p:nvSpPr>
        <p:spPr>
          <a:xfrm>
            <a:off x="603504" y="5285232"/>
            <a:ext cx="1101852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지표를 고르기 전에 색이 칠해져 있으면, 그 색이 무엇을 뜻하는지 묻기도 전에 지도가 답을 준 것처럼 보인다. 21차에서 첫 화면을 경계와 이름만 있는 백지도로 바꿨다.</a:t>
            </a:r>
            <a:endParaRPr lang="en-US" sz="900" dirty="0"/>
          </a:p>
          <a:p>
            <a:pPr indent="0" marL="0">
              <a:lnSpc>
                <a:spcPts val="150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2E34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 색은 지표를 고르고 표준화 방법이 정해져 표준화 점수가 실제로 산출된 뒤에 처음 칠해진다. 색이 나타나는 순간이 곧 계산이 끝난 신호다.</a:t>
            </a:r>
            <a:endParaRPr lang="en-US" sz="9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atch/shots-21q/pen-dark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3200400" y="-1097280"/>
            <a:ext cx="5852160" cy="54772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5410048" y="3703320"/>
            <a:ext cx="1371600" cy="256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0" y="3950208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2차 취합 자료(229개 시군구 · 10개 부문 중 6개 가동 · 지표 32개)를 기준으로 작성되었습니다.</a:t>
            </a:r>
            <a:endParaRPr lang="en-US" sz="9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950" dirty="0">
                <a:solidFill>
                  <a:srgbClr val="9AA3A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표준화 방법에 따른 순위 변동은 지수 해석의 전제 조건이며, 방법 선택은 정책 목적에 따라 달라집니다.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0" y="6272784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82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국토종합진단지수 표준화 민감도 진단 대시보드  |  ssi-dashboard  |  단일 파일 웹 애플리케이션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75</Slides>
  <Notes>75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7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SSI 대시보드 화면 분석 자료</dc:title>
  <dc:subject>PptxGenJS Presentation</dc:subject>
  <dc:creator>SSI 분석</dc:creator>
  <cp:lastModifiedBy>SSI 분석</cp:lastModifiedBy>
  <cp:revision>1</cp:revision>
  <dcterms:created xsi:type="dcterms:W3CDTF">2026-08-05T01:40:47Z</dcterms:created>
  <dcterms:modified xsi:type="dcterms:W3CDTF">2026-08-05T01:40:47Z</dcterms:modified>
</cp:coreProperties>
</file>